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100" b="1" i="0">
                <a:latin typeface="Times New Roman"/>
              </a:rPr>
              <a:t>Module 1 — Modern Event-Driven Architecture with Kafka</a:t>
            </a:r>
            <a:endParaRPr sz="41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Kafka is the backbone of real-time systems</a:t>
            </a:r>
          </a:p>
          <a:p>
            <a:r>
              <a:t> Modern event-driven technology stack</a:t>
            </a:r>
          </a:p>
          <a:p>
            <a:r>
              <a:t> Data flow walkthrough</a:t>
            </a:r>
          </a:p>
          <a:p>
            <a:r>
              <a:t> Event streams vs queue semantics</a:t>
            </a:r>
          </a:p>
          <a:p>
            <a:r>
              <a:t> Integration with external systems</a:t>
            </a:r>
          </a:p>
          <a:p>
            <a:r>
              <a:t> Enterprise streaming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Real-Time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enterprises need to act on data</a:t>
            </a:r>
            <a:r>
              <a:rPr b="1"/>
              <a:t> as it happens</a:t>
            </a:r>
            <a:r>
              <a:t> , not hours later.</a:t>
            </a:r>
          </a:p>
          <a:p>
            <a:r>
              <a:t> Use cases that demand real-time streaming:</a:t>
            </a:r>
          </a:p>
          <a:p>
            <a:r>
              <a:t> Fraud detection (milliseconds to block a transaction)</a:t>
            </a:r>
          </a:p>
          <a:p>
            <a:r>
              <a:t> IoT sensor telemetry (millions of devices)</a:t>
            </a:r>
          </a:p>
          <a:p>
            <a:r>
              <a:t> Observability pipelines (logs, metrics, traces)</a:t>
            </a:r>
          </a:p>
          <a:p>
            <a:r>
              <a:t> Personalization engines (act while the user is still on the page)</a:t>
            </a:r>
          </a:p>
          <a:p>
            <a:r>
              <a:t> Supply chain event tracking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Apache Kafka?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is a</a:t>
            </a:r>
            <a:r>
              <a:rPr b="1"/>
              <a:t> distributed event streaming platform</a:t>
            </a:r>
            <a:r>
              <a:t> .</a:t>
            </a:r>
          </a:p>
          <a:p>
            <a:r>
              <a:t> Core capabilities:</a:t>
            </a:r>
          </a:p>
          <a:p>
            <a:r>
              <a:rPr b="1"/>
              <a:t> Publish and subscribe</a:t>
            </a:r>
            <a:r>
              <a:t> to streams of events</a:t>
            </a:r>
          </a:p>
          <a:p>
            <a:r>
              <a:rPr b="1"/>
              <a:t> Store</a:t>
            </a:r>
            <a:r>
              <a:t> events durably and reliably — including</a:t>
            </a:r>
            <a:r>
              <a:rPr b="1"/>
              <a:t> Tiered Storage</a:t>
            </a:r>
            <a:r>
              <a:t> (KIP-405, GA in Kafka 4), which offloads older segments to object storage for low-cost long-term retention</a:t>
            </a:r>
          </a:p>
          <a:p>
            <a:r>
              <a:rPr b="1"/>
              <a:t> Process</a:t>
            </a:r>
            <a:r>
              <a:t> events as they occur</a:t>
            </a:r>
          </a:p>
          <a:p>
            <a:r>
              <a:t> Key design goals:</a:t>
            </a:r>
          </a:p>
          <a:p>
            <a:r>
              <a:t> High throughput (millions of events/sec)</a:t>
            </a:r>
          </a:p>
          <a:p>
            <a:r>
              <a:t> Low latency (milliseconds)</a:t>
            </a:r>
          </a:p>
          <a:p>
            <a:r>
              <a:t> Fault tolerance (replication)</a:t>
            </a:r>
          </a:p>
          <a:p>
            <a:r>
              <a:t> Horizontal scalability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in the Enterprise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Kafka is the</a:t>
            </a:r>
            <a:r>
              <a:rPr b="1"/>
              <a:t> central nervous system</a:t>
            </a:r>
            <a:r>
              <a:t> of the modern data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8552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Event-Driven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Kafka Core</a:t>
            </a:r>
            <a:r>
              <a:t> — Durable event log, topic management, replication</a:t>
            </a:r>
          </a:p>
          <a:p>
            <a:r>
              <a:rPr b="1"/>
              <a:t> Kafka Connect</a:t>
            </a:r>
            <a:r>
              <a:t> — Data integration: source and sink connectors</a:t>
            </a:r>
          </a:p>
          <a:p>
            <a:r>
              <a:rPr b="1"/>
              <a:t> Kafka Streams</a:t>
            </a:r>
            <a:r>
              <a:t> — Stream processing library (JVM)</a:t>
            </a:r>
          </a:p>
          <a:p>
            <a:r>
              <a:rPr b="1"/>
              <a:t> ksqlDB</a:t>
            </a:r>
            <a:r>
              <a:t> — SQL interface for stream processing</a:t>
            </a:r>
          </a:p>
          <a:p>
            <a:r>
              <a:rPr b="1"/>
              <a:t> Schema Registry</a:t>
            </a:r>
            <a:r>
              <a:t> — Schema management (Avro, Protobuf, JSON Schema)</a:t>
            </a:r>
          </a:p>
          <a:p>
            <a:r>
              <a:rPr b="1"/>
              <a:t> Monitoring Layer</a:t>
            </a:r>
            <a:r>
              <a:t> — Prometheus, Grafana, Kafka UI, Cruise Control</a:t>
            </a:r>
          </a:p>
          <a:p>
            <a:r>
              <a:rPr b="1"/>
              <a:t> Security Layer</a:t>
            </a:r>
            <a:r>
              <a:t> — TLS, SASL, ACLs,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Topic</a:t>
            </a:r>
            <a:r>
              <a:t> — a named, ordered, immutable log of events</a:t>
            </a:r>
          </a:p>
          <a:p>
            <a:r>
              <a:rPr b="1"/>
              <a:t> Partition</a:t>
            </a:r>
            <a:r>
              <a:t> — a topic is split into partitions for parallelism</a:t>
            </a:r>
          </a:p>
          <a:p>
            <a:r>
              <a:rPr b="1"/>
              <a:t> Offset</a:t>
            </a:r>
            <a:r>
              <a:t> — position of an event within a partition</a:t>
            </a:r>
          </a:p>
          <a:p>
            <a:r>
              <a:rPr b="1"/>
              <a:t> Producer</a:t>
            </a:r>
            <a:r>
              <a:t> — writes events to topics</a:t>
            </a:r>
          </a:p>
          <a:p>
            <a:r>
              <a:rPr b="1"/>
              <a:t> Consumer</a:t>
            </a:r>
            <a:r>
              <a:t> — reads events from topics</a:t>
            </a:r>
          </a:p>
          <a:p>
            <a:r>
              <a:rPr b="1"/>
              <a:t> Consumer Group</a:t>
            </a:r>
            <a:r>
              <a:t> — a set of consumers that share the work of reading a topic</a:t>
            </a:r>
          </a:p>
          <a:p>
            <a:r>
              <a:rPr b="1"/>
              <a:t> Broker</a:t>
            </a:r>
            <a:r>
              <a:t> — a Kafka server that stores and serves partitions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6360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Streams vs Queue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Message deletion</a:t>
            </a:r>
            <a:r>
              <a:t> — Queue: after consumption · Kafka: configurable retention</a:t>
            </a:r>
          </a:p>
          <a:p>
            <a:r>
              <a:rPr b="1"/>
              <a:t> Multiple consumers</a:t>
            </a:r>
            <a:r>
              <a:t> — Queue: competing consumers · Kafka: each group reads independently</a:t>
            </a:r>
          </a:p>
          <a:p>
            <a:r>
              <a:rPr b="1"/>
              <a:t> Replay</a:t>
            </a:r>
            <a:r>
              <a:t> — Queue: not possible · Kafka: yes, seek to any offset</a:t>
            </a:r>
          </a:p>
          <a:p>
            <a:r>
              <a:rPr b="1"/>
              <a:t> Ordering</a:t>
            </a:r>
            <a:r>
              <a:t> — Queue: per-queue · Kafka: per-partition</a:t>
            </a:r>
          </a:p>
          <a:p>
            <a:r>
              <a:rPr b="1"/>
              <a:t> Durability</a:t>
            </a:r>
            <a:r>
              <a:t> — Queue: varies · Kafka: configurable replication</a:t>
            </a:r>
          </a:p>
          <a:p>
            <a:r>
              <a:rPr b="1"/>
              <a:t> Backpressure</a:t>
            </a:r>
            <a:r>
              <a:t> — Queue: built-in · Kafka: consumer controls its own pace</a:t>
            </a:r>
          </a:p>
          <a:p>
            <a:r>
              <a:rPr b="1"/>
              <a:t> Native queues — Share Groups (KIP-932, Kafka 4):</a:t>
            </a:r>
          </a:p>
          <a:p>
            <a:r>
              <a:t> Multiple consumers read from the</a:t>
            </a:r>
            <a:r>
              <a:rPr b="1"/>
              <a:t> same partitions</a:t>
            </a:r>
            <a:r>
              <a:t> cooperatively (no partition-to-consumer binding)</a:t>
            </a:r>
          </a:p>
          <a:p>
            <a:r>
              <a:rPr b="1"/>
              <a:t> Per-message acknowledgement</a:t>
            </a:r>
            <a:r>
              <a:t> and redelivery — true queue semantics, not just competing consumer groups</a:t>
            </a:r>
          </a:p>
          <a:p>
            <a:r>
              <a:t> Lets one platform serve both stream (replay, fan-out) and queue (work-distribution) workloads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Topics, Partitions, and Offsets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Events within a partition are</a:t>
            </a:r>
            <a:r>
              <a:rPr b="1"/>
              <a:t> strictly ordered</a:t>
            </a:r>
          </a:p>
          <a:p>
            <a:r>
              <a:t> Events across partitions are</a:t>
            </a:r>
            <a:r>
              <a:rPr b="1"/>
              <a:t> not globally ordered</a:t>
            </a:r>
          </a:p>
          <a:p>
            <a:r>
              <a:t> Partition count = maximum consumer group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8072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Connect provides</a:t>
            </a:r>
            <a:r>
              <a:rPr b="1"/>
              <a:t> pre-built, scalable data pipelines</a:t>
            </a:r>
            <a:r>
              <a:t> .</a:t>
            </a:r>
          </a:p>
          <a:p/>
          <a:p/>
          <a:p/>
          <a:p/>
          <a:p>
            <a:r>
              <a:t> 700+ connectors available on Confluent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702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Streams is a</a:t>
            </a:r>
            <a:r>
              <a:rPr b="1"/>
              <a:t> Java/Scala library</a:t>
            </a:r>
            <a:r>
              <a:t> for stream processing.</a:t>
            </a:r>
          </a:p>
          <a:p>
            <a:r>
              <a:t> Key features:</a:t>
            </a:r>
          </a:p>
          <a:p>
            <a:r>
              <a:t> No separate cluster required — runs inside your application</a:t>
            </a:r>
          </a:p>
          <a:p>
            <a:r>
              <a:t> Exactly-once processing semantics</a:t>
            </a:r>
          </a:p>
          <a:p>
            <a:r>
              <a:t> Stateful operations (joins, aggregations, windowing)</a:t>
            </a:r>
          </a:p>
          <a:p>
            <a:r>
              <a:t> Interactive queries (expose state to other services)</a:t>
            </a:r>
          </a:p>
          <a:p>
            <a:r>
              <a:t> Fault-tolerant state backed by changelog topics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5696"/>
            <a:ext cx="9398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ksqlDB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ksqlDB is a</a:t>
            </a:r>
            <a:r>
              <a:rPr b="1"/>
              <a:t> SQL engine for stream processing</a:t>
            </a:r>
            <a:r>
              <a:t> built on Kafka Streams.</a:t>
            </a:r>
          </a:p>
          <a:p/>
          <a:p/>
          <a:p/>
          <a:p/>
          <a:p/>
          <a:p>
            <a:r>
              <a:t> Queries run</a:t>
            </a:r>
            <a:r>
              <a:rPr b="1"/>
              <a:t> continuously</a:t>
            </a:r>
            <a:r>
              <a:t> — results update as new events arrive.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4836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Schema Registry manages and enforces event schemas.</a:t>
            </a:r>
          </a:p>
          <a:p/>
          <a:p/>
          <a:p/>
          <a:p>
            <a:r>
              <a:t> Benefits:</a:t>
            </a:r>
          </a:p>
          <a:p>
            <a:r>
              <a:t> Schema evolution without breaking consumers</a:t>
            </a:r>
          </a:p>
          <a:p>
            <a:r>
              <a:t> Compatibility checks (BACKWARD, FORWARD, FULL)</a:t>
            </a:r>
          </a:p>
          <a:p>
            <a:r>
              <a:t> Centralized schema governance</a:t>
            </a:r>
          </a:p>
          <a:p>
            <a:r>
              <a:t> Foundation for</a:t>
            </a:r>
            <a:r>
              <a:rPr b="1"/>
              <a:t> data contracts</a:t>
            </a:r>
            <a:r>
              <a:t> — schema plus validation rules, metadata, and ownership agreed between producers and consumers (a key 2026 governance theme)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788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External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integrates with the full data ecosystem:</a:t>
            </a:r>
          </a:p>
          <a:p>
            <a:r>
              <a:rPr b="1"/>
              <a:t> Apache Spark</a:t>
            </a:r>
            <a:r>
              <a:t> — Spark Structured Streaming reads from Kafka</a:t>
            </a:r>
          </a:p>
          <a:p>
            <a:r>
              <a:rPr b="1"/>
              <a:t> Apache Flink</a:t>
            </a:r>
            <a:r>
              <a:t> — Native Kafka source/sink connectors</a:t>
            </a:r>
          </a:p>
          <a:p>
            <a:r>
              <a:rPr b="1"/>
              <a:t> REST APIs</a:t>
            </a:r>
            <a:r>
              <a:t> — Kafka REST Proxy for HTTP-based producers/consumers</a:t>
            </a:r>
          </a:p>
          <a:p>
            <a:r>
              <a:rPr b="1"/>
              <a:t> AI/ML Pipelines</a:t>
            </a:r>
            <a:r>
              <a:t> — Feature stores, model serving, inference logging</a:t>
            </a:r>
          </a:p>
          <a:p>
            <a:r>
              <a:rPr b="1"/>
              <a:t> Cloud (AWS/GCP/Azure)</a:t>
            </a:r>
            <a:r>
              <a:t> — MSK, Confluent Cloud, Event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Streaming-First Application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design:</a:t>
            </a:r>
          </a:p>
          <a:p/>
          <a:p>
            <a:r>
              <a:t> Streaming-first design:</a:t>
            </a:r>
          </a:p>
          <a:p/>
          <a:p/>
          <a:p>
            <a:r>
              <a:t> Design principle:</a:t>
            </a:r>
            <a:r>
              <a:rPr b="1"/>
              <a:t> events are the source of truth</a:t>
            </a:r>
            <a:r>
              <a:t> , not the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4168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8636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Streaming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Event Sourcing</a:t>
            </a:r>
            <a:r>
              <a:t> — store all state changes as events, derive state by replaying</a:t>
            </a:r>
          </a:p>
          <a:p>
            <a:r>
              <a:rPr b="1"/>
              <a:t> CQRS</a:t>
            </a:r>
            <a:r>
              <a:t> — separate read (query) and write (command) models via events</a:t>
            </a:r>
          </a:p>
          <a:p>
            <a:r>
              <a:rPr b="1"/>
              <a:t> Saga Pattern</a:t>
            </a:r>
            <a:r>
              <a:t> — coordinate long-running distributed transactions via events</a:t>
            </a:r>
          </a:p>
          <a:p>
            <a:r>
              <a:rPr b="1"/>
              <a:t> CDC (Change Data Capture)</a:t>
            </a:r>
            <a:r>
              <a:t> — stream database changes into Kafka</a:t>
            </a:r>
          </a:p>
          <a:p>
            <a:r>
              <a:rPr b="1"/>
              <a:t> Fan-out</a:t>
            </a:r>
            <a:r>
              <a:t> — one event triggers multiple independent 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at Scale — Real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Production deployments at scale:</a:t>
            </a:r>
          </a:p>
          <a:p>
            <a:r>
              <a:rPr b="1"/>
              <a:t> LinkedIn</a:t>
            </a:r>
            <a:r>
              <a:t> — 7 trillion messages/day</a:t>
            </a:r>
          </a:p>
          <a:p>
            <a:r>
              <a:rPr b="1"/>
              <a:t> Uber</a:t>
            </a:r>
            <a:r>
              <a:t> — 1 trillion messages/day</a:t>
            </a:r>
          </a:p>
          <a:p>
            <a:r>
              <a:rPr b="1"/>
              <a:t> Netflix</a:t>
            </a:r>
            <a:r>
              <a:t> — Trillions of events/day</a:t>
            </a:r>
          </a:p>
          <a:p>
            <a:r>
              <a:rPr b="1"/>
              <a:t> Cloudflare</a:t>
            </a:r>
            <a:r>
              <a:t> — Petabytes/day</a:t>
            </a:r>
          </a:p>
          <a:p>
            <a:r>
              <a:rPr b="1"/>
              <a:t> Walmart</a:t>
            </a:r>
            <a:r>
              <a:t> — Billions of events during peak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is the distributed event streaming backbone for modern enterprises</a:t>
            </a:r>
          </a:p>
          <a:p>
            <a:r>
              <a:t> Core abstractions: topics, partitions, offsets, producers, consumers</a:t>
            </a:r>
          </a:p>
          <a:p>
            <a:r>
              <a:t> Event streams differ from queues in durability, replay, and multi-consumer support</a:t>
            </a:r>
          </a:p>
          <a:p>
            <a:r>
              <a:t> The full stack: Kafka Core + Connect + Streams + ksqlDB + Schema Registry</a:t>
            </a:r>
          </a:p>
          <a:p>
            <a:r>
              <a:t> Integrates with Spark, Flink, REST, AI/ML, and cloud-native systems</a:t>
            </a:r>
          </a:p>
          <a:p>
            <a:r>
              <a:t> Streaming-first design treats events as the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2 — Kafka Internals &amp; Cluster Architecture</a:t>
            </a:r>
          </a:p>
          <a:p>
            <a:r>
              <a:t> We go deep inside the broker:</a:t>
            </a:r>
          </a:p>
          <a:p>
            <a:r>
              <a:t> Log segments, indexes, and compaction</a:t>
            </a:r>
          </a:p>
          <a:p>
            <a:r>
              <a:t> KRaft — ZooKeeper-free Kafka</a:t>
            </a:r>
          </a:p>
          <a:p>
            <a:r>
              <a:t> Producer and consumer internals</a:t>
            </a:r>
          </a:p>
          <a:p>
            <a:r>
              <a:t> Exactly-once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Explore Kafka Cluster Topology and Topic Configuration</a:t>
            </a:r>
          </a:p>
          <a:p>
            <a:r>
              <a:t> You will:</a:t>
            </a:r>
          </a:p>
          <a:p>
            <a:r>
              <a:t> Connect to a running KRaft cluster and inspect broker/quorum metadata</a:t>
            </a:r>
          </a:p>
          <a:p>
            <a:r>
              <a:t> Create topics with different partition counts and replication factors</a:t>
            </a:r>
          </a:p>
          <a:p>
            <a:r>
              <a:t> Examine partition assignment and leader distribution</a:t>
            </a:r>
          </a:p>
          <a:p>
            <a:r>
              <a:t> Configure and observe retention policies and log compaction</a:t>
            </a:r>
          </a:p>
          <a:p>
            <a:r>
              <a:t> Visualize topics, partitions, and lag in</a:t>
            </a:r>
            <a:r>
              <a:rPr b="1"/>
              <a:t> Kafka UI</a:t>
            </a:r>
          </a:p>
          <a:p>
            <a:r>
              <a:t> Contrast consumer groups with</a:t>
            </a:r>
            <a:r>
              <a:rPr b="1"/>
              <a:t> Share Groups (KIP-932)</a:t>
            </a:r>
            <a:r>
              <a:t> — native queue semantics</a:t>
            </a:r>
          </a:p>
          <a:p>
            <a:r>
              <a:t> Environment: KRaft Kafka 4 cluster (Docker Compose) + Kafka UI</a:t>
            </a:r>
            <a:r>
              <a:t> Time: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