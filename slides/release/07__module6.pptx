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Module 6 — Modern Kafka &amp; Streaming Trends</a:t>
            </a:r>
            <a:endParaRPr sz="4200" b="1" i="0"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6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Kafka is going</a:t>
            </a:r>
          </a:p>
          <a:p>
            <a:r>
              <a:t> Multi-cluster federation and disaster recovery</a:t>
            </a:r>
          </a:p>
          <a:p>
            <a:r>
              <a:t> Kafka at the edge and IoT architectures</a:t>
            </a:r>
          </a:p>
          <a:p>
            <a:r>
              <a:t> AI-driven event processing and streaming inference</a:t>
            </a:r>
          </a:p>
          <a:p>
            <a:r>
              <a:t> Kafka queues and work-distribution patterns</a:t>
            </a:r>
          </a:p>
          <a:p>
            <a:r>
              <a:t> Modernizing legacy event-processing systems</a:t>
            </a:r>
          </a:p>
          <a:p>
            <a:r>
              <a:t> Serverless Kafka: MSK Serverless and Confluent Cloud</a:t>
            </a:r>
          </a:p>
          <a:p>
            <a:r>
              <a:t> Future directions in event-driven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Kafka Is Going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has evolved from a messaging system into a</a:t>
            </a:r>
            <a:r>
              <a:rPr b="1"/>
              <a:t> universal data streaming platform</a:t>
            </a:r>
            <a:r>
              <a:t> .</a:t>
            </a:r>
          </a:p>
          <a:p>
            <a:r>
              <a:t> Current trends:</a:t>
            </a:r>
          </a:p>
          <a:p>
            <a:r>
              <a:rPr b="1"/>
              <a:t> Serverless</a:t>
            </a:r>
            <a:r>
              <a:t> — managed, elastic, consumption-based pricing</a:t>
            </a:r>
          </a:p>
          <a:p>
            <a:r>
              <a:rPr b="1"/>
              <a:t> Diskless / object-store Kafka</a:t>
            </a:r>
            <a:r>
              <a:t> — brokers backed directly by S3-class storage (KIP-1150 "diskless topics"; WarpStream, AutoMQ, Confluent Freight) — cheaper, near-infinite retention, no local disks to manage</a:t>
            </a:r>
          </a:p>
          <a:p>
            <a:r>
              <a:rPr b="1"/>
              <a:t> Edge streaming</a:t>
            </a:r>
            <a:r>
              <a:t> — Kafka on constrained devices and edge gateways</a:t>
            </a:r>
          </a:p>
          <a:p>
            <a:r>
              <a:rPr b="1"/>
              <a:t> AI integration</a:t>
            </a:r>
            <a:r>
              <a:t> — streaming features for ML and real-time inference</a:t>
            </a:r>
          </a:p>
          <a:p>
            <a:r>
              <a:rPr b="1"/>
              <a:t> Native queue semantics</a:t>
            </a:r>
            <a:r>
              <a:t> — Share Groups (KIP-932, Kafka 4) make Kafka a work queue, not just a log</a:t>
            </a:r>
          </a:p>
          <a:p>
            <a:r>
              <a:rPr b="1"/>
              <a:t> Federation</a:t>
            </a:r>
            <a:r>
              <a:t> — connected multi-cluster topologies across regions and clouds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Multi-Cluster Federation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>
            <a:r>
              <a:t> Use cases: data locality (GDPR, latency), blast radius containment, multi-cloud strategy, organizational boundaries.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093200" cy="2654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Federation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Hub and spoke:</a:t>
            </a:r>
          </a:p>
          <a:p/>
          <a:p>
            <a:r>
              <a:rPr b="1"/>
              <a:t> Selective replication:</a:t>
            </a:r>
          </a:p>
          <a:p/>
          <a:p>
            <a:r>
              <a:rPr b="1"/>
              <a:t> Active-active DR: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483600" cy="7874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1136"/>
            <a:ext cx="9702800" cy="787400"/>
          </a:xfrm>
          <a:prstGeom prst="rect">
            <a:avLst/>
          </a:prstGeom>
        </p:spPr>
      </p:pic>
      <p:pic>
        <p:nvPicPr>
          <p:cNvPr id="7" name="Picture 6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08960"/>
            <a:ext cx="84836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at the 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>
            <a:r>
              <a:t> Implementations:</a:t>
            </a:r>
          </a:p>
          <a:p>
            <a:r>
              <a:rPr b="1"/>
              <a:t> Strimzi</a:t>
            </a:r>
            <a:r>
              <a:t> — Kafka on Kubernetes, edge clusters</a:t>
            </a:r>
          </a:p>
          <a:p>
            <a:r>
              <a:rPr b="1"/>
              <a:t> Redpanda</a:t>
            </a:r>
            <a:r>
              <a:t> — Kafka-compatible, single-binary, low resource footprint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6502400" cy="2921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IoT Streaming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>
            <a:r>
              <a:t> Key design considerations: partition by</a:t>
            </a:r>
            <a:r>
              <a:rPr>
                <a:latin typeface="Courier New"/>
              </a:rPr>
              <a:t> device_id</a:t>
            </a:r>
            <a:r>
              <a:t> , idempotent producers, mTLS per device, edge filtering before forwarding.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7884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AI-Driven Event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18364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Streaming ML Inference: Two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Pattern 1: External model server per event:</a:t>
            </a:r>
          </a:p>
          <a:p/>
          <a:p>
            <a:r>
              <a:rPr b="1"/>
              <a:t> Pattern 2: Embedded model in stream processor:</a:t>
            </a:r>
          </a:p>
          <a:p/>
          <a:p/>
          <a:p>
            <a:r>
              <a:t> Pattern 2: lower latency, no network hop.</a:t>
            </a:r>
            <a:r>
              <a:t> Pattern 1: model updates without redeploying the stream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915400" cy="585545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1136"/>
            <a:ext cx="83312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Queues — Share Groups (KIP-932)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Native queue semantics arrived in Kafka 4.0</a:t>
            </a:r>
            <a:r>
              <a:t> as Share Groups (early access):</a:t>
            </a:r>
          </a:p>
          <a:p/>
          <a:p/>
          <a:p/>
          <a:p>
            <a:r>
              <a:t> Consumer count is</a:t>
            </a:r>
            <a:r>
              <a:rPr b="1"/>
              <a:t> decoupled from partition count</a:t>
            </a:r>
            <a:r>
              <a:t> — scale workers past partitions</a:t>
            </a:r>
          </a:p>
          <a:p>
            <a:r>
              <a:t> Per-message ack/redelivery; tooling:</a:t>
            </a:r>
            <a:r>
              <a:rPr>
                <a:latin typeface="Courier New"/>
              </a:rPr>
              <a:t> kafka-console-share-consumer.sh</a:t>
            </a:r>
            <a:r>
              <a:t> ,</a:t>
            </a:r>
            <a:r>
              <a:rPr>
                <a:latin typeface="Courier New"/>
              </a:rPr>
              <a:t> kafka-share-groups.sh</a:t>
            </a:r>
          </a:p>
          <a:p>
            <a:r>
              <a:t> Useful for: task queues, job distribution, worker pools — while keeping Kafka's durability and replay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112268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Modernizing Legacy Event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>
            <a:r>
              <a:rPr b="1"/>
              <a:t> Strangler fig pattern:</a:t>
            </a:r>
            <a:r>
              <a:t> gradually replace legacy consumers.</a:t>
            </a:r>
            <a:r>
              <a:t> New services read from Kafka. Legacy producers keep sending to MQ. Bridge replicates to Kafka.</a:t>
            </a:r>
            <a:r>
              <a:t> No big-bang migration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026400" cy="2120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Serverless Kafka — Amazon MSK Serverless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>
            <a:r>
              <a:t> Best for: variable workloads, dev/test, new projects.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7028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Serverless Kafka — Confluent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>
            <a:r>
              <a:t> Consumption-based pricing on Basic/Standard tiers.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0617200" cy="1854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Serverless Readiness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Before migrating to a managed/serverless offering:</a:t>
            </a:r>
          </a:p>
          <a:p>
            <a:r>
              <a:t> ☐ No broker-specific client assumptions</a:t>
            </a:r>
          </a:p>
          <a:p>
            <a:r>
              <a:t> ☐ Retries and idempotence enabled</a:t>
            </a:r>
          </a:p>
          <a:p>
            <a:r>
              <a:t> ☐ Topic and ACL provisioning scripted (not manual)</a:t>
            </a:r>
          </a:p>
          <a:p>
            <a:r>
              <a:t> ☐ Metrics exported externally (not broker shell scraping)</a:t>
            </a:r>
          </a:p>
          <a:p>
            <a:r>
              <a:t> ☐ Schema Registry usage standardized</a:t>
            </a:r>
          </a:p>
          <a:p>
            <a:r>
              <a:t> ☐ Cost model understood (traffic + retention pricing)</a:t>
            </a:r>
          </a:p>
          <a:p>
            <a:r>
              <a:t> ☐ No reliance on ZooKeeper or self-managed KRaft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Future of Event-Driven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Kafka + Iceberg</a:t>
            </a:r>
            <a:r>
              <a:t> — streaming-native data lakehouse (no ETL)</a:t>
            </a:r>
          </a:p>
          <a:p>
            <a:r>
              <a:rPr b="1"/>
              <a:t> Real-time AI agents</a:t>
            </a:r>
            <a:r>
              <a:t> — event-triggered autonomous agents responding to streams</a:t>
            </a:r>
          </a:p>
          <a:p>
            <a:r>
              <a:rPr b="1"/>
              <a:t> Unified batch/streaming</a:t>
            </a:r>
            <a:r>
              <a:t> — Apache Flink Table API, Spark Streaming convergence</a:t>
            </a:r>
          </a:p>
          <a:p>
            <a:r>
              <a:rPr b="1"/>
              <a:t> AI-native pipelines</a:t>
            </a:r>
            <a:r>
              <a:t> — embedding LLMs in stream processors</a:t>
            </a:r>
          </a:p>
          <a:p>
            <a:r>
              <a:rPr b="1"/>
              <a:t> Decentralized data mesh</a:t>
            </a:r>
            <a:r>
              <a:t> — Kafka as the event backbone of data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6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Multi-cluster federation via MirrorMaker 2 supports global, multi-cloud topologies</a:t>
            </a:r>
          </a:p>
          <a:p>
            <a:r>
              <a:t> Edge streaming: Kafka on Kubernetes (Strimzi) for IoT and factory use cases</a:t>
            </a:r>
          </a:p>
          <a:p>
            <a:r>
              <a:t> AI integration: streaming feature engineering + online inference pipelines</a:t>
            </a:r>
          </a:p>
          <a:p>
            <a:r>
              <a:t> Native queue semantics — Share Groups (KIP-932, Kafka 4) — enable Kafka as a traditional work queue, decoupled from partition count</a:t>
            </a:r>
          </a:p>
          <a:p>
            <a:r>
              <a:t> Serverless Kafka (MSK Serverless, Confluent Cloud) eliminates infrastructure management</a:t>
            </a:r>
          </a:p>
          <a:p>
            <a:r>
              <a:t> Modernizing legacy: strangler fig pattern with bridge connectors</a:t>
            </a:r>
          </a:p>
          <a:p>
            <a:r>
              <a:t> Future: Kafka + Iceberg, AI-native pipelines, data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Module 7 — High-Volume Fan-Out Best Practices</a:t>
            </a:r>
          </a:p>
          <a:p>
            <a:r>
              <a:t> Topic layout strategies for 10M msg/sec with 10 overlapping consumers</a:t>
            </a:r>
          </a:p>
          <a:p>
            <a:r>
              <a:t> Header-based filtering</a:t>
            </a:r>
          </a:p>
          <a:p>
            <a:r>
              <a:t> Kafka Streams branching</a:t>
            </a:r>
          </a:p>
          <a:p>
            <a:r>
              <a:t> KEDA autoscaling tied to consumer lag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 — Lab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Review Emerging Architecture Patterns</a:t>
            </a:r>
          </a:p>
          <a:p>
            <a:r>
              <a:t> You will:</a:t>
            </a:r>
          </a:p>
          <a:p>
            <a:r>
              <a:t> Build a lightweight edge-to-core event pipeline with filtering</a:t>
            </a:r>
          </a:p>
          <a:p>
            <a:r>
              <a:t> Implement a real-time feature enrichment stage</a:t>
            </a:r>
          </a:p>
          <a:p>
            <a:r>
              <a:t> Integrate a mock inference service with Kafka events</a:t>
            </a:r>
          </a:p>
          <a:p>
            <a:r>
              <a:t> Demonstrate queue-style work distribution</a:t>
            </a:r>
          </a:p>
          <a:p>
            <a:r>
              <a:t> Assess a pipeline's serverless readiness</a:t>
            </a:r>
          </a:p>
          <a:p>
            <a:r>
              <a:t> Environment: Docker Compose (Kafka, Python, Flask mock model)</a:t>
            </a:r>
            <a:r>
              <a:t> Time: 60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