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5 — Reliability, Scaling &amp; Performance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Right-sizing Kafka clusters</a:t>
            </a:r>
          </a:p>
          <a:p>
            <a:r>
              <a:t> Expanding Kafka with no data loss</a:t>
            </a:r>
          </a:p>
          <a:p>
            <a:r>
              <a:t> HA and performance tuning</a:t>
            </a:r>
          </a:p>
          <a:p>
            <a:r>
              <a:t> Producer and consumer throughput parameters</a:t>
            </a:r>
          </a:p>
          <a:p>
            <a:r>
              <a:t> Consumer lag detection and remediation</a:t>
            </a:r>
          </a:p>
          <a:p>
            <a:r>
              <a:t> Cooperative rebalancing</a:t>
            </a:r>
          </a:p>
          <a:p>
            <a:r>
              <a:t> Broker failure, failover, and ISR recovery</a:t>
            </a:r>
          </a:p>
          <a:p>
            <a:r>
              <a:t> Capacity planning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Limits Kafka Throughput?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Network bandwidth</a:t>
            </a:r>
            <a:r>
              <a:t> — bytes in/out per broker</a:t>
            </a:r>
          </a:p>
          <a:p>
            <a:r>
              <a:rPr b="1"/>
              <a:t> Disk I/O</a:t>
            </a:r>
            <a:r>
              <a:t> — sequential write throughput</a:t>
            </a:r>
          </a:p>
          <a:p>
            <a:r>
              <a:rPr b="1"/>
              <a:t> CPU</a:t>
            </a:r>
            <a:r>
              <a:t> — compression/decompression, serialization</a:t>
            </a:r>
          </a:p>
          <a:p>
            <a:r>
              <a:rPr b="1"/>
              <a:t> Producer batching</a:t>
            </a:r>
            <a:r>
              <a:t> — small batches = more overhead</a:t>
            </a:r>
          </a:p>
          <a:p>
            <a:r>
              <a:rPr b="1"/>
              <a:t> Replication factor</a:t>
            </a:r>
            <a:r>
              <a:t> — more replicas = more network traffic</a:t>
            </a:r>
          </a:p>
          <a:p>
            <a:r>
              <a:rPr b="1"/>
              <a:t> Consumer parallelism</a:t>
            </a:r>
            <a:r>
              <a:t> — limited by partition count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Right-Sizing: Capacity Planning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Broker count: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836400" cy="21209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75692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Throughput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Tuning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batch.size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(64KB–1MB)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Larger batches, fewer requests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linger.ms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(5–100ms)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 to fill batches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compression.type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lz4` or `zstd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Smaller network payload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buffer.memory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(64MB+)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in-flight data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4064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Throughput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fetch.min.bytes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 for more data per fetch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fetch.max.wait.ms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wait time for min bytes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max.poll.records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Records processed per poll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fetch.max.bytes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Larger fetch responses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4368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Enable end-to-end: compress at producer, decompress only at consumer.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Lowest latency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lz4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High-throughput producers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zstd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 choice, storage-sensitive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Legacy compatibility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snappy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Balanced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Expanding Kafka with No Data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2456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Blue/Green Cluster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Zero-downtime: producers switch first, consumers drain, then switch.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2456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Lag — The Primary Health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 Root cause vs fix: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197600" cy="1320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7744" y="2231136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Root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Slow processing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Optimize code, async processing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 few consumers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 instances (up to partition count)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Rebalance 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Switch to cooperative rebalancing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Message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DLQ handling, avoid retry loops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Rebalancing — The Throughput Killer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Eager rebalancing</a:t>
            </a:r>
            <a:r>
              <a:t> (default before Kafka 2.3):</a:t>
            </a:r>
          </a:p>
          <a:p/>
          <a:p>
            <a:r>
              <a:rPr b="1"/>
              <a:t> Cooperative incremental rebalancing</a:t>
            </a:r>
            <a:r>
              <a:t> (client-side, Kafka 2.4+):</a:t>
            </a:r>
          </a:p>
          <a:p/>
          <a:p/>
          <a:p>
            <a:r>
              <a:t> Config:</a:t>
            </a:r>
          </a:p>
          <a:p/>
          <a:p>
            <a:r>
              <a:rPr b="1"/>
              <a:t> New consumer protocol — KIP-848 (GA in Kafka 4):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8364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6502400" cy="10541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7872"/>
            <a:ext cx="10769600" cy="787400"/>
          </a:xfrm>
          <a:prstGeom prst="rect">
            <a:avLst/>
          </a:prstGeom>
        </p:spPr>
      </p:pic>
      <p:pic>
        <p:nvPicPr>
          <p:cNvPr id="8" name="Picture 7" descr="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25696"/>
            <a:ext cx="11226800" cy="1054100"/>
          </a:xfrm>
          <a:prstGeom prst="rect">
            <a:avLst/>
          </a:prstGeom>
        </p:spPr>
      </p:pic>
      <p:pic>
        <p:nvPicPr>
          <p:cNvPr id="9" name="Picture 8" descr="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03520"/>
            <a:ext cx="97028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Broker Failure and ISR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Monitor</a:t>
            </a:r>
            <a:r>
              <a:rPr>
                <a:latin typeface="Courier New"/>
              </a:rPr>
              <a:t> UnderReplicatedPartitions</a:t>
            </a:r>
            <a:r>
              <a:t> — non-zero is the first sign of trouble.</a:t>
            </a:r>
          </a:p>
          <a:p>
            <a:r>
              <a:t> Key configs:</a:t>
            </a:r>
          </a:p>
          <a:p>
            <a:r>
              <a:rPr>
                <a:latin typeface="Courier New"/>
              </a:rPr>
              <a:t> replica.lag.time.max.ms</a:t>
            </a:r>
            <a:r>
              <a:t> — how long before a replica is removed from ISR</a:t>
            </a:r>
          </a:p>
          <a:p>
            <a:r>
              <a:rPr>
                <a:latin typeface="Courier New"/>
              </a:rPr>
              <a:t> min.insync.replicas</a:t>
            </a:r>
            <a:r>
              <a:t> — minimum ISR required for produce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408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 Configuration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Recommendation for production:</a:t>
            </a:r>
            <a:r>
              <a:rPr>
                <a:latin typeface="Courier New"/>
              </a:rPr>
              <a:t> acks=all</a:t>
            </a:r>
            <a:r>
              <a:t> ,</a:t>
            </a:r>
            <a:r>
              <a:rPr>
                <a:latin typeface="Courier New"/>
              </a:rPr>
              <a:t> min.insync.replicas=2</a:t>
            </a:r>
            <a:r>
              <a:t> ,</a:t>
            </a:r>
            <a:r>
              <a:rPr>
                <a:latin typeface="Courier New"/>
              </a:rPr>
              <a:t> replication-factor=3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Maximum durability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data loss, some throughput cost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Possible data loss on broker failure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Zero data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RF (e.g.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Writes fail if any broker is down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Capacity planning: model storage per topic before provisioning</a:t>
            </a:r>
          </a:p>
          <a:p>
            <a:r>
              <a:t> Expanding Kafka: use</a:t>
            </a:r>
            <a:r>
              <a:rPr>
                <a:latin typeface="Courier New"/>
              </a:rPr>
              <a:t> kafka-reassign-partitions</a:t>
            </a:r>
            <a:r>
              <a:t> with throttle, validate ISR</a:t>
            </a:r>
          </a:p>
          <a:p>
            <a:r>
              <a:t> Producer tuning: larger batches, linger, lz4/zstd compression</a:t>
            </a:r>
          </a:p>
          <a:p>
            <a:r>
              <a:t> Consumer tuning: fetch.min.bytes, max.poll.records</a:t>
            </a:r>
          </a:p>
          <a:p>
            <a:r>
              <a:t> Consumer lag is the primary operational health metric</a:t>
            </a:r>
          </a:p>
          <a:p>
            <a:r>
              <a:t> Cooperative rebalancing dramatically reduces disruption; the KIP-848 broker-driven protocol is the Kafka 4 forward path</a:t>
            </a:r>
          </a:p>
          <a:p>
            <a:r>
              <a:t> Tiered Storage decouples retention from broker disk — size on throughput, not total storage</a:t>
            </a:r>
          </a:p>
          <a:p>
            <a:r>
              <a:t> HA:</a:t>
            </a:r>
            <a:r>
              <a:rPr>
                <a:latin typeface="Courier New"/>
              </a:rPr>
              <a:t> acks=all</a:t>
            </a:r>
            <a:r>
              <a:t> ,</a:t>
            </a:r>
            <a:r>
              <a:rPr>
                <a:latin typeface="Courier New"/>
              </a:rPr>
              <a:t> min.insync.replicas=2</a:t>
            </a:r>
            <a:r>
              <a:t> ,</a:t>
            </a:r>
            <a:r>
              <a:rPr>
                <a:latin typeface="Courier New"/>
              </a:rPr>
              <a:t> replication-factor=3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6 — Modern Kafka &amp; Streaming Trends</a:t>
            </a:r>
          </a:p>
          <a:p>
            <a:r>
              <a:t> Multi-cluster federation and disaster recovery</a:t>
            </a:r>
          </a:p>
          <a:p>
            <a:r>
              <a:t> Kafka at the edge and IoT</a:t>
            </a:r>
          </a:p>
          <a:p>
            <a:r>
              <a:t> AI-driven streaming pipelines</a:t>
            </a:r>
          </a:p>
          <a:p>
            <a:r>
              <a:t> Serverless Kafka: MSK Serverless, Confluent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Stress-Test a Kafka Cluster and Analyze Rebalance and Failover Behavior</a:t>
            </a:r>
          </a:p>
          <a:p>
            <a:r>
              <a:t> You will:</a:t>
            </a:r>
          </a:p>
          <a:p>
            <a:r>
              <a:t> Baseline and tuned throughput benchmarks</a:t>
            </a:r>
          </a:p>
          <a:p>
            <a:r>
              <a:t> Consumer lag simulation and group-based remediation</a:t>
            </a:r>
          </a:p>
          <a:p>
            <a:r>
              <a:t> Eager vs cooperative rebalancing comparison</a:t>
            </a:r>
          </a:p>
          <a:p>
            <a:r>
              <a:t> Partition reassignment with throttling on a live cluster</a:t>
            </a:r>
          </a:p>
          <a:p>
            <a:r>
              <a:t> Broker failure simulation with ISR recovery measurement</a:t>
            </a:r>
          </a:p>
          <a:p>
            <a:r>
              <a:t> End-to-end latency measurement</a:t>
            </a:r>
          </a:p>
          <a:p>
            <a:r>
              <a:t> Environment: Docker Compose (3-broker Kafka cluster)</a:t>
            </a:r>
            <a:r>
              <a:t> Time: 75–90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