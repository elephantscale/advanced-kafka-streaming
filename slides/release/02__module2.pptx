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2 — Kafka Internals &amp; Cluster Architecture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Broker internals: log segments, indexes, compaction</a:t>
            </a:r>
          </a:p>
          <a:p>
            <a:r>
              <a:t> KRaft — ZooKeeper-free Kafka architecture</a:t>
            </a:r>
          </a:p>
          <a:p>
            <a:r>
              <a:t> Controller quorum and metadata management</a:t>
            </a:r>
          </a:p>
          <a:p>
            <a:r>
              <a:t> Partition assignment and leader election</a:t>
            </a:r>
          </a:p>
          <a:p>
            <a:r>
              <a:t> In-Sync Replicas (ISR) and Eligible Leader Replicas (KIP-966)</a:t>
            </a:r>
          </a:p>
          <a:p>
            <a:r>
              <a:t> Producer internals</a:t>
            </a:r>
          </a:p>
          <a:p>
            <a:r>
              <a:t> Consumer internals and the KIP-848 rebalance protocol</a:t>
            </a:r>
          </a:p>
          <a:p>
            <a:r>
              <a:t> Exactly-once semantics and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Kafka Broker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Kafka broker is a JVM process that:</a:t>
            </a:r>
          </a:p>
          <a:p>
            <a:r>
              <a:t> Manages</a:t>
            </a:r>
            <a:r>
              <a:rPr b="1"/>
              <a:t> log segments</a:t>
            </a:r>
            <a:r>
              <a:t> on disk (one per partition)</a:t>
            </a:r>
          </a:p>
          <a:p>
            <a:r>
              <a:t> Handles</a:t>
            </a:r>
            <a:r>
              <a:rPr b="1"/>
              <a:t> producer</a:t>
            </a:r>
            <a:r>
              <a:t> write requests</a:t>
            </a:r>
          </a:p>
          <a:p>
            <a:r>
              <a:t> Handles</a:t>
            </a:r>
            <a:r>
              <a:rPr b="1"/>
              <a:t> consumer</a:t>
            </a:r>
            <a:r>
              <a:t> fetch requests</a:t>
            </a:r>
          </a:p>
          <a:p>
            <a:r>
              <a:t> Participates in</a:t>
            </a:r>
            <a:r>
              <a:rPr b="1"/>
              <a:t> replication</a:t>
            </a:r>
            <a:r>
              <a:t> with other brokers</a:t>
            </a:r>
          </a:p>
          <a:p>
            <a:r>
              <a:t> Maintains</a:t>
            </a:r>
            <a:r>
              <a:rPr b="1"/>
              <a:t> partition leadership</a:t>
            </a:r>
          </a:p>
          <a:p>
            <a:r>
              <a:t> Each broker can handle hundreds of thousands of partitions and millions of messages per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Segments — How Kafka Stores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Each partition is stored as a</a:t>
            </a:r>
            <a:r>
              <a:rPr b="1"/>
              <a:t> sequence of segment files</a:t>
            </a:r>
            <a:r>
              <a:t> on disk:</a:t>
            </a:r>
          </a:p>
          <a:p/>
          <a:p/>
          <a:p/>
          <a:p>
            <a:r>
              <a:t> Key properties:</a:t>
            </a:r>
          </a:p>
          <a:p>
            <a:r>
              <a:t> Log is</a:t>
            </a:r>
            <a:r>
              <a:rPr b="1"/>
              <a:t> append-only</a:t>
            </a:r>
            <a:r>
              <a:t> — writes are sequential (fast)</a:t>
            </a:r>
          </a:p>
          <a:p>
            <a:r>
              <a:t> Segments are</a:t>
            </a:r>
            <a:r>
              <a:rPr b="1"/>
              <a:t> immutable</a:t>
            </a:r>
            <a:r>
              <a:t> once closed</a:t>
            </a:r>
          </a:p>
          <a:p>
            <a:r>
              <a:t> Older segments are deleted or compacted based on retention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4648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maintains two indexes per segment for fast lookups:</a:t>
            </a:r>
          </a:p>
          <a:p>
            <a:r>
              <a:rPr b="1"/>
              <a:t> Offset index</a:t>
            </a:r>
            <a:r>
              <a:t> — maps logical offset to byte position in the</a:t>
            </a:r>
            <a:r>
              <a:rPr>
                <a:latin typeface="Courier New"/>
              </a:rPr>
              <a:t> .log</a:t>
            </a:r>
            <a:r>
              <a:t> file</a:t>
            </a:r>
          </a:p>
          <a:p/>
          <a:p>
            <a:r>
              <a:rPr b="1"/>
              <a:t> Time index</a:t>
            </a:r>
            <a:r>
              <a:t> — maps timestamp to offset</a:t>
            </a:r>
          </a:p>
          <a:p/>
          <a:p>
            <a:r>
              <a:t> These enable O(log n) seeks without scanning the full log.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4064000" cy="787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960"/>
            <a:ext cx="4673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Compaction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</a:t>
            </a:r>
            <a:r>
              <a:rPr b="1"/>
              <a:t> state-based topics</a:t>
            </a:r>
            <a:r>
              <a:t> (e.g., user profiles, configuration), Kafka supports compaction instead of deletion.</a:t>
            </a:r>
          </a:p>
          <a:p/>
          <a:p/>
          <a:p/>
          <a:p/>
          <a:p>
            <a:r>
              <a:t> Compacted topics guarantee</a:t>
            </a:r>
            <a:r>
              <a:rPr b="1"/>
              <a:t> at least the last value per key</a:t>
            </a:r>
            <a:r>
              <a:t> is retained forever.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4648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ZooKeeper → KRaft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Legacy (ZooKeeper mode — historical context only):</a:t>
            </a:r>
          </a:p>
          <a:p/>
          <a:p/>
          <a:p>
            <a:r>
              <a:rPr b="1"/>
              <a:t> KRaft mode — the only mode in Kafka 4: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61976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95504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KRaft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KRaft mode, Kafka manages its own metadata:</a:t>
            </a:r>
          </a:p>
          <a:p/>
          <a:p/>
          <a:p/>
          <a:p/>
          <a:p>
            <a:r>
              <a:t> Benefits: faster failover, simpler operations, no ZooKeeper to manage.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1788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 Assignment and Leader 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a topic is created, Kafka assigns partitions to brokers:</a:t>
            </a:r>
          </a:p>
          <a:p/>
          <a:p/>
          <a:p>
            <a:r>
              <a:t> Partition</a:t>
            </a:r>
            <a:r>
              <a:rPr b="1"/>
              <a:t> leader</a:t>
            </a:r>
            <a:r>
              <a:t> handles all reads and writes</a:t>
            </a:r>
          </a:p>
          <a:p>
            <a:r>
              <a:t> Followers replicate from the leader</a:t>
            </a:r>
          </a:p>
          <a:p>
            <a:r>
              <a:t> If the leader fails, a new leader is elected from the ISR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5504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In-Sync Replicas (ISR)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ISR is the set of replicas that are</a:t>
            </a:r>
            <a:r>
              <a:rPr b="1"/>
              <a:t> fully caught up</a:t>
            </a:r>
            <a:r>
              <a:t> with the leader.</a:t>
            </a:r>
          </a:p>
          <a:p/>
          <a:p/>
          <a:p>
            <a:r>
              <a:t> Key configs:</a:t>
            </a:r>
          </a:p>
          <a:p>
            <a:r>
              <a:rPr>
                <a:latin typeface="Courier New"/>
              </a:rPr>
              <a:t> replica.lag.time.max.ms</a:t>
            </a:r>
            <a:r>
              <a:t> — max time a follower can be behind before removed from ISR</a:t>
            </a:r>
          </a:p>
          <a:p>
            <a:r>
              <a:rPr>
                <a:latin typeface="Courier New"/>
              </a:rPr>
              <a:t> min.insync.replicas</a:t>
            </a:r>
            <a:r>
              <a:t> — minimum ISR size required to accept writes (e.g., 2)</a:t>
            </a:r>
          </a:p>
          <a:p>
            <a:r>
              <a:rPr>
                <a:latin typeface="Courier New"/>
              </a:rPr>
              <a:t> acks=all</a:t>
            </a:r>
            <a:r>
              <a:t> — producer waits for all ISR members to acknowledge</a:t>
            </a:r>
          </a:p>
          <a:p>
            <a:r>
              <a:rPr b="1"/>
              <a:t> New in Kafka 4 — Eligible Leader Replicas (KIP-966, preview):</a:t>
            </a:r>
          </a:p>
          <a:p>
            <a:r>
              <a:t> The controller now also tracks replicas that left the ISR but are</a:t>
            </a:r>
            <a:r>
              <a:rPr i="1"/>
              <a:t> known to hold data up to the high watermark</a:t>
            </a:r>
            <a:r>
              <a:t> — the</a:t>
            </a:r>
            <a:r>
              <a:rPr b="1"/>
              <a:t> ELR</a:t>
            </a:r>
          </a:p>
          <a:p>
            <a:r>
              <a:t> On a clean election with an empty ISR, a replica from the ELR can be elected</a:t>
            </a:r>
            <a:r>
              <a:rPr b="1"/>
              <a:t> without data loss</a:t>
            </a:r>
            <a:r>
              <a:t> — fixing the old "last replica standing" unclean-election dilemma</a:t>
            </a:r>
          </a:p>
          <a:p>
            <a:r>
              <a:t> Separates the</a:t>
            </a:r>
            <a:r>
              <a:rPr i="1"/>
              <a:t> replication</a:t>
            </a:r>
            <a:r>
              <a:t> quorum (ISR, known to the leader) from the</a:t>
            </a:r>
            <a:r>
              <a:rPr i="1"/>
              <a:t> election</a:t>
            </a:r>
            <a:r>
              <a:t> quorum (ISR + ELR, known to the controller)</a:t>
            </a:r>
          </a:p>
          <a:p>
            <a:r>
              <a:t> Enabled by default on new Kafka 4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7155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Kafka producer is a sophisticated client: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7884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Configuration — Key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 b="1"/>
              <a:t> acks</a:t>
            </a:r>
          </a:p>
          <a:p>
            <a:r>
              <a:t> — Durability guarantee (0, 1, all). Default: 1</a:t>
            </a:r>
          </a:p>
          <a:p>
            <a:r>
              <a:rPr i="1" b="1"/>
              <a:t> batch.size</a:t>
            </a:r>
          </a:p>
          <a:p>
            <a:r>
              <a:t> — Max bytes per batch. Default: 16384 (16 KB)</a:t>
            </a:r>
          </a:p>
          <a:p>
            <a:r>
              <a:rPr i="1" b="1"/>
              <a:t> linger.ms</a:t>
            </a:r>
          </a:p>
          <a:p>
            <a:r>
              <a:t> — Wait time to fill a batch. Default: 0 (no wait)</a:t>
            </a:r>
          </a:p>
          <a:p>
            <a:r>
              <a:rPr i="1" b="1"/>
              <a:t> compression.type</a:t>
            </a:r>
          </a:p>
          <a:p>
            <a:r>
              <a:t> — none, gzip, snappy, lz4, zstd. Default: none</a:t>
            </a:r>
          </a:p>
          <a:p>
            <a:r>
              <a:rPr i="1" b="1"/>
              <a:t> max.in.flight.requests.per.connection</a:t>
            </a:r>
          </a:p>
          <a:p>
            <a:r>
              <a:t> — Concurrent unacknowledged requests. Default: 5</a:t>
            </a:r>
          </a:p>
          <a:p>
            <a:r>
              <a:rPr i="1" b="1"/>
              <a:t> retries</a:t>
            </a:r>
          </a:p>
          <a:p>
            <a:r>
              <a:t> — Retry count on failure. Default: MAX_INT</a:t>
            </a:r>
          </a:p>
          <a:p>
            <a:r>
              <a:rPr i="1" b="1"/>
              <a:t> enable.idempotence</a:t>
            </a:r>
          </a:p>
          <a:p>
            <a:r>
              <a:t> — Exactly-once producer semantics. Default: true (Kafka 3.0+)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Idempotent Producer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With</a:t>
            </a:r>
            <a:r>
              <a:rPr>
                <a:latin typeface="Courier New"/>
              </a:rPr>
              <a:t> enable.idempotence=true</a:t>
            </a:r>
            <a:r>
              <a:t> :</a:t>
            </a:r>
          </a:p>
          <a:p/>
          <a:p/>
          <a:p/>
          <a:p>
            <a:r>
              <a:t> Prevents duplicate writes on retry — essential for exactly-once.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8740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Kafka consumer manages its own position (offset):</a:t>
            </a:r>
          </a:p>
          <a:p/>
          <a:p/>
          <a:p/>
          <a:p/>
          <a:p>
            <a:r>
              <a:t> Key difference from traditional queues:</a:t>
            </a:r>
            <a:r>
              <a:rPr b="1"/>
              <a:t> the consumer controls its own pace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0932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Group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Rebalance types:</a:t>
            </a:r>
          </a:p>
          <a:p>
            <a:r>
              <a:rPr b="1"/>
              <a:t> Eager</a:t>
            </a:r>
            <a:r>
              <a:t> (stop-the-world) — all consumers stop, reassign</a:t>
            </a:r>
          </a:p>
          <a:p>
            <a:r>
              <a:rPr b="1"/>
              <a:t> Cooperative</a:t>
            </a:r>
            <a:r>
              <a:t> (incremental, client-side) — only affected partitions move</a:t>
            </a:r>
          </a:p>
          <a:p>
            <a:r>
              <a:rPr b="1"/>
              <a:t> New consumer protocol (KIP-848, GA in Kafka 4)</a:t>
            </a:r>
            <a:r>
              <a:t> — the</a:t>
            </a:r>
            <a:r>
              <a:rPr i="1"/>
              <a:t> broker</a:t>
            </a:r>
            <a:r>
              <a:t> coordinates the assignment instead of a client-side leader. Rebalances become incremental and far less disruptive; opt in per group via</a:t>
            </a:r>
            <a:r>
              <a:rPr>
                <a:latin typeface="Courier New"/>
              </a:rPr>
              <a:t> group.protocol=consumer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78740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Offset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Offsets are committed to the</a:t>
            </a:r>
            <a:r>
              <a:rPr>
                <a:latin typeface="Courier New"/>
              </a:rPr>
              <a:t> __consumer_offsets</a:t>
            </a:r>
            <a:r>
              <a:t> internal topic:</a:t>
            </a:r>
          </a:p>
          <a:p/>
          <a:p/>
          <a:p>
            <a:r>
              <a:t> Key configs:</a:t>
            </a:r>
          </a:p>
          <a:p>
            <a:r>
              <a:rPr>
                <a:latin typeface="Courier New"/>
              </a:rPr>
              <a:t> enable.auto.commit=true</a:t>
            </a:r>
            <a:r>
              <a:t> — auto-commit every</a:t>
            </a:r>
            <a:r>
              <a:rPr>
                <a:latin typeface="Courier New"/>
              </a:rPr>
              <a:t> auto.commit.interval.ms</a:t>
            </a:r>
          </a:p>
          <a:p>
            <a:r>
              <a:rPr>
                <a:latin typeface="Courier New"/>
              </a:rPr>
              <a:t> enable.auto.commit=false</a:t>
            </a:r>
            <a:r>
              <a:t> — manual</a:t>
            </a:r>
            <a:r>
              <a:rPr>
                <a:latin typeface="Courier New"/>
              </a:rPr>
              <a:t> commitSync()</a:t>
            </a:r>
            <a:r>
              <a:t> or</a:t>
            </a:r>
            <a:r>
              <a:rPr>
                <a:latin typeface="Courier New"/>
              </a:rPr>
              <a:t> commitAsync()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3124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Exactly-Once Semantics (EOS)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supports end-to-end exactly-once for Kafka-to-Kafka pipelines:</a:t>
            </a:r>
          </a:p>
          <a:p/>
          <a:p/>
          <a:p/>
          <a:p/>
          <a:p/>
          <a:p>
            <a:r>
              <a:t> Config:</a:t>
            </a:r>
            <a:r>
              <a:rPr>
                <a:latin typeface="Courier New"/>
              </a:rPr>
              <a:t> transactional.id=unique-producer-id</a:t>
            </a:r>
            <a:r>
              <a:t> ,</a:t>
            </a:r>
            <a:r>
              <a:rPr>
                <a:latin typeface="Courier New"/>
              </a:rPr>
              <a:t> isolation.level=read_committed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2268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Internal topic that stores all committed consumer offsets:</a:t>
            </a:r>
          </a:p>
          <a:p/>
          <a:p/>
          <a:p/>
          <a:p>
            <a:r>
              <a:t> Output format: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649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103124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Internal topic that tracks transactional producer state:</a:t>
            </a:r>
          </a:p>
          <a:p/>
          <a:p/>
          <a:p>
            <a:r>
              <a:t> Used by the broker to:</a:t>
            </a:r>
          </a:p>
          <a:p>
            <a:r>
              <a:t> Deduplicate writes from idempotent producers</a:t>
            </a:r>
          </a:p>
          <a:p>
            <a:r>
              <a:t> Ensure atomicity of transactions</a:t>
            </a:r>
          </a:p>
          <a:p>
            <a:r>
              <a:t> Handle crash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6172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stores data as append-only log segments with offset and time indexes</a:t>
            </a:r>
          </a:p>
          <a:p>
            <a:r>
              <a:t> Log compaction preserves the latest value per key indefinitely</a:t>
            </a:r>
          </a:p>
          <a:p>
            <a:r>
              <a:t> KRaft replaces ZooKeeper entirely in Kafka 4 — metadata stored in a Kafka Raft log</a:t>
            </a:r>
          </a:p>
          <a:p>
            <a:r>
              <a:t> ISR ensures only fully-caught-up replicas can become leaders; ELR (KIP-966) extends safe election to known-good replicas outside the ISR</a:t>
            </a:r>
          </a:p>
          <a:p>
            <a:r>
              <a:t> Producer batching, compression, and idempotence are key to throughput and correctness</a:t>
            </a:r>
          </a:p>
          <a:p>
            <a:r>
              <a:t> Consumer groups coordinate partition assignment via rebalance protocols — including the new broker-coordinated KIP-848 protocol</a:t>
            </a:r>
          </a:p>
          <a:p>
            <a:r>
              <a:t> Exactly-once semantics require transactional producers +</a:t>
            </a:r>
            <a:r>
              <a:rPr>
                <a:latin typeface="Courier New"/>
              </a:rPr>
              <a:t> read_committed</a:t>
            </a:r>
            <a:r>
              <a:t> consumers, hardened by KIP-890 in Kafka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3 — Kafka Operations &amp; Observability</a:t>
            </a:r>
          </a:p>
          <a:p>
            <a:r>
              <a:t> The metrics that matter: under-replicated partitions, consumer lag, ISR shrink rate</a:t>
            </a:r>
          </a:p>
          <a:p>
            <a:r>
              <a:t> Monitoring stack: Prometheus, Grafana, Kafka UI</a:t>
            </a:r>
          </a:p>
          <a:p>
            <a:r>
              <a:t> Operational procedures: retention, offset resets, security ops</a:t>
            </a:r>
          </a:p>
          <a:p>
            <a:r>
              <a:t> Incident triage runbooks and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Examine Internal Kafka Topics</a:t>
            </a:r>
          </a:p>
          <a:p>
            <a:r>
              <a:t> You will:</a:t>
            </a:r>
          </a:p>
          <a:p>
            <a:r>
              <a:t> Inspect</a:t>
            </a:r>
            <a:r>
              <a:rPr>
                <a:latin typeface="Courier New"/>
              </a:rPr>
              <a:t> __consumer_offsets</a:t>
            </a:r>
            <a:r>
              <a:t> and</a:t>
            </a:r>
            <a:r>
              <a:rPr>
                <a:latin typeface="Courier New"/>
              </a:rPr>
              <a:t> __transaction_state</a:t>
            </a:r>
          </a:p>
          <a:p>
            <a:r>
              <a:t> Trace a transactional producer's commit sequence</a:t>
            </a:r>
          </a:p>
          <a:p>
            <a:r>
              <a:t> Observe ISR changes during a simulated broker failure</a:t>
            </a:r>
          </a:p>
          <a:p>
            <a:r>
              <a:t> Examine log segment files on disk and the KRaft metadata log</a:t>
            </a:r>
          </a:p>
          <a:p>
            <a:r>
              <a:t> Environment: KRaft Kafka 4 cluster (Docker Compose)</a:t>
            </a:r>
            <a:r>
              <a:t> Time: ~60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