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4"/>
  </p:notesMasterIdLst>
  <p:handoutMasterIdLst>
    <p:handoutMasterId r:id="rId2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point to land: KRaft made upgrades</a:t>
            </a:r>
            <a:r>
              <a:rPr i="1"/>
              <a:t> simpler</a:t>
            </a:r>
            <a:r>
              <a:t> — one system to upgrade, not two — but the safety rule is unchanged. Frame an upgrade as just a controlled series of broker restarts: everything they learned about ISR and min.insync.replicas in Module 5 is exactly what keeps it zero-downtime. Quick engagement — ask the room: who's run a rolling upgrade, and what went wrong?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Walk the four steps slowly — this is the procedure they'll actually run in production. Emphasize step 2's wait-for-URP-zero: that discipline is what separates a clean upgrade from an outage. The classic failure is impatience — restarting the next broker before the previous one's replicas caught up, taking two replicas of the same partition down together. And metadata.version last, never before: enabling a feature the still-old binaries don't understand will break them.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reframe to sell: fast and safe are not opposites. With RF=3 and min.insync.replicas=2 you roll under full load — no maintenance window, no draining traffic. That IS the optimization. The three signals (URP, lag, latency) are the go/no-go gate between nodes. Close on automation: nobody should hand-roll a 30-broker cluster — Strimzi and Cruise Control run the wait-and-watch loop for you and cut total upgrade time.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6 — Modern Kafka &amp; Streaming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 Kafka is going</a:t>
            </a:r>
          </a:p>
          <a:p>
            <a:r>
              <a:t> Multi-cluster federation and disaster recovery</a:t>
            </a:r>
          </a:p>
          <a:p>
            <a:r>
              <a:t> Kafka at the edge and IoT architectures</a:t>
            </a:r>
          </a:p>
          <a:p>
            <a:r>
              <a:t> AI-driven event processing and streaming inference</a:t>
            </a:r>
          </a:p>
          <a:p>
            <a:r>
              <a:t> Kafka queues and work-distribution patterns</a:t>
            </a:r>
          </a:p>
          <a:p>
            <a:r>
              <a:t> Modernizing legacy event-processing systems</a:t>
            </a:r>
          </a:p>
          <a:p>
            <a:r>
              <a:t> Serverless Kafka: MSK Serverless and Confluent Cloud</a:t>
            </a:r>
          </a:p>
          <a:p>
            <a:r>
              <a:t> Upgrading Kafka in the KRaft era: safe, fast rolling upgrades</a:t>
            </a:r>
          </a:p>
          <a:p>
            <a:r>
              <a:t> Future directions in event-driven architecture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ann-h-45017-26465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5270218"/>
            <a:ext cx="3829812" cy="25532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Kafka Is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has evolved from a messaging system into a</a:t>
            </a:r>
            <a:r>
              <a:rPr b="1"/>
              <a:t> universal data streaming platform</a:t>
            </a:r>
            <a:r>
              <a:t> .</a:t>
            </a:r>
          </a:p>
          <a:p>
            <a:r>
              <a:t> Current trends:</a:t>
            </a:r>
          </a:p>
          <a:p>
            <a:r>
              <a:rPr b="1"/>
              <a:t> Serverless</a:t>
            </a:r>
            <a:r>
              <a:t> — managed, elastic, consumption-based pricing</a:t>
            </a:r>
          </a:p>
          <a:p>
            <a:r>
              <a:rPr b="1"/>
              <a:t> Diskless / object-store Kafka</a:t>
            </a:r>
            <a:r>
              <a:t> — brokers backed directly by S3-class storage (KIP-1150 "diskless topics"; WarpStream, AutoMQ, Confluent Freight) — cheaper, near-infinite retention, no local disks to manage</a:t>
            </a:r>
          </a:p>
          <a:p>
            <a:r>
              <a:rPr b="1"/>
              <a:t> Edge streaming</a:t>
            </a:r>
            <a:r>
              <a:t> — Kafka on constrained devices and edge gateways</a:t>
            </a:r>
          </a:p>
          <a:p>
            <a:r>
              <a:rPr b="1"/>
              <a:t> AI integration</a:t>
            </a:r>
            <a:r>
              <a:t> — streaming features for ML and real-time inference</a:t>
            </a:r>
          </a:p>
          <a:p>
            <a:r>
              <a:rPr b="1"/>
              <a:t> Native queue semantics</a:t>
            </a:r>
            <a:r>
              <a:t> — Share Groups (KIP-932, Kafka 4) make Kafka a work queue, not just a log</a:t>
            </a:r>
          </a:p>
          <a:p>
            <a:r>
              <a:rPr b="1"/>
              <a:t> Federation</a:t>
            </a:r>
            <a:r>
              <a:t> — connected multi-cluster topologies across regions and clouds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Trends: Ready Now vs Emerging vs Horizon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trends module is only useful if you know</a:t>
            </a:r>
            <a:r>
              <a:rPr b="1"/>
              <a:t> what to bet on today</a:t>
            </a:r>
            <a:r>
              <a:t> vs what to just watch:</a:t>
            </a:r>
          </a:p>
          <a:p>
            <a:r>
              <a:rPr b="1"/>
              <a:t> Production-ready now</a:t>
            </a:r>
            <a:r>
              <a:t> — MirrorMaker 2 federation · serverless (MSK Serverless, Confluent Cloud) ·</a:t>
            </a:r>
            <a:r>
              <a:rPr b="1"/>
              <a:t> Share Groups</a:t>
            </a:r>
            <a:r>
              <a:t> (KIP-932, early access but usable) · Kafka → Iceberg sinks.</a:t>
            </a:r>
          </a:p>
          <a:p>
            <a:r>
              <a:rPr b="1"/>
              <a:t> Emerging (pilot, not core yet)</a:t>
            </a:r>
            <a:r>
              <a:t> —</a:t>
            </a:r>
            <a:r>
              <a:rPr b="1"/>
              <a:t> diskless / object-store Kafka</a:t>
            </a:r>
            <a:r>
              <a:t> (KIP-1150; WarpStream, AutoMQ) · Flink-native lakehouse (Tableflow) · edge Kafka (Redpanda / Strimzi).</a:t>
            </a:r>
          </a:p>
          <a:p>
            <a:r>
              <a:rPr b="1"/>
              <a:t> Horizon (watch, don't build on)</a:t>
            </a:r>
            <a:r>
              <a:t> — real-time AI agents · LLMs embedded in stream processors · decentralized data mesh.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Multi-Cluster Federation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Use cases: data locality (GDPR, latency), blast radius containment, multi-cloud strategy, organizational boundaries.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7131"/>
            <a:ext cx="90932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Federation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Hub and spoke:</a:t>
            </a:r>
          </a:p>
          <a:p>
            <a:endParaRPr b="1" dirty="0"/>
          </a:p>
          <a:p>
            <a:r>
              <a:rPr b="1" dirty="0"/>
              <a:t> </a:t>
            </a:r>
            <a:endParaRPr lang="en-US" b="1" dirty="0"/>
          </a:p>
          <a:p>
            <a:r>
              <a:rPr b="1" dirty="0"/>
              <a:t>Selective replication:</a:t>
            </a:r>
          </a:p>
          <a:p>
            <a:endParaRPr lang="en-US" b="1" dirty="0"/>
          </a:p>
          <a:p>
            <a:endParaRPr b="1" dirty="0"/>
          </a:p>
          <a:p>
            <a:r>
              <a:rPr b="1" dirty="0"/>
              <a:t> Active-active DR:</a:t>
            </a:r>
          </a:p>
          <a:p>
            <a:endParaRPr b="1"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" y="1467273"/>
            <a:ext cx="8483600" cy="787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" y="2897456"/>
            <a:ext cx="8902700" cy="722470"/>
          </a:xfrm>
          <a:prstGeom prst="rect">
            <a:avLst/>
          </a:prstGeom>
        </p:spPr>
      </p:pic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251649"/>
            <a:ext cx="84836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at the 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Implementations:</a:t>
            </a:r>
          </a:p>
          <a:p>
            <a:r>
              <a:rPr b="1" dirty="0"/>
              <a:t> </a:t>
            </a:r>
            <a:r>
              <a:rPr b="1" dirty="0" err="1"/>
              <a:t>Strimzi</a:t>
            </a:r>
            <a:r>
              <a:rPr dirty="0"/>
              <a:t> — Kafka on Kubernetes, edge clusters</a:t>
            </a:r>
          </a:p>
          <a:p>
            <a:r>
              <a:rPr b="1" dirty="0"/>
              <a:t> </a:t>
            </a:r>
            <a:r>
              <a:rPr b="1" dirty="0" err="1"/>
              <a:t>Redpanda</a:t>
            </a:r>
            <a:r>
              <a:rPr dirty="0"/>
              <a:t> — Kafka-compatible, single-binary, low resource footprint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227931"/>
            <a:ext cx="65024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IoT Streaming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Key design considerations: partition by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device_id</a:t>
            </a:r>
            <a:r>
              <a:rPr dirty="0"/>
              <a:t> , idempotent producers, </a:t>
            </a:r>
            <a:r>
              <a:rPr dirty="0" err="1"/>
              <a:t>mTLS</a:t>
            </a:r>
            <a:r>
              <a:rPr dirty="0"/>
              <a:t> per device, edge filtering before forwarding.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7450"/>
            <a:ext cx="87884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AI-Driven Event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8130"/>
            <a:ext cx="9446132" cy="2543969"/>
          </a:xfrm>
          <a:prstGeom prst="rect">
            <a:avLst/>
          </a:prstGeom>
        </p:spPr>
      </p:pic>
      <p:pic>
        <p:nvPicPr>
          <p:cNvPr id="6" name="Picture 5" descr="pexels-magda-ehlers-pexels-352803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863" y="4993916"/>
            <a:ext cx="4363212" cy="29100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ML Inference: Two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Pattern 1: External model server per event:</a:t>
            </a:r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b="1" dirty="0"/>
              <a:t> Pattern 2: Embedded model in stream processor:</a:t>
            </a:r>
          </a:p>
          <a:p>
            <a:endParaRPr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dirty="0"/>
              <a:t> Pattern 2: lower latency, no network hop. Pattern 1: model updates without redeploying the stream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54546"/>
            <a:ext cx="8915400" cy="585545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00608"/>
            <a:ext cx="83312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Queues — Share Groups (KIP-932)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Native queue semantics arrived in Kafka 4.0</a:t>
            </a:r>
            <a:r>
              <a:rPr dirty="0"/>
              <a:t> as Share Groups (early access):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Consumer count is</a:t>
            </a:r>
            <a:r>
              <a:rPr b="1" dirty="0"/>
              <a:t> decoupled from partition count</a:t>
            </a:r>
            <a:r>
              <a:rPr dirty="0"/>
              <a:t> — scale workers past partitions</a:t>
            </a:r>
          </a:p>
          <a:p>
            <a:r>
              <a:rPr dirty="0"/>
              <a:t> Per-message ack/redelivery; tooling: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kafka</a:t>
            </a:r>
            <a:r>
              <a:rPr dirty="0">
                <a:latin typeface="Courier New"/>
              </a:rPr>
              <a:t>-console-share-</a:t>
            </a:r>
            <a:r>
              <a:rPr dirty="0" err="1">
                <a:latin typeface="Courier New"/>
              </a:rPr>
              <a:t>consumer.sh</a:t>
            </a:r>
            <a:r>
              <a:rPr dirty="0"/>
              <a:t> ,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kafka</a:t>
            </a:r>
            <a:r>
              <a:rPr dirty="0">
                <a:latin typeface="Courier New"/>
              </a:rPr>
              <a:t>-share-</a:t>
            </a:r>
            <a:r>
              <a:rPr dirty="0" err="1">
                <a:latin typeface="Courier New"/>
              </a:rPr>
              <a:t>groups.sh</a:t>
            </a:r>
            <a:endParaRPr dirty="0">
              <a:latin typeface="Courier New"/>
            </a:endParaRPr>
          </a:p>
          <a:p>
            <a:r>
              <a:rPr dirty="0"/>
              <a:t> Useful for: task queues, job distribution, worker pools — while keeping Kafka's durability and replay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2" y="2216149"/>
            <a:ext cx="8957553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Modernizing Legacy Event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b="1" dirty="0"/>
              <a:t> Strangler fig pattern:</a:t>
            </a:r>
            <a:r>
              <a:rPr dirty="0"/>
              <a:t> gradually replace legacy consumers. New services read from Kafka. Legacy producers keep sending to MQ. Bridge replicates to Kafka. No big-bang migration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49" y="1253331"/>
            <a:ext cx="8603147" cy="2273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Kafka — Amazon MSK Serverless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Best for: variable workloads, dev/test, new projects.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25" y="1405731"/>
            <a:ext cx="9142036" cy="30034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Kafka — Confluent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Consumption-based pricing on Basic/Standard tiers.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6889"/>
            <a:ext cx="9372600" cy="163684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Readiness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Before migrating to a managed/serverless offering:</a:t>
            </a:r>
          </a:p>
          <a:p>
            <a:r>
              <a:t> ☐ No broker-specific client assumptions</a:t>
            </a:r>
          </a:p>
          <a:p>
            <a:r>
              <a:t> ☐ Retries and idempotence enabled</a:t>
            </a:r>
          </a:p>
          <a:p>
            <a:r>
              <a:t> ☐ Topic and ACL provisioning scripted (not manual)</a:t>
            </a:r>
          </a:p>
          <a:p>
            <a:r>
              <a:t> ☐ Metrics exported externally (not broker shell scraping)</a:t>
            </a:r>
          </a:p>
          <a:p>
            <a:r>
              <a:t> ☐ Schema Registry usage standardized</a:t>
            </a:r>
          </a:p>
          <a:p>
            <a:r>
              <a:t> ☐ Cost model understood (traffic + retention pricing)</a:t>
            </a:r>
          </a:p>
          <a:p>
            <a:r>
              <a:t> ☐ No reliance on ZooKeeper or self-managed KRaft config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jakubzerdzicki-333491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0" y="5239766"/>
            <a:ext cx="4591812" cy="25836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of Event-Driven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Kafka + Iceberg</a:t>
            </a:r>
            <a:r>
              <a:t> — streaming-native data lakehouse (no ETL)</a:t>
            </a:r>
          </a:p>
          <a:p>
            <a:r>
              <a:rPr b="1"/>
              <a:t> Real-time AI agents</a:t>
            </a:r>
            <a:r>
              <a:t> — event-triggered autonomous agents responding to streams</a:t>
            </a:r>
          </a:p>
          <a:p>
            <a:r>
              <a:rPr b="1"/>
              <a:t> Unified batch/streaming</a:t>
            </a:r>
            <a:r>
              <a:t> — Apache Flink Table API, Spark Streaming convergence</a:t>
            </a:r>
          </a:p>
          <a:p>
            <a:r>
              <a:rPr b="1"/>
              <a:t> AI-native pipelines</a:t>
            </a:r>
            <a:r>
              <a:t> — embedding LLMs in stream processors</a:t>
            </a:r>
          </a:p>
          <a:p>
            <a:r>
              <a:rPr b="1"/>
              <a:t> Decentralized data mesh</a:t>
            </a:r>
            <a:r>
              <a:t> — Kafka as the event backbone of data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Upgrading Kafka in the KRaft 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Upgrades are where availability promises are tested. KRaft (Kafka 4, ZooKeeper-free)</a:t>
            </a:r>
            <a:r>
              <a:rPr b="1"/>
              <a:t> simplified the upgrade story</a:t>
            </a:r>
            <a:r>
              <a:t> — one system to upgrade, not two — but the discipline is unchanged:</a:t>
            </a:r>
            <a:r>
              <a:rPr b="1"/>
              <a:t> never lose the controller quorum, never drop a partition below</a:t>
            </a:r>
          </a:p>
          <a:p>
            <a:r>
              <a:t> What KRaft changed:</a:t>
            </a:r>
          </a:p>
          <a:p>
            <a:r>
              <a:rPr b="1"/>
              <a:t> No ZooKeeper</a:t>
            </a:r>
            <a:r>
              <a:t> — there is no separate ensemble to upgrade first; brokers and controllers are the whole system.</a:t>
            </a:r>
          </a:p>
          <a:p>
            <a:r>
              <a:rPr b="1"/>
              <a:t> Feature flags via</a:t>
            </a:r>
            <a:r>
              <a:t> — cluster capabilities are gated by a metadata level you raise</a:t>
            </a:r>
            <a:r>
              <a:rPr i="1"/>
              <a:t> after</a:t>
            </a:r>
            <a:r>
              <a:t> every node runs the new binary (the modern replacement for</a:t>
            </a:r>
            <a:r>
              <a:rPr>
                <a:latin typeface="Courier New"/>
              </a:rPr>
              <a:t> inter.broker.protocol.version</a:t>
            </a:r>
            <a:r>
              <a:t> , managed with</a:t>
            </a:r>
            <a:r>
              <a:rPr>
                <a:latin typeface="Courier New"/>
              </a:rPr>
              <a:t> kafka-features.sh</a:t>
            </a:r>
            <a:r>
              <a:t> ).</a:t>
            </a:r>
          </a:p>
          <a:p>
            <a:r>
              <a:rPr b="1"/>
              <a:t> Controllers roll like brokers</a:t>
            </a:r>
            <a:r>
              <a:t> — the KRaft controller quorum upgrades one node at a time, always preserving the majority.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Rolling Upgrade — The Safe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Upgrade</a:t>
            </a:r>
            <a:r>
              <a:rPr b="1"/>
              <a:t> one node at a time</a:t>
            </a:r>
            <a:r>
              <a:t> , and only advance when the cluster is fully healthy again:</a:t>
            </a:r>
          </a:p>
          <a:p>
            <a:r>
              <a:rPr b="1"/>
              <a:t> Roll the controllers first</a:t>
            </a:r>
            <a:r>
              <a:t> , one at a time — keep the quorum majority online throughout.</a:t>
            </a:r>
          </a:p>
          <a:p>
            <a:r>
              <a:t> For each</a:t>
            </a:r>
            <a:r>
              <a:rPr b="1"/>
              <a:t> broker</a:t>
            </a:r>
            <a:r>
              <a:t> : stop it, install the new binary, restart, then</a:t>
            </a:r>
            <a:r>
              <a:rPr b="1"/>
              <a:t> wait for</a:t>
            </a:r>
            <a:r>
              <a:t> and the ISR to fully re-expand before touching the next node.</a:t>
            </a:r>
          </a:p>
          <a:p>
            <a:r>
              <a:t> Once</a:t>
            </a:r>
            <a:r>
              <a:rPr b="1"/>
              <a:t> every</a:t>
            </a:r>
            <a:r>
              <a:t> node runs the new version,</a:t>
            </a:r>
            <a:r>
              <a:rPr b="1"/>
              <a:t> raise</a:t>
            </a:r>
            <a:r>
              <a:t> (</a:t>
            </a:r>
            <a:r>
              <a:rPr>
                <a:latin typeface="Courier New"/>
              </a:rPr>
              <a:t> kafka-features.sh upgrade</a:t>
            </a:r>
            <a:r>
              <a:t> ) to enable the new features — never before.</a:t>
            </a:r>
          </a:p>
          <a:p>
            <a:r>
              <a:t> Run a</a:t>
            </a:r>
            <a:r>
              <a:rPr b="1"/>
              <a:t> preferred-leader election</a:t>
            </a:r>
            <a:r>
              <a:t> afterward to rebalance leadership evenly across brokers.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Optimizing Upgrade Time &amp;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Faster and safer are</a:t>
            </a:r>
            <a:r>
              <a:rPr b="1"/>
              <a:t> not</a:t>
            </a:r>
            <a:r>
              <a:t> in tension — the same design gives you both:</a:t>
            </a:r>
          </a:p>
          <a:p>
            <a:r>
              <a:rPr b="1" i="1"/>
              <a:t> min.insync.replicas=2</a:t>
            </a:r>
          </a:p>
          <a:p>
            <a:r>
              <a:t> — a single broker down (the one being upgraded) still accepts writes, so the roll never blocks producers.</a:t>
            </a:r>
          </a:p>
          <a:p>
            <a:r>
              <a:rPr b="1"/>
              <a:t> RF ≥ 3</a:t>
            </a:r>
            <a:r>
              <a:t> — tolerate the upgrading broker being offline with room to spare.</a:t>
            </a:r>
          </a:p>
          <a:p>
            <a:r>
              <a:rPr b="1"/>
              <a:t> Watch three signals</a:t>
            </a:r>
            <a:r>
              <a:t> through the roll:</a:t>
            </a:r>
            <a:r>
              <a:rPr b="1"/>
              <a:t> URP</a:t>
            </a:r>
            <a:r>
              <a:t> (must return to 0 before the next node),</a:t>
            </a:r>
            <a:r>
              <a:rPr b="1"/>
              <a:t> consumer lag</a:t>
            </a:r>
            <a:r>
              <a:t> (should stay flat),</a:t>
            </a:r>
            <a:r>
              <a:rPr b="1"/>
              <a:t> request latency</a:t>
            </a:r>
            <a:r>
              <a:t> (brief blips are fine).</a:t>
            </a:r>
          </a:p>
          <a:p>
            <a:r>
              <a:rPr b="1"/>
              <a:t> Parallelize safely</a:t>
            </a:r>
            <a:r>
              <a:t> — brokers in different racks/AZs can roll a bit faster, but</a:t>
            </a:r>
            <a:r>
              <a:rPr b="1"/>
              <a:t> never two replicas of the same partition</a:t>
            </a:r>
            <a:r>
              <a:t> at once.</a:t>
            </a:r>
          </a:p>
          <a:p>
            <a:r>
              <a:rPr b="1"/>
              <a:t> Automate it</a:t>
            </a:r>
            <a:r>
              <a:t> — Strimzi (Kubernetes) and Cruise Control run the roll-and-wait loop for you, removing human error and cutting total upgrade time.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Multi-cluster federation via MirrorMaker 2 supports global, multi-cloud topologies</a:t>
            </a:r>
          </a:p>
          <a:p>
            <a:r>
              <a:t> Edge streaming: Kafka on Kubernetes (Strimzi) for IoT and factory use cases</a:t>
            </a:r>
          </a:p>
          <a:p>
            <a:r>
              <a:t> AI integration: streaming feature engineering + online inference pipelines</a:t>
            </a:r>
          </a:p>
          <a:p>
            <a:r>
              <a:t> Native queue semantics — Share Groups (KIP-932, Kafka 4) — enable Kafka as a traditional work queue, decoupled from partition count</a:t>
            </a:r>
          </a:p>
          <a:p>
            <a:r>
              <a:t> Serverless Kafka (MSK Serverless, Confluent Cloud) eliminates infrastructure management</a:t>
            </a:r>
          </a:p>
          <a:p>
            <a:r>
              <a:t> Modernizing legacy: strangler fig pattern with bridge connectors</a:t>
            </a:r>
          </a:p>
          <a:p>
            <a:r>
              <a:t> KRaft-era upgrades roll one node at a time, waiting for URP=0;</a:t>
            </a:r>
            <a:r>
              <a:rPr>
                <a:latin typeface="Courier New"/>
              </a:rPr>
              <a:t> min.insync.replicas</a:t>
            </a:r>
            <a:r>
              <a:t> +</a:t>
            </a:r>
            <a:r>
              <a:rPr>
                <a:latin typeface="Courier New"/>
              </a:rPr>
              <a:t> acks=all</a:t>
            </a:r>
            <a:r>
              <a:t> keep it zero-downtime</a:t>
            </a:r>
          </a:p>
          <a:p>
            <a:r>
              <a:t> Future: Kafka + Iceberg, AI-native pipelines, data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7 — High-Volume Fan-Out Best Practices</a:t>
            </a:r>
          </a:p>
          <a:p>
            <a:r>
              <a:t> Topic layout strategies for 10M msg/sec with 10 overlapping consumers</a:t>
            </a:r>
          </a:p>
          <a:p>
            <a:r>
              <a:t> Header-based filtering</a:t>
            </a:r>
          </a:p>
          <a:p>
            <a:r>
              <a:t> Kafka Streams branching</a:t>
            </a:r>
          </a:p>
          <a:p>
            <a:r>
              <a:t> KEDA autoscaling tied to consumer 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Review Emerging Architecture Patterns</a:t>
            </a:r>
          </a:p>
          <a:p>
            <a:r>
              <a:t> You will:</a:t>
            </a:r>
          </a:p>
          <a:p>
            <a:r>
              <a:t> Build a lightweight edge-to-core event pipeline with filtering</a:t>
            </a:r>
          </a:p>
          <a:p>
            <a:r>
              <a:t> Implement a real-time feature enrichment stage</a:t>
            </a:r>
          </a:p>
          <a:p>
            <a:r>
              <a:t> Integrate a mock inference service with Kafka events</a:t>
            </a:r>
          </a:p>
          <a:p>
            <a:r>
              <a:t> Demonstrate queue-style work distribution</a:t>
            </a:r>
          </a:p>
          <a:p>
            <a:r>
              <a:t> Assess a pipeline's serverless readiness</a:t>
            </a:r>
          </a:p>
          <a:p>
            <a:r>
              <a:t> Environment: Docker Compose (Kafka, Python, Flask mock model) Time: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378296</TotalTime>
  <Words>1853</Words>
  <Application>Microsoft Macintosh PowerPoint</Application>
  <PresentationFormat>Custom</PresentationFormat>
  <Paragraphs>211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Module 6 — Modern Kafka &amp; Streaming Trends</vt:lpstr>
      <vt:lpstr>Module 6 Agenda</vt:lpstr>
      <vt:lpstr>Where Kafka Is Going</vt:lpstr>
      <vt:lpstr>Trends: Ready Now vs Emerging vs Horizon</vt:lpstr>
      <vt:lpstr>Multi-Cluster Federation</vt:lpstr>
      <vt:lpstr>Federation Patterns</vt:lpstr>
      <vt:lpstr>Kafka at the Edge</vt:lpstr>
      <vt:lpstr>IoT Streaming Architecture</vt:lpstr>
      <vt:lpstr>AI-Driven Event Processing</vt:lpstr>
      <vt:lpstr>Streaming ML Inference: Two Patterns</vt:lpstr>
      <vt:lpstr>Kafka Queues — Share Groups (KIP-932)</vt:lpstr>
      <vt:lpstr>Modernizing Legacy Event Processing</vt:lpstr>
      <vt:lpstr>Serverless Kafka — Amazon MSK Serverless</vt:lpstr>
      <vt:lpstr>Serverless Kafka — Confluent Cloud</vt:lpstr>
      <vt:lpstr>Serverless Readiness Checklist</vt:lpstr>
      <vt:lpstr>The Future of Event-Driven Architecture</vt:lpstr>
      <vt:lpstr>Upgrading Kafka in the KRaft Era</vt:lpstr>
      <vt:lpstr>Rolling Upgrade — The Safe Procedure</vt:lpstr>
      <vt:lpstr>Optimizing Upgrade Time &amp; Availability</vt:lpstr>
      <vt:lpstr>Module 6 Summary</vt:lpstr>
      <vt:lpstr>What's Next</vt:lpstr>
      <vt:lpstr>Lab Preview — Lab 6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2026-07-07T23:04:23Z</dcterms:modified>
</cp:coreProperties>
</file>