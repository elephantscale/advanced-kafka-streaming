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2"/>
  </p:notesMasterIdLst>
  <p:handoutMasterIdLst>
    <p:handoutMasterId r:id="rId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69" autoAdjust="0"/>
    <p:restoredTop sz="86012" autoAdjust="0"/>
  </p:normalViewPr>
  <p:slideViewPr>
    <p:cSldViewPr>
      <p:cViewPr varScale="1">
        <p:scale>
          <a:sx n="82" d="100"/>
          <a:sy n="82" d="100"/>
        </p:scale>
        <p:origin x="2920" y="176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200" b="1" i="0">
                <a:latin typeface="Times New Roman"/>
              </a:rPr>
              <a:t>Module 4 — Connectors, Pipelines &amp; Integrations</a:t>
            </a:r>
            <a:endParaRPr sz="4200" b="1" i="0">
              <a:latin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4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Why Kafka Connect exists</a:t>
            </a:r>
          </a:p>
          <a:p>
            <a:r>
              <a:t> Connect architecture and internal topics</a:t>
            </a:r>
          </a:p>
          <a:p>
            <a:r>
              <a:t> Source connectors, sink connectors, offset management</a:t>
            </a:r>
          </a:p>
          <a:p>
            <a:r>
              <a:t> Error handling, retries, and Dead Letter Queues</a:t>
            </a:r>
          </a:p>
          <a:p>
            <a:r>
              <a:t> Custom connector development</a:t>
            </a:r>
          </a:p>
          <a:p>
            <a:r>
              <a:t> Integration patterns: S3, Elasticsearch, Flink, Spark, Iceberg/lakehouse</a:t>
            </a:r>
          </a:p>
          <a:p>
            <a:r>
              <a:t> Stream-to-batch handoff and the lakehouse path</a:t>
            </a:r>
          </a:p>
          <a:p>
            <a:r>
              <a:t> Backpressure management</a:t>
            </a:r>
          </a:p>
          <a:p>
            <a:r>
              <a:t> Enterprise integration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Kafka Connect?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Moving data between systems is</a:t>
            </a:r>
            <a:r>
              <a:rPr b="1"/>
              <a:t> the hardest part of streaming</a:t>
            </a:r>
            <a:r>
              <a:t> .</a:t>
            </a:r>
          </a:p>
          <a:p>
            <a:r>
              <a:t> Without Kafka Connect:</a:t>
            </a:r>
          </a:p>
          <a:p>
            <a:r>
              <a:t> Custom code for every integration</a:t>
            </a:r>
          </a:p>
          <a:p>
            <a:r>
              <a:t> Reinventing offset management, error handling, restarts</a:t>
            </a:r>
          </a:p>
          <a:p>
            <a:r>
              <a:t> No standard for connector configuration or monitoring</a:t>
            </a:r>
          </a:p>
          <a:p>
            <a:r>
              <a:t> With Kafka Connect:</a:t>
            </a:r>
          </a:p>
          <a:p>
            <a:r>
              <a:t> 700+ production-ready connectors</a:t>
            </a:r>
          </a:p>
          <a:p>
            <a:r>
              <a:t> Built-in offset management and exactly-once delivery (Kafka 3.3+)</a:t>
            </a:r>
          </a:p>
          <a:p>
            <a:r>
              <a:t> REST API for deployment and monitoring</a:t>
            </a:r>
          </a:p>
          <a:p>
            <a:r>
              <a:t> Horizontal scaling via connector tasks</a:t>
            </a:r>
          </a:p>
          <a:p>
            <a:r>
              <a:t> Schema Registry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Kafka Connect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>
            <a:r>
              <a:t> Workers are</a:t>
            </a:r>
            <a:r>
              <a:rPr b="1"/>
              <a:t> stateless</a:t>
            </a:r>
            <a:r>
              <a:t> — all state is stored in Kafka internal topics.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11226800" cy="2654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Connect Internal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>
            <a:r>
              <a:t> Benefits:</a:t>
            </a:r>
          </a:p>
          <a:p>
            <a:r>
              <a:t> Workers are completely stateless — any worker can pick up any task</a:t>
            </a:r>
          </a:p>
          <a:p>
            <a:r>
              <a:t> Full state survives cluster restarts and worker failures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/>
                <a:gridCol w="4457700"/>
              </a:tblGrid>
              <a:tr h="457200">
                <a:tc>
                  <a:txBody>
                    <a:bodyPr/>
                    <a:lstStyle/>
                    <a:p>
                      <a:r>
                        <a:t>Topic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Purpose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connect-configs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Connector and task configurations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connect-offsets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Source connector read positions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connect-status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Connector and task status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 Connector — JDBC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11531600" cy="4521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Sink Connector — S3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8915400" cy="249060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Offset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Source connectors store their read position in</a:t>
            </a:r>
            <a:r>
              <a:rPr>
                <a:latin typeface="Courier New"/>
              </a:rPr>
              <a:t> connect-offsets</a:t>
            </a:r>
            <a:r>
              <a:t> :</a:t>
            </a:r>
          </a:p>
          <a:p/>
          <a:p>
            <a:r>
              <a:t> On restart: connector</a:t>
            </a:r>
            <a:r>
              <a:rPr b="1"/>
              <a:t> resumes from last stored offset</a:t>
            </a:r>
            <a:r>
              <a:t> — no duplicates, no data loss.</a:t>
            </a:r>
          </a:p>
          <a:p>
            <a:r>
              <a:t> For</a:t>
            </a:r>
            <a:r>
              <a:rPr b="1"/>
              <a:t> exactly-once</a:t>
            </a:r>
            <a:r>
              <a:t> source connectors (GA since Kafka 3.3, standard in Kafka 4):</a:t>
            </a:r>
          </a:p>
          <a:p>
            <a:r>
              <a:t> Offsets are committed atomically with the Kafka produce transaction</a:t>
            </a:r>
          </a:p>
          <a:p>
            <a:r>
              <a:t> No duplicates even on connector worker failure</a:t>
            </a:r>
          </a:p>
          <a:p>
            <a:r>
              <a:t> Enable with</a:t>
            </a:r>
            <a:r>
              <a:rPr>
                <a:latin typeface="Courier New"/>
              </a:rPr>
              <a:t> exactly.once.source.support=enabled</a:t>
            </a:r>
            <a:r>
              <a:t> on the Connect worker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8915400" cy="5781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Error Handling and Dead Letter Queues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>
            <a:r>
              <a:t> Failed records go to the DLQ with error headers:</a:t>
            </a:r>
          </a:p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9093200" cy="2387600"/>
          </a:xfrm>
          <a:prstGeom prst="rect">
            <a:avLst/>
          </a:prstGeom>
        </p:spPr>
      </p:pic>
      <p:pic>
        <p:nvPicPr>
          <p:cNvPr id="6" name="Picture 5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70048"/>
            <a:ext cx="8483600" cy="1054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Retry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>
            <a:r>
              <a:rPr b="1"/>
              <a:t> Transient failures</a:t>
            </a:r>
            <a:r>
              <a:t> (network timeouts, unavailability) → retry with exponential backoff</a:t>
            </a:r>
          </a:p>
          <a:p>
            <a:r>
              <a:rPr b="1"/>
              <a:t> Persistent failures</a:t>
            </a:r>
            <a:r>
              <a:t> (schema mismatch, corrupt records) → send to DLQ immediately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6502400" cy="1854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Kafka ↔ Flink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Flink natively reads from and writes to Kafka:</a:t>
            </a:r>
          </a:p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11696700" cy="3454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Kafka ↔ Spark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8915400" cy="327880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Stream-to-Batch Handoff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>
            <a:r>
              <a:rPr b="1"/>
              <a:t> Lambda architecture</a:t>
            </a:r>
            <a:r>
              <a:t> — dual path (real-time + batch), merge results</a:t>
            </a:r>
          </a:p>
          <a:p>
            <a:r>
              <a:rPr b="1"/>
              <a:t> Kappa architecture</a:t>
            </a:r>
            <a:r>
              <a:t> — single Kafka path, replay for batch (preferred when retention allows)</a:t>
            </a:r>
          </a:p>
          <a:p>
            <a:r>
              <a:rPr b="1"/>
              <a:t> Modern lakehouse path (2026):</a:t>
            </a:r>
            <a:r>
              <a:t> instead of landing raw files, sink directly to</a:t>
            </a:r>
            <a:r>
              <a:rPr b="1"/>
              <a:t> Apache Iceberg</a:t>
            </a:r>
            <a:r>
              <a:t> tables — via the Iceberg Sink Connector, or Confluent</a:t>
            </a:r>
            <a:r>
              <a:rPr b="1"/>
              <a:t> Tableflow</a:t>
            </a:r>
            <a:r>
              <a:t> (Kafka topics materialized as Iceberg/Delta tables). Query from Spark, Flink, Trino, or</a:t>
            </a:r>
            <a:r>
              <a:t> Athena with no separate ETL job. Pairs naturally with Tiered Storage.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10160000" cy="21209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Backpressure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When consumers fall behind producers:</a:t>
            </a:r>
          </a:p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1353312"/>
          <a:ext cx="8915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/>
                <a:gridCol w="4457700"/>
              </a:tblGrid>
              <a:tr h="457200">
                <a:tc>
                  <a:txBody>
                    <a:bodyPr/>
                    <a:lstStyle/>
                    <a:p>
                      <a:r>
                        <a:t>Root Cause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Fix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Too few connector tasks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Increase `tasks.max`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Slow sink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Circuit breaker, async writes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Producer burst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Separate high/low-priority topics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Consumer processing slow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Scale consumer instances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 Integration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Outbox Pattern</a:t>
            </a:r>
            <a:r>
              <a:t> — eliminates dual-write risk:</a:t>
            </a:r>
          </a:p>
          <a:p/>
          <a:p>
            <a:r>
              <a:rPr b="1"/>
              <a:t> Saga</a:t>
            </a:r>
            <a:r>
              <a:t> — distributed transaction coordination via events:</a:t>
            </a:r>
          </a:p>
          <a:p/>
          <a:p>
            <a:r>
              <a:rPr b="1"/>
              <a:t> Event-Carried State Transfer</a:t>
            </a:r>
            <a:r>
              <a:t> — embed full state in the event (avoid lookups):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10312400" cy="520700"/>
          </a:xfrm>
          <a:prstGeom prst="rect">
            <a:avLst/>
          </a:prstGeom>
        </p:spPr>
      </p:pic>
      <p:pic>
        <p:nvPicPr>
          <p:cNvPr id="6" name="Picture 5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31136"/>
            <a:ext cx="10769600" cy="520700"/>
          </a:xfrm>
          <a:prstGeom prst="rect">
            <a:avLst/>
          </a:prstGeom>
        </p:spPr>
      </p:pic>
      <p:pic>
        <p:nvPicPr>
          <p:cNvPr id="7" name="Picture 6" descr="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108960"/>
            <a:ext cx="10922000" cy="5207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4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Kafka Connect provides 700+ connectors with built-in offset management</a:t>
            </a:r>
          </a:p>
          <a:p>
            <a:r>
              <a:t> Internal topics make workers completely stateless and fault-tolerant</a:t>
            </a:r>
          </a:p>
          <a:p>
            <a:r>
              <a:t> Configure</a:t>
            </a:r>
            <a:r>
              <a:rPr>
                <a:latin typeface="Courier New"/>
              </a:rPr>
              <a:t> errors.tolerance</a:t>
            </a:r>
            <a:r>
              <a:t> , retries, and DLQ for production resilience</a:t>
            </a:r>
          </a:p>
          <a:p>
            <a:r>
              <a:t> Flink and Spark both have mature native Kafka integrations</a:t>
            </a:r>
          </a:p>
          <a:p>
            <a:r>
              <a:t> Stream-to-batch: S3 sink + Kappa architecture, increasingly going straight to an Iceberg lakehouse (Tableflow)</a:t>
            </a:r>
          </a:p>
          <a:p>
            <a:r>
              <a:t> Enterprise patterns: outbox, saga, event-carried state transfer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What's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Module 5 — Reliability, Scaling &amp; Performance</a:t>
            </a:r>
          </a:p>
          <a:p>
            <a:r>
              <a:t> Capacity planning and right-sizing</a:t>
            </a:r>
          </a:p>
          <a:p>
            <a:r>
              <a:t> Expanding Kafka with no data loss</a:t>
            </a:r>
          </a:p>
          <a:p>
            <a:r>
              <a:t> HA and performance tuning: replication, acks, consumer lag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Preview — Lab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Deploy and Tune Source and Sink Connectors</a:t>
            </a:r>
          </a:p>
          <a:p>
            <a:r>
              <a:t> You will:</a:t>
            </a:r>
          </a:p>
          <a:p>
            <a:r>
              <a:t> Deploy a JDBC source connector reading from PostgreSQL</a:t>
            </a:r>
          </a:p>
          <a:p>
            <a:r>
              <a:t> Deploy an S3/MinIO sink connector writing time-partitioned files</a:t>
            </a:r>
          </a:p>
          <a:p>
            <a:r>
              <a:t> Inject bad records and observe Dead Letter Queue behavior</a:t>
            </a:r>
          </a:p>
          <a:p>
            <a:r>
              <a:t> Pause, insert rows, resume — verify offset tracking</a:t>
            </a:r>
          </a:p>
          <a:p>
            <a:r>
              <a:t> Discuss task scaling limits for JDBC vs file connectors</a:t>
            </a:r>
          </a:p>
          <a:p>
            <a:r>
              <a:t> Environment: Docker Compose (Kafka, PostgreSQL, MinIO, Kafka Connect)</a:t>
            </a:r>
            <a:r>
              <a:t> Time: 60–75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378292</TotalTime>
  <Words>0</Words>
  <Application>Microsoft Macintosh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9" baseType="lpstr">
      <vt:lpstr>ＭＳ Ｐゴシック</vt:lpstr>
      <vt:lpstr>Arial</vt:lpstr>
      <vt:lpstr>Arial Bold</vt:lpstr>
      <vt:lpstr>Garamond</vt:lpstr>
      <vt:lpstr>Monotype Sorts</vt:lpstr>
      <vt:lpstr>Times New Roman</vt:lpstr>
      <vt:lpstr>Verdana</vt:lpstr>
      <vt:lpstr>Wingdings</vt:lpstr>
      <vt:lpstr>LPc_New</vt:lpstr>
    </vt:vector>
  </TitlesOfParts>
  <Company>Elephant Scale LLC &amp; LearningPatterns Inc.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fateme</cp:lastModifiedBy>
  <cp:revision>4135</cp:revision>
  <cp:lastPrinted>2010-01-03T02:41:41Z</cp:lastPrinted>
  <dcterms:created xsi:type="dcterms:W3CDTF">2010-07-13T15:22:01Z</dcterms:created>
  <dcterms:modified xsi:type="dcterms:W3CDTF">2019-10-02T11:26:38Z</dcterms:modified>
</cp:coreProperties>
</file>