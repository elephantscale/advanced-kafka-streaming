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3 — Kafka Operations &amp; Observability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four observability signals for Kafka</a:t>
            </a:r>
          </a:p>
          <a:p>
            <a:r>
              <a:t> Critical broker, producer, and consumer metrics</a:t>
            </a:r>
          </a:p>
          <a:p>
            <a:r>
              <a:t> Monitoring and tooling stack: Prometheus, Grafana, Kafka UI, Kafdrop, Confluent Control Center</a:t>
            </a:r>
          </a:p>
          <a:p>
            <a:r>
              <a:t> Operational procedures: topic management, consumer group management, security operations</a:t>
            </a:r>
          </a:p>
          <a:p>
            <a:r>
              <a:t> Incident triage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Four Observability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Latency</a:t>
            </a:r>
            <a:r>
              <a:t> — end-to-end produce/consume latency</a:t>
            </a:r>
          </a:p>
          <a:p>
            <a:r>
              <a:rPr b="1"/>
              <a:t> Traffic</a:t>
            </a:r>
            <a:r>
              <a:t> — messages/sec, bytes/sec per topic and partition</a:t>
            </a:r>
          </a:p>
          <a:p>
            <a:r>
              <a:rPr b="1"/>
              <a:t> Errors</a:t>
            </a:r>
            <a:r>
              <a:t> — failed produce requests, consumer errors, ISR shrinks</a:t>
            </a:r>
          </a:p>
          <a:p>
            <a:r>
              <a:rPr b="1"/>
              <a:t> Saturation</a:t>
            </a:r>
            <a:r>
              <a:t> — disk usage, network, CPU, consumer lag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Metrics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8072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Broker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Alert Threshold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Under-replicated partitions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0 (page immediately)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Active controller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!= 1 (page immediately)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Request handler idle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30% (warning)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Network processor idle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30% (warning)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Log flush latency 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500ms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Bytes in/out per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80% NIC capacity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ISR shrink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any non-zero sustained rate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Consumer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Alert When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Consumer 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SLA threshold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records-consumed-rate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drops unexpectedly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fetch-latency-avg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→ broker issue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rebalance-rate-and-time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frequent → instability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assigned-partitions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imbalanced across consumers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Tooling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 For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Prometheus + Grafana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Broker and consumer dashboards, alerting, lag thresholds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Kafka UI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Topic management, consumer group operations, visual inspection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Kafdrop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Lightweight quick inspection of topic contents and consumer state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Confluent Control Center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Commercial option — enterprise observability with schema/connector visibility (not in this course's lab stack)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Prometheus Alerting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Tier 1 — Page immediately:</a:t>
            </a:r>
          </a:p>
          <a:p>
            <a:r>
              <a:rPr>
                <a:latin typeface="Courier New"/>
              </a:rPr>
              <a:t> UnderReplicatedPartitions &gt; 0</a:t>
            </a:r>
            <a:r>
              <a:t> for &gt; 2 minutes</a:t>
            </a:r>
          </a:p>
          <a:p>
            <a:r>
              <a:rPr>
                <a:latin typeface="Courier New"/>
              </a:rPr>
              <a:t> ActiveControllerCount != 1</a:t>
            </a:r>
          </a:p>
          <a:p>
            <a:r>
              <a:t> Broker down (not restarting)</a:t>
            </a:r>
          </a:p>
          <a:p>
            <a:r>
              <a:t> Disk &gt; 90% on any broker</a:t>
            </a:r>
          </a:p>
          <a:p>
            <a:r>
              <a:rPr b="1"/>
              <a:t> Tier 2 — Notify (Slack/email):</a:t>
            </a:r>
          </a:p>
          <a:p>
            <a:r>
              <a:t> Consumer lag above SLA threshold</a:t>
            </a:r>
          </a:p>
          <a:p>
            <a:r>
              <a:t> Producer error rate &gt; 0</a:t>
            </a:r>
          </a:p>
          <a:p>
            <a:r>
              <a:t> Request handler idle &lt; 30%</a:t>
            </a:r>
          </a:p>
          <a:p>
            <a:r>
              <a:rPr b="1"/>
              <a:t> Tier 3 — Track in dashboard:</a:t>
            </a:r>
          </a:p>
          <a:p>
            <a:r>
              <a:t> Compression ratios, batch sizes, rebalance frequency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Operational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Alter retention on a live topic:</a:t>
            </a:r>
          </a:p>
          <a:p/>
          <a:p/>
          <a:p>
            <a:r>
              <a:rPr b="1"/>
              <a:t> Trigger log compaction:</a:t>
            </a:r>
          </a:p>
          <a:p/>
          <a:p/>
          <a:p>
            <a:r>
              <a:rPr b="1"/>
              <a:t> Inspect topic config: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788400" cy="10541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0048"/>
            <a:ext cx="9855200" cy="10541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86783"/>
            <a:ext cx="89408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Group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Check lag across all groups:</a:t>
            </a:r>
          </a:p>
          <a:p/>
          <a:p>
            <a:r>
              <a:rPr b="1"/>
              <a:t> Reset offsets to earliest:</a:t>
            </a:r>
          </a:p>
          <a:p/>
          <a:p/>
          <a:p>
            <a:r>
              <a:rPr b="1"/>
              <a:t> Detect stuck consumers:</a:t>
            </a:r>
          </a:p>
          <a:p>
            <a:r>
              <a:t> Lag grows but</a:t>
            </a:r>
            <a:r>
              <a:rPr>
                <a:latin typeface="Courier New"/>
              </a:rPr>
              <a:t> records-consumed-rate</a:t>
            </a:r>
            <a:r>
              <a:t> is non-zero → slow processing</a:t>
            </a:r>
          </a:p>
          <a:p>
            <a:r>
              <a:t> Lag grows and</a:t>
            </a:r>
            <a:r>
              <a:rPr>
                <a:latin typeface="Courier New"/>
              </a:rPr>
              <a:t> records-consumed-rate</a:t>
            </a:r>
            <a:r>
              <a:t> is zero → consumer stuck or stopped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9245600" cy="7874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1136"/>
            <a:ext cx="92456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TLS certificate rotation:</a:t>
            </a:r>
          </a:p>
          <a:p>
            <a:r>
              <a:t> Generate new keystores before expiry</a:t>
            </a:r>
          </a:p>
          <a:p>
            <a:r>
              <a:t> Rolling restart one broker at a time</a:t>
            </a:r>
          </a:p>
          <a:p>
            <a:r>
              <a:t> Verify listeners are up before continuing</a:t>
            </a:r>
          </a:p>
          <a:p>
            <a:r>
              <a:rPr b="1"/>
              <a:t> SASL credential rotation:</a:t>
            </a:r>
          </a:p>
          <a:p/>
          <a:p/>
          <a:p>
            <a:r>
              <a:rPr b="1"/>
              <a:t> Audit logging:</a:t>
            </a:r>
          </a:p>
          <a:p>
            <a:r>
              <a:t> Raise the</a:t>
            </a:r>
            <a:r>
              <a:rPr>
                <a:latin typeface="Courier New"/>
              </a:rPr>
              <a:t> kafka.authorizer.logger</a:t>
            </a:r>
            <a:r>
              <a:t> level in the broker logging config</a:t>
            </a:r>
          </a:p>
          <a:p>
            <a:r>
              <a:t> Note: Kafka 4 moved from Log4j 1.x to</a:t>
            </a:r>
            <a:r>
              <a:rPr b="1"/>
              <a:t> Log4j2</a:t>
            </a:r>
            <a:r>
              <a:t> — configure this in</a:t>
            </a:r>
            <a:r>
              <a:rPr>
                <a:latin typeface="Courier New"/>
              </a:rPr>
              <a:t> log4j2.yaml</a:t>
            </a:r>
            <a:r>
              <a:t> , not the old</a:t>
            </a:r>
            <a:r>
              <a:rPr>
                <a:latin typeface="Courier New"/>
              </a:rPr>
              <a:t> log4j.properties</a:t>
            </a:r>
            <a:r>
              <a:t> format</a:t>
            </a:r>
          </a:p>
          <a:p>
            <a:r>
              <a:t> Route authorizer logs to a dedicated topic/SIEM for compliance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112268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Triage Runbook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Apply this 6-step process to every production incident:</a:t>
            </a:r>
          </a:p>
          <a:p>
            <a:r>
              <a:rPr b="1"/>
              <a:t> Scope</a:t>
            </a:r>
            <a:r>
              <a:t> — one topic? one consumer group? entire cluster?</a:t>
            </a:r>
          </a:p>
          <a:p>
            <a:r>
              <a:rPr b="1"/>
              <a:t> Control plane</a:t>
            </a:r>
            <a:r>
              <a:t> —</a:t>
            </a:r>
            <a:r>
              <a:rPr>
                <a:latin typeface="Courier New"/>
              </a:rPr>
              <a:t> ActiveControllerCount</a:t>
            </a:r>
            <a:r>
              <a:t> must be exactly 1</a:t>
            </a:r>
          </a:p>
          <a:p>
            <a:r>
              <a:rPr b="1"/>
              <a:t> Durability</a:t>
            </a:r>
            <a:r>
              <a:t> — check</a:t>
            </a:r>
            <a:r>
              <a:rPr>
                <a:latin typeface="Courier New"/>
              </a:rPr>
              <a:t> UnderReplicatedPartitions</a:t>
            </a:r>
            <a:r>
              <a:t> and ISR state</a:t>
            </a:r>
          </a:p>
          <a:p>
            <a:r>
              <a:rPr b="1"/>
              <a:t> Consumer impact</a:t>
            </a:r>
            <a:r>
              <a:t> — is lag growing or stable?</a:t>
            </a:r>
          </a:p>
          <a:p>
            <a:r>
              <a:rPr b="1"/>
              <a:t> Mitigation</a:t>
            </a:r>
            <a:r>
              <a:t> — one safe, reversible action</a:t>
            </a:r>
          </a:p>
          <a:p>
            <a:r>
              <a:rPr b="1"/>
              <a:t> Recovery</a:t>
            </a:r>
            <a:r>
              <a:t> — verify the signal clears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— Under-Replicated Partitions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Symptom:</a:t>
            </a:r>
            <a:r>
              <a:t> </a:t>
            </a:r>
            <a:r>
              <a:rPr>
                <a:latin typeface="Courier New"/>
              </a:rPr>
              <a:t> UnderReplicatedPartitions &gt; 0</a:t>
            </a:r>
          </a:p>
          <a:p>
            <a:r>
              <a:rPr b="1"/>
              <a:t> Causes:</a:t>
            </a:r>
            <a:r>
              <a:t> broker failure, network partition, disk full on follower, follower behind on load</a:t>
            </a:r>
          </a:p>
          <a:p>
            <a:r>
              <a:rPr b="1"/>
              <a:t> Investigation: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87884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— Consumer Lag Spikes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Investigation checklist:</a:t>
            </a:r>
          </a:p>
          <a:p>
            <a:r>
              <a:t> Are all consumer instances running?</a:t>
            </a:r>
          </a:p>
          <a:p>
            <a:r>
              <a:t> Did processing time increase (slow 3rd-party call)?</a:t>
            </a:r>
          </a:p>
          <a:p>
            <a:r>
              <a:t> Did producer throughput spike?</a:t>
            </a:r>
          </a:p>
          <a:p>
            <a:r>
              <a:t> Did a rebalance occur (consumer instance died)?</a:t>
            </a:r>
          </a:p>
          <a:p>
            <a:r>
              <a:t> Is the consumer JVM GC-ing heavily?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7872"/>
            <a:ext cx="63500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— Disk Saturation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Immediate actions:</a:t>
            </a:r>
          </a:p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95504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Monitor four signals: latency, traffic, errors, saturation</a:t>
            </a:r>
          </a:p>
          <a:p>
            <a:r>
              <a:t> Critical alert:</a:t>
            </a:r>
            <a:r>
              <a:rPr>
                <a:latin typeface="Courier New"/>
              </a:rPr>
              <a:t> UnderReplicatedPartitions &gt; 0</a:t>
            </a:r>
            <a:r>
              <a:t> ,</a:t>
            </a:r>
            <a:r>
              <a:rPr>
                <a:latin typeface="Courier New"/>
              </a:rPr>
              <a:t> ActiveControllerCount != 1</a:t>
            </a:r>
          </a:p>
          <a:p>
            <a:r>
              <a:t> Use Prometheus + Grafana for metrics; Kafka UI or Kafdrop for operational inspection</a:t>
            </a:r>
          </a:p>
          <a:p>
            <a:r>
              <a:t> Topic management: alter retention and compaction settings on live topics</a:t>
            </a:r>
          </a:p>
          <a:p>
            <a:r>
              <a:t> Consumer group management: describe, reset offsets, detect stuck consumers</a:t>
            </a:r>
          </a:p>
          <a:p>
            <a:r>
              <a:t> Security operations: certificate rotation, SASL credential management, audit logging</a:t>
            </a:r>
          </a:p>
          <a:p>
            <a:r>
              <a:t> Use a structured 6-step runbook for every production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4 — Connectors, Pipelines &amp; Integrations</a:t>
            </a:r>
          </a:p>
          <a:p>
            <a:r>
              <a:t> Kafka Connect deep dive: source, sink, offset management, DLQ</a:t>
            </a:r>
          </a:p>
          <a:p>
            <a:r>
              <a:t> Integration patterns: S3, Elasticsearch, Flink, Spark, Iceberg/lakehouse</a:t>
            </a:r>
          </a:p>
          <a:p>
            <a:r>
              <a:t> Enterprise integration patterns and backpressure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Diagnose Kafka Health Using Monitoring Dashboards and Operational Runbooks</a:t>
            </a:r>
          </a:p>
          <a:p>
            <a:r>
              <a:t> You will:</a:t>
            </a:r>
          </a:p>
          <a:p>
            <a:r>
              <a:t> Verify Prometheus metric scraping and Grafana dashboards</a:t>
            </a:r>
          </a:p>
          <a:p>
            <a:r>
              <a:t> Produce consumer lag and apply the triage runbook</a:t>
            </a:r>
          </a:p>
          <a:p>
            <a:r>
              <a:t> Alter topic retention and reset consumer group offsets</a:t>
            </a:r>
          </a:p>
          <a:p>
            <a:r>
              <a:t> Simulate under-replicated partitions (broker kill) and verify recovery</a:t>
            </a:r>
          </a:p>
          <a:p>
            <a:r>
              <a:t> Test Prometheus alert expressions</a:t>
            </a:r>
          </a:p>
          <a:p>
            <a:r>
              <a:t> Environment: Docker Compose (3-broker Kafka, Prometheus, Grafana, Kafdrop)</a:t>
            </a:r>
            <a:r>
              <a:t> Time: 60–75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