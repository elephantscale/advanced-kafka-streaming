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51" r:id="rId1"/>
  </p:sldMasterIdLst>
  <p:notesMasterIdLst>
    <p:notesMasterId r:id="rId2"/>
  </p:notesMasterIdLst>
  <p:handoutMasterIdLst>
    <p:handoutMasterId r:id="rId3"/>
  </p:handout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  <p:sldId id="274" r:id="rId27"/>
    <p:sldId id="275" r:id="rId28"/>
    <p:sldId id="276" r:id="rId29"/>
    <p:sldId id="277" r:id="rId30"/>
  </p:sldIdLst>
  <p:sldSz cx="9372600" cy="8297863"/>
  <p:notesSz cx="7315200" cy="96012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1pPr>
    <a:lvl2pPr marL="457200"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2pPr>
    <a:lvl3pPr marL="914400"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3pPr>
    <a:lvl4pPr marL="1371600"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4pPr>
    <a:lvl5pPr marL="1828800"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5pPr>
    <a:lvl6pPr marL="2286000" algn="l" defTabSz="914400" rtl="0" eaLnBrk="1" latinLnBrk="0" hangingPunct="1"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6pPr>
    <a:lvl7pPr marL="2743200" algn="l" defTabSz="914400" rtl="0" eaLnBrk="1" latinLnBrk="0" hangingPunct="1"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7pPr>
    <a:lvl8pPr marL="3200400" algn="l" defTabSz="914400" rtl="0" eaLnBrk="1" latinLnBrk="0" hangingPunct="1"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8pPr>
    <a:lvl9pPr marL="3657600" algn="l" defTabSz="914400" rtl="0" eaLnBrk="1" latinLnBrk="0" hangingPunct="1"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9pPr>
  </p:defaultTextStyle>
  <p:extLst>
    <p:ext uri="{EFAFB233-063F-42B5-8137-9DF3F51BA10A}">
      <p15:sldGuideLst xmlns:p15="http://schemas.microsoft.com/office/powerpoint/2012/main">
        <p15:guide id="1" orient="horz" pos="2614" userDrawn="1">
          <p15:clr>
            <a:srgbClr val="A4A3A4"/>
          </p15:clr>
        </p15:guide>
        <p15:guide id="2" pos="295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24">
          <p15:clr>
            <a:srgbClr val="A4A3A4"/>
          </p15:clr>
        </p15:guide>
        <p15:guide id="2" pos="2308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ary Conlee" initials="MC" lastIdx="1" clrIdx="0"/>
  <p:cmAuthor id="2" name="Mark Kerzner" initials="MK" lastIdx="6" clrIdx="1"/>
  <p:cmAuthor id="3" name="Mary Beth Conlee" initials="MBC" lastIdx="7" clrIdx="2"/>
  <p:cmAuthor id="4" name="Michelle" initials="M" lastIdx="5" clrIdx="3"/>
  <p:cmAuthor id="5" name="Tricia Murphy" initials="TM" lastIdx="4" clrIdx="4">
    <p:extLst/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A1A1A"/>
    <a:srgbClr val="D6B8EB"/>
    <a:srgbClr val="A77EC7"/>
    <a:srgbClr val="B59BC7"/>
    <a:srgbClr val="C7AAD9"/>
    <a:srgbClr val="C89EDF"/>
    <a:srgbClr val="BD83DF"/>
    <a:srgbClr val="CB89DF"/>
    <a:srgbClr val="CA87D1"/>
    <a:srgbClr val="CF86D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6969" autoAdjust="0"/>
    <p:restoredTop sz="86012" autoAdjust="0"/>
  </p:normalViewPr>
  <p:slideViewPr>
    <p:cSldViewPr>
      <p:cViewPr varScale="1">
        <p:scale>
          <a:sx n="82" d="100"/>
          <a:sy n="82" d="100"/>
        </p:scale>
        <p:origin x="2920" y="176"/>
      </p:cViewPr>
      <p:guideLst>
        <p:guide orient="horz" pos="2614"/>
        <p:guide pos="295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85" d="100"/>
        <a:sy n="85" d="100"/>
      </p:scale>
      <p:origin x="0" y="0"/>
    </p:cViewPr>
  </p:sorterViewPr>
  <p:notesViewPr>
    <p:cSldViewPr>
      <p:cViewPr>
        <p:scale>
          <a:sx n="80" d="100"/>
          <a:sy n="80" d="100"/>
        </p:scale>
        <p:origin x="3296" y="-56"/>
      </p:cViewPr>
      <p:guideLst>
        <p:guide orient="horz" pos="3024"/>
        <p:guide pos="2308"/>
      </p:guideLst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handoutMaster" Target="handoutMasters/handoutMaster1.xml"/><Relationship Id="rId4" Type="http://schemas.openxmlformats.org/officeDocument/2006/relationships/commentAuthors" Target="commentAuthors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Relationship Id="rId9" Type="http://schemas.openxmlformats.org/officeDocument/2006/relationships/slide" Target="slides/slide1.xml"/><Relationship Id="rId10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14" Type="http://schemas.openxmlformats.org/officeDocument/2006/relationships/slide" Target="slides/slide6.xml"/><Relationship Id="rId15" Type="http://schemas.openxmlformats.org/officeDocument/2006/relationships/slide" Target="slides/slide7.xml"/><Relationship Id="rId16" Type="http://schemas.openxmlformats.org/officeDocument/2006/relationships/slide" Target="slides/slide8.xml"/><Relationship Id="rId17" Type="http://schemas.openxmlformats.org/officeDocument/2006/relationships/slide" Target="slides/slide9.xml"/><Relationship Id="rId18" Type="http://schemas.openxmlformats.org/officeDocument/2006/relationships/slide" Target="slides/slide10.xml"/><Relationship Id="rId19" Type="http://schemas.openxmlformats.org/officeDocument/2006/relationships/slide" Target="slides/slide11.xml"/><Relationship Id="rId20" Type="http://schemas.openxmlformats.org/officeDocument/2006/relationships/slide" Target="slides/slide12.xml"/><Relationship Id="rId21" Type="http://schemas.openxmlformats.org/officeDocument/2006/relationships/slide" Target="slides/slide13.xml"/><Relationship Id="rId22" Type="http://schemas.openxmlformats.org/officeDocument/2006/relationships/slide" Target="slides/slide14.xml"/><Relationship Id="rId23" Type="http://schemas.openxmlformats.org/officeDocument/2006/relationships/slide" Target="slides/slide15.xml"/><Relationship Id="rId24" Type="http://schemas.openxmlformats.org/officeDocument/2006/relationships/slide" Target="slides/slide16.xml"/><Relationship Id="rId25" Type="http://schemas.openxmlformats.org/officeDocument/2006/relationships/slide" Target="slides/slide17.xml"/><Relationship Id="rId26" Type="http://schemas.openxmlformats.org/officeDocument/2006/relationships/slide" Target="slides/slide18.xml"/><Relationship Id="rId27" Type="http://schemas.openxmlformats.org/officeDocument/2006/relationships/slide" Target="slides/slide19.xml"/><Relationship Id="rId28" Type="http://schemas.openxmlformats.org/officeDocument/2006/relationships/slide" Target="slides/slide20.xml"/><Relationship Id="rId29" Type="http://schemas.openxmlformats.org/officeDocument/2006/relationships/slide" Target="slides/slide21.xml"/><Relationship Id="rId30" Type="http://schemas.openxmlformats.org/officeDocument/2006/relationships/slide" Target="slides/slide22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123363"/>
            <a:ext cx="3170238" cy="477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6603" tIns="48303" rIns="96603" bIns="48303" numCol="1" anchor="b" anchorCtr="0" compatLnSpc="1">
            <a:prstTxWarp prst="textNoShape">
              <a:avLst/>
            </a:prstTxWarp>
          </a:bodyPr>
          <a:lstStyle>
            <a:lvl1pPr defTabSz="965200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r>
              <a:rPr lang="en-US" dirty="0"/>
              <a:t>Copyright © 2017 Elephant Scale. All rights reserved.</a:t>
            </a: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44963" y="9123363"/>
            <a:ext cx="3170237" cy="477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6603" tIns="48303" rIns="96603" bIns="48303" numCol="1" anchor="b" anchorCtr="0" compatLnSpc="1">
            <a:prstTxWarp prst="textNoShape">
              <a:avLst/>
            </a:prstTxWarp>
          </a:bodyPr>
          <a:lstStyle>
            <a:lvl1pPr algn="r" defTabSz="965200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fld id="{97E62689-8C7D-4291-A094-4E689FEC4C3B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9291525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68375" y="473075"/>
            <a:ext cx="5365750" cy="4751388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38280" name="Rectangle 8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1365250" y="9388475"/>
            <a:ext cx="4578350" cy="173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b" anchorCtr="1" compatLnSpc="1">
            <a:prstTxWarp prst="textNoShape">
              <a:avLst/>
            </a:prstTxWarp>
          </a:bodyPr>
          <a:lstStyle>
            <a:lvl1pPr algn="ctr" defTabSz="965200" eaLnBrk="0" hangingPunct="0">
              <a:defRPr sz="900">
                <a:latin typeface="Arial" charset="0"/>
              </a:defRPr>
            </a:lvl1pPr>
          </a:lstStyle>
          <a:p>
            <a:pPr>
              <a:defRPr/>
            </a:pPr>
            <a:r>
              <a:rPr lang="en-US" dirty="0"/>
              <a:t>Copyright © 2017 Elephant Scale. All rights reserved.</a:t>
            </a:r>
          </a:p>
        </p:txBody>
      </p:sp>
      <p:sp>
        <p:nvSpPr>
          <p:cNvPr id="438281" name="Rectangle 9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6400800" y="9388475"/>
            <a:ext cx="554038" cy="173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r" defTabSz="965200" eaLnBrk="0" hangingPunct="0">
              <a:defRPr b="1">
                <a:latin typeface="Arial" charset="0"/>
              </a:defRPr>
            </a:lvl1pPr>
          </a:lstStyle>
          <a:p>
            <a:pPr>
              <a:defRPr/>
            </a:pPr>
            <a:fld id="{EFAADD5D-AF76-45EE-AA5F-6DAC73BF167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438306" name="Text Box 34"/>
          <p:cNvSpPr txBox="1">
            <a:spLocks noChangeArrowheads="1"/>
          </p:cNvSpPr>
          <p:nvPr/>
        </p:nvSpPr>
        <p:spPr bwMode="auto">
          <a:xfrm>
            <a:off x="271463" y="5176838"/>
            <a:ext cx="617537" cy="25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6386" tIns="48194" rIns="96386" bIns="48194"/>
          <a:lstStyle/>
          <a:p>
            <a:pPr defTabSz="960438">
              <a:defRPr/>
            </a:pPr>
            <a:r>
              <a:rPr lang="en-US" sz="1200" b="1" u="sng" dirty="0">
                <a:latin typeface="Times New Roman" pitchFamily="18" charset="0"/>
                <a:cs typeface="Times New Roman" pitchFamily="18" charset="0"/>
              </a:rPr>
              <a:t>Notes:</a:t>
            </a:r>
          </a:p>
        </p:txBody>
      </p:sp>
      <p:sp>
        <p:nvSpPr>
          <p:cNvPr id="438309" name="Rectangle 37"/>
          <p:cNvSpPr>
            <a:spLocks noGrp="1" noChangeArrowheads="1"/>
          </p:cNvSpPr>
          <p:nvPr>
            <p:ph type="body" sz="quarter" idx="3"/>
          </p:nvPr>
        </p:nvSpPr>
        <p:spPr bwMode="gray">
          <a:xfrm>
            <a:off x="322263" y="5462588"/>
            <a:ext cx="6607175" cy="3751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537" tIns="45768" rIns="91537" bIns="45768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noProof="0" dirty="0"/>
          </a:p>
        </p:txBody>
      </p:sp>
      <p:sp>
        <p:nvSpPr>
          <p:cNvPr id="438317" name="Line 45"/>
          <p:cNvSpPr>
            <a:spLocks noChangeShapeType="1"/>
          </p:cNvSpPr>
          <p:nvPr/>
        </p:nvSpPr>
        <p:spPr bwMode="auto">
          <a:xfrm>
            <a:off x="322263" y="9324975"/>
            <a:ext cx="6653212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</p:spPr>
        <p:txBody>
          <a:bodyPr/>
          <a:lstStyle/>
          <a:p>
            <a:pPr algn="ctr">
              <a:spcBef>
                <a:spcPct val="30000"/>
              </a:spcBef>
              <a:defRPr/>
            </a:pPr>
            <a:endParaRPr lang="en-US" dirty="0">
              <a:latin typeface="Garamond" pitchFamily="-110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53744030"/>
      </p:ext>
    </p:extLst>
  </p:cSld>
  <p:clrMap bg1="lt1" tx1="dk1" bg2="lt2" tx2="dk2" accent1="accent1" accent2="accent2" accent3="accent3" accent4="accent4" accent5="accent5" accent6="accent6" hlink="hlink" folHlink="folHlink"/>
  <p:hf dt="0"/>
  <p:notesStyle>
    <a:lvl1pPr marL="0" indent="0" algn="l" rtl="0" eaLnBrk="0" fontAlgn="base" hangingPunct="0">
      <a:spcBef>
        <a:spcPct val="30000"/>
      </a:spcBef>
      <a:spcAft>
        <a:spcPct val="0"/>
      </a:spcAft>
      <a:buSzPct val="65000"/>
      <a:buFont typeface="Wingdings" pitchFamily="2" charset="2"/>
      <a:buNone/>
      <a:defRPr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ＭＳ Ｐゴシック" pitchFamily="-110" charset="-128"/>
      </a:defRPr>
    </a:lvl1pPr>
    <a:lvl2pPr marL="282575" indent="0" algn="l" rtl="0" eaLnBrk="0" fontAlgn="base" hangingPunct="0">
      <a:spcBef>
        <a:spcPct val="30000"/>
      </a:spcBef>
      <a:spcAft>
        <a:spcPct val="0"/>
      </a:spcAft>
      <a:buNone/>
      <a:defRPr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ＭＳ Ｐゴシック"/>
      </a:defRPr>
    </a:lvl2pPr>
    <a:lvl3pPr marL="744538" indent="-173038" algn="l" rtl="0" eaLnBrk="0" fontAlgn="base" hangingPunct="0">
      <a:spcBef>
        <a:spcPct val="30000"/>
      </a:spcBef>
      <a:spcAft>
        <a:spcPct val="0"/>
      </a:spcAft>
      <a:buChar char="•"/>
      <a:defRPr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ＭＳ Ｐゴシック"/>
      </a:defRPr>
    </a:lvl3pPr>
    <a:lvl4pPr marL="16002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ＭＳ Ｐゴシック"/>
      </a:defRPr>
    </a:lvl4pPr>
    <a:lvl5pPr marL="20574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ＭＳ Ｐゴシック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7"/>
          <p:cNvPicPr preferRelativeResize="0">
            <a:picLocks noChangeArrowheads="1"/>
          </p:cNvPicPr>
          <p:nvPr/>
        </p:nvPicPr>
        <p:blipFill rotWithShape="1">
          <a:blip r:embed="rId2"/>
          <a:srcRect t="19473"/>
          <a:stretch/>
        </p:blipFill>
        <p:spPr bwMode="auto">
          <a:xfrm>
            <a:off x="1" y="-1801"/>
            <a:ext cx="2498725" cy="83089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04898" name="Rectangle 2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2498726" y="4984481"/>
            <a:ext cx="6335713" cy="400685"/>
          </a:xfrm>
        </p:spPr>
        <p:txBody>
          <a:bodyPr>
            <a:spAutoFit/>
          </a:bodyPr>
          <a:lstStyle>
            <a:lvl1pPr marL="0" indent="0" algn="r">
              <a:buFont typeface="Monotype Sorts" pitchFamily="-110" charset="2"/>
              <a:buNone/>
              <a:defRPr sz="2000"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104900" name="Rectangle 4"/>
          <p:cNvSpPr>
            <a:spLocks noGrp="1" noChangeArrowheads="1"/>
          </p:cNvSpPr>
          <p:nvPr>
            <p:ph type="ctrTitle" sz="quarter"/>
          </p:nvPr>
        </p:nvSpPr>
        <p:spPr>
          <a:xfrm>
            <a:off x="704850" y="3226947"/>
            <a:ext cx="8121650" cy="1469414"/>
          </a:xfrm>
        </p:spPr>
        <p:txBody>
          <a:bodyPr lIns="91440" anchor="ctr"/>
          <a:lstStyle>
            <a:lvl1pPr algn="ctr" defTabSz="1825625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Copyright © 2017 Elephant Scale. All rights reserved.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7EF9825-4C23-4085-A4E3-B5565466BD91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4850" y="1"/>
            <a:ext cx="8667750" cy="83554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234950" y="994976"/>
            <a:ext cx="4375150" cy="68284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762500" y="994975"/>
            <a:ext cx="4375150" cy="332106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762500" y="4500439"/>
            <a:ext cx="4375150" cy="33229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40E4B02-67B9-4228-B08B-2561CEE6B94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l">
              <a:defRPr/>
            </a:pPr>
            <a:r>
              <a:rPr lang="en-US" dirty="0"/>
              <a:t>Copyright © 2017 Elephant Scale. All rights reserved.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4850" y="1"/>
            <a:ext cx="8667750" cy="83554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234950" y="994976"/>
            <a:ext cx="4375150" cy="68284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62500" y="994976"/>
            <a:ext cx="4375150" cy="68284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Rectangle 4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86CC632-9864-46F1-8EAB-FCD3BB9CEC9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l">
              <a:defRPr/>
            </a:pPr>
            <a:r>
              <a:rPr lang="en-US" dirty="0"/>
              <a:t>Copyright © 2017 Elephant Scale. All rights reserved.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Relationship Id="rId6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gray"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234950" y="994976"/>
            <a:ext cx="8902700" cy="6828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007" tIns="46005" rIns="92007" bIns="46005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03876" name="Rectangle 4"/>
          <p:cNvSpPr>
            <a:spLocks noGrp="1" noChangeArrowheads="1"/>
          </p:cNvSpPr>
          <p:nvPr>
            <p:ph type="sldNum" sz="quarter" idx="4"/>
          </p:nvPr>
        </p:nvSpPr>
        <p:spPr bwMode="hidden">
          <a:xfrm>
            <a:off x="8777288" y="7961724"/>
            <a:ext cx="546100" cy="2727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b="1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fld id="{77EF9825-4C23-4085-A4E3-B5565466BD91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1103877" name="Rectangle 5"/>
          <p:cNvSpPr>
            <a:spLocks noGrp="1" noChangeArrowheads="1"/>
          </p:cNvSpPr>
          <p:nvPr>
            <p:ph type="ftr" sz="quarter" idx="3"/>
          </p:nvPr>
        </p:nvSpPr>
        <p:spPr bwMode="hidden">
          <a:xfrm>
            <a:off x="234950" y="8032785"/>
            <a:ext cx="5441950" cy="1384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ctr" eaLnBrk="0" hangingPunct="0">
              <a:spcBef>
                <a:spcPct val="0"/>
              </a:spcBef>
              <a:defRPr sz="9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l">
              <a:defRPr/>
            </a:pPr>
            <a:r>
              <a:rPr lang="en-US" dirty="0"/>
              <a:t>Copyright © 2017 Elephant Scale. All rights reserved.</a:t>
            </a:r>
          </a:p>
        </p:txBody>
      </p:sp>
      <p:pic>
        <p:nvPicPr>
          <p:cNvPr id="1030" name="Picture 6"/>
          <p:cNvPicPr preferRelativeResize="0">
            <a:picLocks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ltGray">
          <a:xfrm>
            <a:off x="0" y="1"/>
            <a:ext cx="704850" cy="8355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31" name="Rectangle 7"/>
          <p:cNvSpPr>
            <a:spLocks noGrp="1" noChangeArrowheads="1"/>
          </p:cNvSpPr>
          <p:nvPr>
            <p:ph type="title"/>
          </p:nvPr>
        </p:nvSpPr>
        <p:spPr bwMode="invGray">
          <a:xfrm>
            <a:off x="704850" y="1"/>
            <a:ext cx="8667750" cy="835549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vert="horz" wrap="square" lIns="92007" tIns="46005" rIns="92007" bIns="46005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56" r:id="rId1"/>
    <p:sldLayoutId id="2147483655" r:id="rId2"/>
    <p:sldLayoutId id="2147483654" r:id="rId3"/>
    <p:sldLayoutId id="2147483653" r:id="rId4"/>
  </p:sldLayoutIdLst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+mj-lt"/>
          <a:ea typeface="ＭＳ Ｐゴシック" pitchFamily="-110" charset="-128"/>
          <a:cs typeface="ＭＳ Ｐゴシック" pitchFamily="-110" charset="-128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  <a:ea typeface="ＭＳ Ｐゴシック" pitchFamily="-110" charset="-128"/>
          <a:cs typeface="ＭＳ Ｐゴシック" pitchFamily="-110" charset="-128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  <a:ea typeface="ＭＳ Ｐゴシック" pitchFamily="-110" charset="-128"/>
          <a:cs typeface="ＭＳ Ｐゴシック" pitchFamily="-110" charset="-128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  <a:ea typeface="ＭＳ Ｐゴシック" pitchFamily="-110" charset="-128"/>
          <a:cs typeface="ＭＳ Ｐゴシック" pitchFamily="-110" charset="-128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  <a:ea typeface="ＭＳ Ｐゴシック" pitchFamily="-110" charset="-128"/>
          <a:cs typeface="ＭＳ Ｐゴシック" pitchFamily="-110" charset="-128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</a:defRPr>
      </a:lvl9pPr>
    </p:titleStyle>
    <p:bodyStyle>
      <a:lvl1pPr marL="290513" indent="-290513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65000"/>
        <a:buFont typeface="Wingdings" pitchFamily="2" charset="2"/>
        <a:buChar char=""/>
        <a:defRPr sz="2400">
          <a:solidFill>
            <a:srgbClr val="000000"/>
          </a:solidFill>
          <a:latin typeface="+mn-lt"/>
          <a:ea typeface="ＭＳ Ｐゴシック" pitchFamily="-110" charset="-128"/>
          <a:cs typeface="ＭＳ Ｐゴシック" pitchFamily="-110" charset="-128"/>
        </a:defRPr>
      </a:lvl1pPr>
      <a:lvl2pPr marL="633413" indent="-228600" algn="l" rtl="0" eaLnBrk="0" fontAlgn="base" hangingPunct="0">
        <a:spcBef>
          <a:spcPct val="20000"/>
        </a:spcBef>
        <a:spcAft>
          <a:spcPct val="0"/>
        </a:spcAft>
        <a:buClr>
          <a:srgbClr val="000000"/>
        </a:buClr>
        <a:buChar char="–"/>
        <a:defRPr sz="2200">
          <a:solidFill>
            <a:srgbClr val="000000"/>
          </a:solidFill>
          <a:latin typeface="+mn-lt"/>
          <a:ea typeface="ＭＳ Ｐゴシック" pitchFamily="-110" charset="-128"/>
          <a:cs typeface="ＭＳ Ｐゴシック"/>
        </a:defRPr>
      </a:lvl2pPr>
      <a:lvl3pPr marL="969963" indent="-22225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rgbClr val="000000"/>
          </a:solidFill>
          <a:latin typeface="+mn-lt"/>
          <a:ea typeface="ＭＳ Ｐゴシック" pitchFamily="-110" charset="-128"/>
          <a:cs typeface="ＭＳ Ｐゴシック"/>
        </a:defRPr>
      </a:lvl3pPr>
      <a:lvl4pPr marL="1258888" indent="-228600" algn="l" rtl="0" eaLnBrk="0" fontAlgn="base" hangingPunct="0">
        <a:spcBef>
          <a:spcPct val="0"/>
        </a:spcBef>
        <a:spcAft>
          <a:spcPct val="0"/>
        </a:spcAft>
        <a:buClr>
          <a:srgbClr val="5F5F5F"/>
        </a:buClr>
        <a:buSzPct val="65000"/>
        <a:buFont typeface="Arial Bold" pitchFamily="34" charset="0"/>
        <a:buChar char="‒"/>
        <a:defRPr lang="en-US" dirty="0">
          <a:solidFill>
            <a:srgbClr val="000000"/>
          </a:solidFill>
          <a:latin typeface="+mn-lt"/>
          <a:ea typeface="ＭＳ Ｐゴシック" pitchFamily="-110" charset="-128"/>
          <a:cs typeface="ＭＳ Ｐゴシック"/>
        </a:defRPr>
      </a:lvl4pPr>
      <a:lvl5pPr marL="2055813" indent="-23018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defRPr sz="800">
          <a:solidFill>
            <a:schemeClr val="tx1"/>
          </a:solidFill>
          <a:latin typeface="Times New Roman" pitchFamily="-110" charset="0"/>
          <a:ea typeface="ＭＳ Ｐゴシック" pitchFamily="-110" charset="-128"/>
          <a:cs typeface="ＭＳ Ｐゴシック"/>
        </a:defRPr>
      </a:lvl5pPr>
      <a:lvl6pPr marL="2513013" indent="-23018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defRPr sz="800">
          <a:solidFill>
            <a:schemeClr val="tx1"/>
          </a:solidFill>
          <a:latin typeface="Times New Roman" pitchFamily="-110" charset="0"/>
          <a:ea typeface="ＭＳ Ｐゴシック" pitchFamily="-110" charset="-128"/>
        </a:defRPr>
      </a:lvl6pPr>
      <a:lvl7pPr marL="2970213" indent="-23018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defRPr sz="800">
          <a:solidFill>
            <a:schemeClr val="tx1"/>
          </a:solidFill>
          <a:latin typeface="Times New Roman" pitchFamily="-110" charset="0"/>
          <a:ea typeface="ＭＳ Ｐゴシック" pitchFamily="-110" charset="-128"/>
        </a:defRPr>
      </a:lvl7pPr>
      <a:lvl8pPr marL="3427413" indent="-23018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defRPr sz="800">
          <a:solidFill>
            <a:schemeClr val="tx1"/>
          </a:solidFill>
          <a:latin typeface="Times New Roman" pitchFamily="-110" charset="0"/>
          <a:ea typeface="ＭＳ Ｐゴシック" pitchFamily="-110" charset="-128"/>
        </a:defRPr>
      </a:lvl8pPr>
      <a:lvl9pPr marL="3884613" indent="-23018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defRPr sz="800">
          <a:solidFill>
            <a:schemeClr val="tx1"/>
          </a:solidFill>
          <a:latin typeface="Times New Roman" pitchFamily="-110" charset="0"/>
          <a:ea typeface="ＭＳ Ｐゴシック" pitchFamily="-110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8.png"/><Relationship Id="rId3" Type="http://schemas.openxmlformats.org/officeDocument/2006/relationships/image" Target="../media/image19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0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 sz="quarter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ctrTitle" sz="quarter"/>
          </p:nvPr>
        </p:nvSpPr>
        <p:spPr/>
        <p:txBody>
          <a:bodyPr wrap="square">
            <a:noAutofit/>
          </a:bodyPr>
          <a:lstStyle/>
          <a:p>
            <a:r>
              <a:rPr sz="4200" b="1" i="0">
                <a:latin typeface="Times New Roman"/>
              </a:rPr>
              <a:t>Module 2 — Kafka Internals &amp; Cluster Architecture</a:t>
            </a:r>
            <a:endParaRPr sz="4200" b="1" i="0">
              <a:latin typeface="Times New Roman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Module 2 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Broker internals: log segments, indexes, compaction</a:t>
            </a:r>
          </a:p>
          <a:p>
            <a:r>
              <a:t> KRaft — ZooKeeper-free Kafka architecture</a:t>
            </a:r>
          </a:p>
          <a:p>
            <a:r>
              <a:t> Controller quorum and metadata management</a:t>
            </a:r>
          </a:p>
          <a:p>
            <a:r>
              <a:t> Partition assignment and leader election</a:t>
            </a:r>
          </a:p>
          <a:p>
            <a:r>
              <a:t> In-Sync Replicas (ISR) and Eligible Leader Replicas (KIP-966)</a:t>
            </a:r>
          </a:p>
          <a:p>
            <a:r>
              <a:t> Producer internals</a:t>
            </a:r>
          </a:p>
          <a:p>
            <a:r>
              <a:t> Consumer internals and the KIP-848 rebalance protocol</a:t>
            </a:r>
          </a:p>
          <a:p>
            <a:r>
              <a:t> Exactly-once semantics and transactions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Kafka Broker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A Kafka broker is a JVM process that:</a:t>
            </a:r>
          </a:p>
          <a:p>
            <a:r>
              <a:t> Manages</a:t>
            </a:r>
            <a:r>
              <a:rPr b="1"/>
              <a:t> log segments</a:t>
            </a:r>
            <a:r>
              <a:t> on disk (one per partition)</a:t>
            </a:r>
          </a:p>
          <a:p>
            <a:r>
              <a:t> Handles</a:t>
            </a:r>
            <a:r>
              <a:rPr b="1"/>
              <a:t> producer</a:t>
            </a:r>
            <a:r>
              <a:t> write requests</a:t>
            </a:r>
          </a:p>
          <a:p>
            <a:r>
              <a:t> Handles</a:t>
            </a:r>
            <a:r>
              <a:rPr b="1"/>
              <a:t> consumer</a:t>
            </a:r>
            <a:r>
              <a:t> fetch requests</a:t>
            </a:r>
          </a:p>
          <a:p>
            <a:r>
              <a:t> Participates in</a:t>
            </a:r>
            <a:r>
              <a:rPr b="1"/>
              <a:t> replication</a:t>
            </a:r>
            <a:r>
              <a:t> with other brokers</a:t>
            </a:r>
          </a:p>
          <a:p>
            <a:r>
              <a:t> Maintains</a:t>
            </a:r>
            <a:r>
              <a:rPr b="1"/>
              <a:t> partition leadership</a:t>
            </a:r>
          </a:p>
          <a:p>
            <a:r>
              <a:t> Each broker can handle hundreds of thousands of partitions and millions of messages per second.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Log Segments — How Kafka Stores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Each partition is stored as a</a:t>
            </a:r>
            <a:r>
              <a:rPr b="1"/>
              <a:t> sequence of segment files</a:t>
            </a:r>
            <a:r>
              <a:t> on disk:</a:t>
            </a:r>
          </a:p>
          <a:p/>
          <a:p/>
          <a:p/>
          <a:p>
            <a:r>
              <a:t> Key properties:</a:t>
            </a:r>
          </a:p>
          <a:p>
            <a:r>
              <a:t> Log is</a:t>
            </a:r>
            <a:r>
              <a:rPr b="1"/>
              <a:t> append-only</a:t>
            </a:r>
            <a:r>
              <a:t> — writes are sequential (fast)</a:t>
            </a:r>
          </a:p>
          <a:p>
            <a:r>
              <a:t> Segments are</a:t>
            </a:r>
            <a:r>
              <a:rPr b="1"/>
              <a:t> immutable</a:t>
            </a:r>
            <a:r>
              <a:t> once closed</a:t>
            </a:r>
          </a:p>
          <a:p>
            <a:r>
              <a:t> Older segments are deleted or compacted based on retention policy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53312"/>
            <a:ext cx="10464800" cy="1854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Log Indexes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Kafka maintains two indexes per segment for fast lookups:</a:t>
            </a:r>
          </a:p>
          <a:p>
            <a:r>
              <a:rPr b="1"/>
              <a:t> Offset index</a:t>
            </a:r>
            <a:r>
              <a:t> — maps logical offset to byte position in the</a:t>
            </a:r>
            <a:r>
              <a:rPr>
                <a:latin typeface="Courier New"/>
              </a:rPr>
              <a:t> .log</a:t>
            </a:r>
            <a:r>
              <a:t> file</a:t>
            </a:r>
          </a:p>
          <a:p/>
          <a:p>
            <a:r>
              <a:rPr b="1"/>
              <a:t> Time index</a:t>
            </a:r>
            <a:r>
              <a:t> — maps timestamp to offset</a:t>
            </a:r>
          </a:p>
          <a:p/>
          <a:p>
            <a:r>
              <a:t> These enable O(log n) seeks without scanning the full log.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231136"/>
            <a:ext cx="4064000" cy="787400"/>
          </a:xfrm>
          <a:prstGeom prst="rect">
            <a:avLst/>
          </a:prstGeom>
        </p:spPr>
      </p:pic>
      <p:pic>
        <p:nvPicPr>
          <p:cNvPr id="6" name="Picture 5" descr="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108960"/>
            <a:ext cx="4673600" cy="7874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Log Compaction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For</a:t>
            </a:r>
            <a:r>
              <a:rPr b="1"/>
              <a:t> state-based topics</a:t>
            </a:r>
            <a:r>
              <a:t> (e.g., user profiles, configuration), Kafka supports compaction instead of deletion.</a:t>
            </a:r>
          </a:p>
          <a:p/>
          <a:p/>
          <a:p/>
          <a:p/>
          <a:p>
            <a:r>
              <a:t> Compacted topics guarantee</a:t>
            </a:r>
            <a:r>
              <a:rPr b="1"/>
              <a:t> at least the last value per key</a:t>
            </a:r>
            <a:r>
              <a:t> is retained forever.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92224"/>
            <a:ext cx="10464800" cy="26543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ZooKeeper → KRaft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b="1"/>
              <a:t> Legacy (ZooKeeper mode — historical context only):</a:t>
            </a:r>
          </a:p>
          <a:p/>
          <a:p/>
          <a:p>
            <a:r>
              <a:rPr b="1"/>
              <a:t> KRaft mode — the only mode in Kafka 4:</a:t>
            </a:r>
          </a:p>
          <a:p/>
          <a:p/>
          <a:p/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53312"/>
            <a:ext cx="6197600" cy="1587500"/>
          </a:xfrm>
          <a:prstGeom prst="rect">
            <a:avLst/>
          </a:prstGeom>
        </p:spPr>
      </p:pic>
      <p:pic>
        <p:nvPicPr>
          <p:cNvPr id="6" name="Picture 5" descr="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670048"/>
            <a:ext cx="9550400" cy="1320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KRaft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In KRaft mode, Kafka manages its own metadata:</a:t>
            </a:r>
          </a:p>
          <a:p/>
          <a:p/>
          <a:p/>
          <a:p/>
          <a:p>
            <a:r>
              <a:t> Benefits: faster failover, simpler operations, no ZooKeeper to manage.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53312"/>
            <a:ext cx="8178800" cy="31877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Partition Assignment and Leader Election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When a topic is created, Kafka assigns partitions to brokers:</a:t>
            </a:r>
          </a:p>
          <a:p/>
          <a:p/>
          <a:p>
            <a:r>
              <a:t> Partition</a:t>
            </a:r>
            <a:r>
              <a:rPr b="1"/>
              <a:t> leader</a:t>
            </a:r>
            <a:r>
              <a:t> handles all reads and writes</a:t>
            </a:r>
          </a:p>
          <a:p>
            <a:r>
              <a:t> Followers replicate from the leader</a:t>
            </a:r>
          </a:p>
          <a:p>
            <a:r>
              <a:t> If the leader fails, a new leader is elected from the ISR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92224"/>
            <a:ext cx="9550400" cy="15875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In-Sync Replicas (ISR)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The ISR is the set of replicas that are</a:t>
            </a:r>
            <a:r>
              <a:rPr b="1"/>
              <a:t> fully caught up</a:t>
            </a:r>
            <a:r>
              <a:t> with the leader.</a:t>
            </a:r>
          </a:p>
          <a:p/>
          <a:p/>
          <a:p>
            <a:r>
              <a:t> Key configs:</a:t>
            </a:r>
          </a:p>
          <a:p>
            <a:r>
              <a:rPr>
                <a:latin typeface="Courier New"/>
              </a:rPr>
              <a:t> replica.lag.time.max.ms</a:t>
            </a:r>
            <a:r>
              <a:t> — max time a follower can be behind before removed from ISR</a:t>
            </a:r>
          </a:p>
          <a:p>
            <a:r>
              <a:rPr>
                <a:latin typeface="Courier New"/>
              </a:rPr>
              <a:t> min.insync.replicas</a:t>
            </a:r>
            <a:r>
              <a:t> — minimum ISR size required to accept writes (e.g., 2)</a:t>
            </a:r>
          </a:p>
          <a:p>
            <a:r>
              <a:rPr>
                <a:latin typeface="Courier New"/>
              </a:rPr>
              <a:t> acks=all</a:t>
            </a:r>
            <a:r>
              <a:t> — producer waits for all ISR members to acknowledge</a:t>
            </a:r>
          </a:p>
          <a:p>
            <a:r>
              <a:rPr b="1"/>
              <a:t> New in Kafka 4 — Eligible Leader Replicas (KIP-966, preview):</a:t>
            </a:r>
          </a:p>
          <a:p>
            <a:r>
              <a:t> The controller now also tracks replicas that left the ISR but are</a:t>
            </a:r>
            <a:r>
              <a:rPr i="1"/>
              <a:t> known to hold data up to the high watermark</a:t>
            </a:r>
            <a:r>
              <a:t> — the</a:t>
            </a:r>
            <a:r>
              <a:rPr b="1"/>
              <a:t> ELR</a:t>
            </a:r>
          </a:p>
          <a:p>
            <a:r>
              <a:t> On a clean election with an empty ISR, a replica from the ELR can be elected</a:t>
            </a:r>
            <a:r>
              <a:rPr b="1"/>
              <a:t> without data loss</a:t>
            </a:r>
            <a:r>
              <a:t> — fixing the old "last replica standing" unclean-election dilemma</a:t>
            </a:r>
          </a:p>
          <a:p>
            <a:r>
              <a:t> Separates the</a:t>
            </a:r>
            <a:r>
              <a:rPr i="1"/>
              <a:t> replication</a:t>
            </a:r>
            <a:r>
              <a:t> quorum (ISR, known to the leader) from the</a:t>
            </a:r>
            <a:r>
              <a:rPr i="1"/>
              <a:t> election</a:t>
            </a:r>
            <a:r>
              <a:t> quorum (ISR + ELR, known to the controller)</a:t>
            </a:r>
          </a:p>
          <a:p>
            <a:r>
              <a:t> Enabled by default on new Kafka 4 clusters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53312"/>
            <a:ext cx="9715500" cy="10541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Producer Internals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The Kafka producer is a sophisticated client:</a:t>
            </a:r>
          </a:p>
          <a:p/>
          <a:p/>
          <a:p/>
          <a:p/>
          <a:p/>
          <a:p/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53312"/>
            <a:ext cx="8788400" cy="45212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Producer Configuration — Key Parameters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rPr>
                <a:latin typeface="Courier New"/>
              </a:rPr>
              <a:t> acks</a:t>
            </a:r>
            <a:r>
              <a:t> Durability guarantee (0, 1, all)  1</a:t>
            </a:r>
            <a:r>
              <a:rPr>
                <a:latin typeface="Courier New"/>
              </a:rPr>
              <a:t> batch.size</a:t>
            </a:r>
            <a:r>
              <a:t> Max bytes per batch  16384 (16KB)</a:t>
            </a:r>
            <a:r>
              <a:rPr>
                <a:latin typeface="Courier New"/>
              </a:rPr>
              <a:t> linger.ms</a:t>
            </a:r>
            <a:r>
              <a:t> Wait time to fill batch  0 (no wait)</a:t>
            </a:r>
            <a:r>
              <a:rPr>
                <a:latin typeface="Courier New"/>
              </a:rPr>
              <a:t> compression.type</a:t>
            </a:r>
            <a:r>
              <a:t> none, gzip, snappy, lz4, zstd  none</a:t>
            </a:r>
            <a:r>
              <a:rPr>
                <a:latin typeface="Courier New"/>
              </a:rPr>
              <a:t> max.in.flight.requests.per.connection</a:t>
            </a:r>
            <a:r>
              <a:t> Concurrent unacknowledged requests  5</a:t>
            </a:r>
            <a:r>
              <a:rPr>
                <a:latin typeface="Courier New"/>
              </a:rPr>
              <a:t> retries</a:t>
            </a:r>
            <a:r>
              <a:t> Retry count on failure  MAX_INT</a:t>
            </a:r>
            <a:r>
              <a:rPr>
                <a:latin typeface="Courier New"/>
              </a:rPr>
              <a:t> enable.idempotence</a:t>
            </a:r>
            <a:r>
              <a:t> Exactly-once producer semantics  true (Kafka 3.0+)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  <a:r>
              <a:t> Parameter  Description  Default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Idempotent Producer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With</a:t>
            </a:r>
            <a:r>
              <a:rPr>
                <a:latin typeface="Courier New"/>
              </a:rPr>
              <a:t> enable.idempotence=true</a:t>
            </a:r>
            <a:r>
              <a:t> :</a:t>
            </a:r>
          </a:p>
          <a:p/>
          <a:p/>
          <a:p/>
          <a:p>
            <a:r>
              <a:t> Prevents duplicate writes on retry — essential for exactly-once.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53312"/>
            <a:ext cx="7874000" cy="23876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Consumer Internals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The Kafka consumer manages its own position (offset):</a:t>
            </a:r>
          </a:p>
          <a:p/>
          <a:p/>
          <a:p/>
          <a:p/>
          <a:p>
            <a:r>
              <a:t> Key difference from traditional queues:</a:t>
            </a:r>
            <a:r>
              <a:rPr b="1"/>
              <a:t> the consumer controls its own pace</a:t>
            </a:r>
            <a:r>
              <a:t> 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53312"/>
            <a:ext cx="9093200" cy="31877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Consumer Group Coordination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/>
          <a:p/>
          <a:p/>
          <a:p>
            <a:r>
              <a:t> Rebalance types:</a:t>
            </a:r>
          </a:p>
          <a:p>
            <a:r>
              <a:rPr b="1"/>
              <a:t> Eager</a:t>
            </a:r>
            <a:r>
              <a:t> (stop-the-world) — all consumers stop, reassign</a:t>
            </a:r>
          </a:p>
          <a:p>
            <a:r>
              <a:rPr b="1"/>
              <a:t> Cooperative</a:t>
            </a:r>
            <a:r>
              <a:t> (incremental, client-side) — only affected partitions move</a:t>
            </a:r>
          </a:p>
          <a:p>
            <a:r>
              <a:rPr b="1"/>
              <a:t> New consumer protocol (KIP-848, GA in Kafka 4)</a:t>
            </a:r>
            <a:r>
              <a:t> — the</a:t>
            </a:r>
            <a:r>
              <a:rPr i="1"/>
              <a:t> broker</a:t>
            </a:r>
            <a:r>
              <a:t> coordinates the assignment instead of a client-side leader. Rebalances become incremental and far less disruptive; opt in per group via</a:t>
            </a:r>
            <a:r>
              <a:rPr>
                <a:latin typeface="Courier New"/>
              </a:rPr>
              <a:t> group.protocol=consumer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14400"/>
            <a:ext cx="7874000" cy="26543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Offset Management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Offsets are committed to the</a:t>
            </a:r>
            <a:r>
              <a:rPr>
                <a:latin typeface="Courier New"/>
              </a:rPr>
              <a:t> __consumer_offsets</a:t>
            </a:r>
            <a:r>
              <a:t> internal topic:</a:t>
            </a:r>
          </a:p>
          <a:p/>
          <a:p/>
          <a:p>
            <a:r>
              <a:t> Key configs:</a:t>
            </a:r>
          </a:p>
          <a:p>
            <a:r>
              <a:rPr>
                <a:latin typeface="Courier New"/>
              </a:rPr>
              <a:t> enable.auto.commit=true</a:t>
            </a:r>
            <a:r>
              <a:t> — auto-commit every</a:t>
            </a:r>
            <a:r>
              <a:rPr>
                <a:latin typeface="Courier New"/>
              </a:rPr>
              <a:t> auto.commit.interval.ms</a:t>
            </a:r>
          </a:p>
          <a:p>
            <a:r>
              <a:rPr>
                <a:latin typeface="Courier New"/>
              </a:rPr>
              <a:t> enable.auto.commit=false</a:t>
            </a:r>
            <a:r>
              <a:t> — manual</a:t>
            </a:r>
            <a:r>
              <a:rPr>
                <a:latin typeface="Courier New"/>
              </a:rPr>
              <a:t> commitSync()</a:t>
            </a:r>
            <a:r>
              <a:t> or</a:t>
            </a:r>
            <a:r>
              <a:rPr>
                <a:latin typeface="Courier New"/>
              </a:rPr>
              <a:t> commitAsync()</a:t>
            </a:r>
          </a:p>
          <a:p/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53312"/>
            <a:ext cx="10312400" cy="10541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Exactly-Once Semantics (EOS)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Kafka supports end-to-end exactly-once for Kafka-to-Kafka pipelines:</a:t>
            </a:r>
          </a:p>
          <a:p/>
          <a:p/>
          <a:p/>
          <a:p/>
          <a:p/>
          <a:p>
            <a:r>
              <a:t> Config:</a:t>
            </a:r>
            <a:r>
              <a:rPr>
                <a:latin typeface="Courier New"/>
              </a:rPr>
              <a:t> transactional.id=unique-producer-id</a:t>
            </a:r>
            <a:r>
              <a:t> ,</a:t>
            </a:r>
            <a:r>
              <a:rPr>
                <a:latin typeface="Courier New"/>
              </a:rPr>
              <a:t> isolation.level=read_committed</a:t>
            </a:r>
          </a:p>
          <a:p/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92224"/>
            <a:ext cx="11226800" cy="34544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Internal topic that stores all committed consumer offsets:</a:t>
            </a:r>
          </a:p>
          <a:p/>
          <a:p/>
          <a:p/>
          <a:p>
            <a:r>
              <a:t> Output format:</a:t>
            </a:r>
          </a:p>
          <a:p/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92224"/>
            <a:ext cx="8915400" cy="1649700"/>
          </a:xfrm>
          <a:prstGeom prst="rect">
            <a:avLst/>
          </a:prstGeom>
        </p:spPr>
      </p:pic>
      <p:pic>
        <p:nvPicPr>
          <p:cNvPr id="6" name="Picture 5" descr="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547872"/>
            <a:ext cx="10312400" cy="7874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Internal topic that tracks transactional producer state:</a:t>
            </a:r>
          </a:p>
          <a:p/>
          <a:p/>
          <a:p>
            <a:r>
              <a:t> Used by the broker to:</a:t>
            </a:r>
          </a:p>
          <a:p>
            <a:r>
              <a:t> Deduplicate writes from idempotent producers</a:t>
            </a:r>
          </a:p>
          <a:p>
            <a:r>
              <a:t> Ensure atomicity of transactions</a:t>
            </a:r>
          </a:p>
          <a:p>
            <a:r>
              <a:t> Handle crash recovery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92224"/>
            <a:ext cx="10617200" cy="15875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Module 2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Kafka stores data as append-only log segments with offset and time indexes</a:t>
            </a:r>
          </a:p>
          <a:p>
            <a:r>
              <a:t> Log compaction preserves the latest value per key indefinitely</a:t>
            </a:r>
          </a:p>
          <a:p>
            <a:r>
              <a:t> KRaft replaces ZooKeeper entirely in Kafka 4 — metadata stored in a Kafka Raft log</a:t>
            </a:r>
          </a:p>
          <a:p>
            <a:r>
              <a:t> ISR ensures only fully-caught-up replicas can become leaders; ELR (KIP-966) extends safe election to known-good replicas outside the ISR</a:t>
            </a:r>
          </a:p>
          <a:p>
            <a:r>
              <a:t> Producer batching, compression, and idempotence are key to throughput and correctness</a:t>
            </a:r>
          </a:p>
          <a:p>
            <a:r>
              <a:t> Consumer groups coordinate partition assignment via rebalance protocols — including the new broker-coordinated KIP-848 protocol</a:t>
            </a:r>
          </a:p>
          <a:p>
            <a:r>
              <a:t> Exactly-once semantics require transactional producers +</a:t>
            </a:r>
            <a:r>
              <a:rPr>
                <a:latin typeface="Courier New"/>
              </a:rPr>
              <a:t> read_committed</a:t>
            </a:r>
            <a:r>
              <a:t> consumers, hardened by KIP-890 in Kafka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What's Next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b="1"/>
              <a:t> Module 3 — Kafka Operations &amp; Observability</a:t>
            </a:r>
          </a:p>
          <a:p>
            <a:r>
              <a:t> The metrics that matter: under-replicated partitions, consumer lag, ISR shrink rate</a:t>
            </a:r>
          </a:p>
          <a:p>
            <a:r>
              <a:t> Monitoring stack: Prometheus, Grafana, Kafka UI</a:t>
            </a:r>
          </a:p>
          <a:p>
            <a:r>
              <a:t> Operational procedures: retention, offset resets, security ops</a:t>
            </a:r>
          </a:p>
          <a:p>
            <a:r>
              <a:t> Incident triage runbooks and alerting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Lab Preview — Lab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b="1"/>
              <a:t> Examine Internal Kafka Topics</a:t>
            </a:r>
          </a:p>
          <a:p>
            <a:r>
              <a:t> You will:</a:t>
            </a:r>
          </a:p>
          <a:p>
            <a:r>
              <a:t> Inspect</a:t>
            </a:r>
            <a:r>
              <a:rPr>
                <a:latin typeface="Courier New"/>
              </a:rPr>
              <a:t> __consumer_offsets</a:t>
            </a:r>
            <a:r>
              <a:t> and</a:t>
            </a:r>
            <a:r>
              <a:rPr>
                <a:latin typeface="Courier New"/>
              </a:rPr>
              <a:t> __transaction_state</a:t>
            </a:r>
          </a:p>
          <a:p>
            <a:r>
              <a:t> Trace a transactional producer's commit sequence</a:t>
            </a:r>
          </a:p>
          <a:p>
            <a:r>
              <a:t> Observe ISR changes during a simulated broker failure</a:t>
            </a:r>
          </a:p>
          <a:p>
            <a:r>
              <a:t> Examine log segment files on disk and the KRaft metadata log</a:t>
            </a:r>
          </a:p>
          <a:p>
            <a:r>
              <a:t> Environment: KRaft Kafka 4 cluster (Docker Compose)</a:t>
            </a:r>
            <a:r>
              <a:t> Time: ~60 minutes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Pc_New">
  <a:themeElements>
    <a:clrScheme name="LPc_New 7">
      <a:dk1>
        <a:srgbClr val="000000"/>
      </a:dk1>
      <a:lt1>
        <a:srgbClr val="FFFFFF"/>
      </a:lt1>
      <a:dk2>
        <a:srgbClr val="CCECFF"/>
      </a:dk2>
      <a:lt2>
        <a:srgbClr val="003399"/>
      </a:lt2>
      <a:accent1>
        <a:srgbClr val="0794FF"/>
      </a:accent1>
      <a:accent2>
        <a:srgbClr val="800080"/>
      </a:accent2>
      <a:accent3>
        <a:srgbClr val="E2F4FF"/>
      </a:accent3>
      <a:accent4>
        <a:srgbClr val="DADADA"/>
      </a:accent4>
      <a:accent5>
        <a:srgbClr val="AAC8FF"/>
      </a:accent5>
      <a:accent6>
        <a:srgbClr val="730073"/>
      </a:accent6>
      <a:hlink>
        <a:srgbClr val="FF0000"/>
      </a:hlink>
      <a:folHlink>
        <a:srgbClr val="FFFFD2"/>
      </a:folHlink>
    </a:clrScheme>
    <a:fontScheme name="LPc_New">
      <a:majorFont>
        <a:latin typeface="Verdan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30000"/>
          </a:spcBef>
          <a:spcAft>
            <a:spcPct val="0"/>
          </a:spcAft>
          <a:buClrTx/>
          <a:buSzTx/>
          <a:buFontTx/>
          <a:buNone/>
          <a:tabLst/>
          <a:defRPr kumimoji="0" lang="en-US" sz="10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Garamond" pitchFamily="-110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30000"/>
          </a:spcBef>
          <a:spcAft>
            <a:spcPct val="0"/>
          </a:spcAft>
          <a:buClrTx/>
          <a:buSzTx/>
          <a:buFontTx/>
          <a:buNone/>
          <a:tabLst/>
          <a:defRPr kumimoji="0" lang="en-US" sz="10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Garamond" pitchFamily="-110" charset="0"/>
          </a:defRPr>
        </a:defPPr>
      </a:lstStyle>
    </a:lnDef>
  </a:objectDefaults>
  <a:extraClrSchemeLst>
    <a:extraClrScheme>
      <a:clrScheme name="LPc_New 1">
        <a:dk1>
          <a:srgbClr val="000099"/>
        </a:dk1>
        <a:lt1>
          <a:srgbClr val="FFFFFF"/>
        </a:lt1>
        <a:dk2>
          <a:srgbClr val="0000FF"/>
        </a:dk2>
        <a:lt2>
          <a:srgbClr val="FFFF00"/>
        </a:lt2>
        <a:accent1>
          <a:srgbClr val="FF6633"/>
        </a:accent1>
        <a:accent2>
          <a:srgbClr val="FF00FF"/>
        </a:accent2>
        <a:accent3>
          <a:srgbClr val="AAAAFF"/>
        </a:accent3>
        <a:accent4>
          <a:srgbClr val="DADADA"/>
        </a:accent4>
        <a:accent5>
          <a:srgbClr val="FFB8AD"/>
        </a:accent5>
        <a:accent6>
          <a:srgbClr val="E700E7"/>
        </a:accent6>
        <a:hlink>
          <a:srgbClr val="FF0000"/>
        </a:hlink>
        <a:folHlink>
          <a:srgbClr val="80808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Pc_New 2">
        <a:dk1>
          <a:srgbClr val="000066"/>
        </a:dk1>
        <a:lt1>
          <a:srgbClr val="CCECFF"/>
        </a:lt1>
        <a:dk2>
          <a:srgbClr val="000080"/>
        </a:dk2>
        <a:lt2>
          <a:srgbClr val="000000"/>
        </a:lt2>
        <a:accent1>
          <a:srgbClr val="9999FF"/>
        </a:accent1>
        <a:accent2>
          <a:srgbClr val="CC00FF"/>
        </a:accent2>
        <a:accent3>
          <a:srgbClr val="E2F4FF"/>
        </a:accent3>
        <a:accent4>
          <a:srgbClr val="000056"/>
        </a:accent4>
        <a:accent5>
          <a:srgbClr val="CACAFF"/>
        </a:accent5>
        <a:accent6>
          <a:srgbClr val="B900E7"/>
        </a:accent6>
        <a:hlink>
          <a:srgbClr val="00CC99"/>
        </a:hlink>
        <a:folHlink>
          <a:srgbClr val="0099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Pc_New 3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B2B2B2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D5D5D5"/>
        </a:accent5>
        <a:accent6>
          <a:srgbClr val="797979"/>
        </a:accent6>
        <a:hlink>
          <a:srgbClr val="5F5F5F"/>
        </a:hlink>
        <a:folHlink>
          <a:srgbClr val="DDDDD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Pc_New 4">
        <a:dk1>
          <a:srgbClr val="000000"/>
        </a:dk1>
        <a:lt1>
          <a:srgbClr val="FFFFFF"/>
        </a:lt1>
        <a:dk2>
          <a:srgbClr val="660033"/>
        </a:dk2>
        <a:lt2>
          <a:srgbClr val="FFFF66"/>
        </a:lt2>
        <a:accent1>
          <a:srgbClr val="FF0033"/>
        </a:accent1>
        <a:accent2>
          <a:srgbClr val="CC6600"/>
        </a:accent2>
        <a:accent3>
          <a:srgbClr val="B8AAAD"/>
        </a:accent3>
        <a:accent4>
          <a:srgbClr val="DADADA"/>
        </a:accent4>
        <a:accent5>
          <a:srgbClr val="FFAAAD"/>
        </a:accent5>
        <a:accent6>
          <a:srgbClr val="B95C00"/>
        </a:accent6>
        <a:hlink>
          <a:srgbClr val="999933"/>
        </a:hlink>
        <a:folHlink>
          <a:srgbClr val="A5002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Pc_New 5">
        <a:dk1>
          <a:srgbClr val="000000"/>
        </a:dk1>
        <a:lt1>
          <a:srgbClr val="FFFFFF"/>
        </a:lt1>
        <a:dk2>
          <a:srgbClr val="CCECFF"/>
        </a:dk2>
        <a:lt2>
          <a:srgbClr val="000080"/>
        </a:lt2>
        <a:accent1>
          <a:srgbClr val="9999FF"/>
        </a:accent1>
        <a:accent2>
          <a:srgbClr val="CC00FF"/>
        </a:accent2>
        <a:accent3>
          <a:srgbClr val="E2F4FF"/>
        </a:accent3>
        <a:accent4>
          <a:srgbClr val="DADADA"/>
        </a:accent4>
        <a:accent5>
          <a:srgbClr val="CACAFF"/>
        </a:accent5>
        <a:accent6>
          <a:srgbClr val="B900E7"/>
        </a:accent6>
        <a:hlink>
          <a:srgbClr val="00CC99"/>
        </a:hlink>
        <a:folHlink>
          <a:srgbClr val="0099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Pc_New 6">
        <a:dk1>
          <a:srgbClr val="000000"/>
        </a:dk1>
        <a:lt1>
          <a:srgbClr val="FFFFFF"/>
        </a:lt1>
        <a:dk2>
          <a:srgbClr val="CCECFF"/>
        </a:dk2>
        <a:lt2>
          <a:srgbClr val="003399"/>
        </a:lt2>
        <a:accent1>
          <a:srgbClr val="9999FF"/>
        </a:accent1>
        <a:accent2>
          <a:srgbClr val="800080"/>
        </a:accent2>
        <a:accent3>
          <a:srgbClr val="E2F4FF"/>
        </a:accent3>
        <a:accent4>
          <a:srgbClr val="DADADA"/>
        </a:accent4>
        <a:accent5>
          <a:srgbClr val="CACAFF"/>
        </a:accent5>
        <a:accent6>
          <a:srgbClr val="730073"/>
        </a:accent6>
        <a:hlink>
          <a:srgbClr val="FF0000"/>
        </a:hlink>
        <a:folHlink>
          <a:srgbClr val="FFFFD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Pc_New 7">
        <a:dk1>
          <a:srgbClr val="000000"/>
        </a:dk1>
        <a:lt1>
          <a:srgbClr val="FFFFFF"/>
        </a:lt1>
        <a:dk2>
          <a:srgbClr val="CCECFF"/>
        </a:dk2>
        <a:lt2>
          <a:srgbClr val="003399"/>
        </a:lt2>
        <a:accent1>
          <a:srgbClr val="0794FF"/>
        </a:accent1>
        <a:accent2>
          <a:srgbClr val="800080"/>
        </a:accent2>
        <a:accent3>
          <a:srgbClr val="E2F4FF"/>
        </a:accent3>
        <a:accent4>
          <a:srgbClr val="DADADA"/>
        </a:accent4>
        <a:accent5>
          <a:srgbClr val="AAC8FF"/>
        </a:accent5>
        <a:accent6>
          <a:srgbClr val="730073"/>
        </a:accent6>
        <a:hlink>
          <a:srgbClr val="FF0000"/>
        </a:hlink>
        <a:folHlink>
          <a:srgbClr val="FFFFD2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378292</TotalTime>
  <Words>0</Words>
  <Application>Microsoft Macintosh PowerPoint</Application>
  <PresentationFormat>Custom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9" baseType="lpstr">
      <vt:lpstr>ＭＳ Ｐゴシック</vt:lpstr>
      <vt:lpstr>Arial</vt:lpstr>
      <vt:lpstr>Arial Bold</vt:lpstr>
      <vt:lpstr>Garamond</vt:lpstr>
      <vt:lpstr>Monotype Sorts</vt:lpstr>
      <vt:lpstr>Times New Roman</vt:lpstr>
      <vt:lpstr>Verdana</vt:lpstr>
      <vt:lpstr>Wingdings</vt:lpstr>
      <vt:lpstr>LPc_New</vt:lpstr>
    </vt:vector>
  </TitlesOfParts>
  <Company>Elephant Scale LLC &amp; LearningPatterns Inc.</Company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Spark</dc:title>
  <dc:subject>Spark</dc:subject>
  <dc:creator>Elephant Scale</dc:creator>
  <cp:lastModifiedBy>fateme</cp:lastModifiedBy>
  <cp:revision>4135</cp:revision>
  <cp:lastPrinted>2010-01-03T02:41:41Z</cp:lastPrinted>
  <dcterms:created xsi:type="dcterms:W3CDTF">2010-07-13T15:22:01Z</dcterms:created>
  <dcterms:modified xsi:type="dcterms:W3CDTF">2019-10-02T11:26:38Z</dcterms:modified>
</cp:coreProperties>
</file>