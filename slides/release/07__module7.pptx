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2"/>
  </p:notesMasterIdLst>
  <p:handoutMasterIdLst>
    <p:handoutMasterId r:id="rId3"/>
  </p:handout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</p:sldIdLst>
  <p:sldSz cx="9372600" cy="8297863"/>
  <p:notesSz cx="7315200" cy="96012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1pPr>
    <a:lvl2pPr marL="4572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2pPr>
    <a:lvl3pPr marL="9144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3pPr>
    <a:lvl4pPr marL="13716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4pPr>
    <a:lvl5pPr marL="1828800" algn="l" rtl="0" fontAlgn="base">
      <a:spcBef>
        <a:spcPct val="0"/>
      </a:spcBef>
      <a:spcAft>
        <a:spcPct val="0"/>
      </a:spcAft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5pPr>
    <a:lvl6pPr marL="22860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6pPr>
    <a:lvl7pPr marL="27432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7pPr>
    <a:lvl8pPr marL="32004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8pPr>
    <a:lvl9pPr marL="3657600" algn="l" defTabSz="914400" rtl="0" eaLnBrk="1" latinLnBrk="0" hangingPunct="1">
      <a:defRPr sz="1000" kern="1200">
        <a:solidFill>
          <a:schemeClr val="tx1"/>
        </a:solidFill>
        <a:latin typeface="Garamond" pitchFamily="18" charset="0"/>
        <a:ea typeface="ＭＳ Ｐゴシック"/>
        <a:cs typeface="ＭＳ Ｐゴシック"/>
      </a:defRPr>
    </a:lvl9pPr>
  </p:defaultTextStyle>
  <p:extLst>
    <p:ext uri="{EFAFB233-063F-42B5-8137-9DF3F51BA10A}">
      <p15:sldGuideLst xmlns:p15="http://schemas.microsoft.com/office/powerpoint/2012/main">
        <p15:guide id="1" orient="horz" pos="2614" userDrawn="1">
          <p15:clr>
            <a:srgbClr val="A4A3A4"/>
          </p15:clr>
        </p15:guide>
        <p15:guide id="2" pos="295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y Conlee" initials="MC" lastIdx="1" clrIdx="0"/>
  <p:cmAuthor id="2" name="Mark Kerzner" initials="MK" lastIdx="6" clrIdx="1"/>
  <p:cmAuthor id="3" name="Mary Beth Conlee" initials="MBC" lastIdx="7" clrIdx="2"/>
  <p:cmAuthor id="4" name="Michelle" initials="M" lastIdx="5" clrIdx="3"/>
  <p:cmAuthor id="5" name="Tricia Murphy" initials="TM" lastIdx="4" clrIdx="4">
    <p:extLst/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A1A"/>
    <a:srgbClr val="D6B8EB"/>
    <a:srgbClr val="A77EC7"/>
    <a:srgbClr val="B59BC7"/>
    <a:srgbClr val="C7AAD9"/>
    <a:srgbClr val="C89EDF"/>
    <a:srgbClr val="BD83DF"/>
    <a:srgbClr val="CB89DF"/>
    <a:srgbClr val="CA87D1"/>
    <a:srgbClr val="CF86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969" autoAdjust="0"/>
    <p:restoredTop sz="86012" autoAdjust="0"/>
  </p:normalViewPr>
  <p:slideViewPr>
    <p:cSldViewPr>
      <p:cViewPr varScale="1">
        <p:scale>
          <a:sx n="82" d="100"/>
          <a:sy n="82" d="100"/>
        </p:scale>
        <p:origin x="2920" y="176"/>
      </p:cViewPr>
      <p:guideLst>
        <p:guide orient="horz" pos="2614"/>
        <p:guide pos="295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5" d="100"/>
        <a:sy n="85" d="100"/>
      </p:scale>
      <p:origin x="0" y="0"/>
    </p:cViewPr>
  </p:sorterViewPr>
  <p:notesViewPr>
    <p:cSldViewPr>
      <p:cViewPr>
        <p:scale>
          <a:sx n="80" d="100"/>
          <a:sy n="80" d="100"/>
        </p:scale>
        <p:origin x="3296" y="-56"/>
      </p:cViewPr>
      <p:guideLst>
        <p:guide orient="horz" pos="3024"/>
        <p:guide pos="2308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handoutMaster" Target="handoutMasters/handout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123363"/>
            <a:ext cx="3170238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144963" y="9123363"/>
            <a:ext cx="3170237" cy="4778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6603" tIns="48303" rIns="96603" bIns="48303" numCol="1" anchor="b" anchorCtr="0" compatLnSpc="1">
            <a:prstTxWarp prst="textNoShape">
              <a:avLst/>
            </a:prstTxWarp>
          </a:bodyPr>
          <a:lstStyle>
            <a:lvl1pPr algn="r" defTabSz="965200">
              <a:defRPr sz="1200">
                <a:latin typeface="Times New Roman" pitchFamily="18" charset="0"/>
              </a:defRPr>
            </a:lvl1pPr>
          </a:lstStyle>
          <a:p>
            <a:pPr>
              <a:defRPr/>
            </a:pPr>
            <a:fld id="{97E62689-8C7D-4291-A094-4E689FEC4C3B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29152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68375" y="473075"/>
            <a:ext cx="5365750" cy="4751388"/>
          </a:xfrm>
          <a:prstGeom prst="rect">
            <a:avLst/>
          </a:prstGeom>
          <a:noFill/>
          <a:ln w="12700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8280" name="Rectangle 8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1365250" y="9388475"/>
            <a:ext cx="4578350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1" compatLnSpc="1">
            <a:prstTxWarp prst="textNoShape">
              <a:avLst/>
            </a:prstTxWarp>
          </a:bodyPr>
          <a:lstStyle>
            <a:lvl1pPr algn="ctr" defTabSz="965200" eaLnBrk="0" hangingPunct="0">
              <a:defRPr sz="900">
                <a:latin typeface="Arial" charset="0"/>
              </a:defRPr>
            </a:lvl1pPr>
          </a:lstStyle>
          <a:p>
            <a:pPr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438281" name="Rectangle 9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6400800" y="9388475"/>
            <a:ext cx="554038" cy="1730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defTabSz="965200" eaLnBrk="0" hangingPunct="0">
              <a:defRPr b="1">
                <a:latin typeface="Arial" charset="0"/>
              </a:defRPr>
            </a:lvl1pPr>
          </a:lstStyle>
          <a:p>
            <a:pPr>
              <a:defRPr/>
            </a:pPr>
            <a:fld id="{EFAADD5D-AF76-45EE-AA5F-6DAC73BF167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438306" name="Text Box 34"/>
          <p:cNvSpPr txBox="1">
            <a:spLocks noChangeArrowheads="1"/>
          </p:cNvSpPr>
          <p:nvPr/>
        </p:nvSpPr>
        <p:spPr bwMode="auto">
          <a:xfrm>
            <a:off x="271463" y="5176838"/>
            <a:ext cx="617537" cy="254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96386" tIns="48194" rIns="96386" bIns="48194"/>
          <a:lstStyle/>
          <a:p>
            <a:pPr defTabSz="960438">
              <a:defRPr/>
            </a:pPr>
            <a:r>
              <a:rPr lang="en-US" sz="1200" b="1" u="sng" dirty="0">
                <a:latin typeface="Times New Roman" pitchFamily="18" charset="0"/>
                <a:cs typeface="Times New Roman" pitchFamily="18" charset="0"/>
              </a:rPr>
              <a:t>Notes:</a:t>
            </a:r>
          </a:p>
        </p:txBody>
      </p:sp>
      <p:sp>
        <p:nvSpPr>
          <p:cNvPr id="438309" name="Rectangle 37"/>
          <p:cNvSpPr>
            <a:spLocks noGrp="1" noChangeArrowheads="1"/>
          </p:cNvSpPr>
          <p:nvPr>
            <p:ph type="body" sz="quarter" idx="3"/>
          </p:nvPr>
        </p:nvSpPr>
        <p:spPr bwMode="gray">
          <a:xfrm>
            <a:off x="322263" y="5462588"/>
            <a:ext cx="6607175" cy="37512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537" tIns="45768" rIns="91537" bIns="45768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 noProof="0" dirty="0"/>
          </a:p>
        </p:txBody>
      </p:sp>
      <p:sp>
        <p:nvSpPr>
          <p:cNvPr id="438317" name="Line 45"/>
          <p:cNvSpPr>
            <a:spLocks noChangeShapeType="1"/>
          </p:cNvSpPr>
          <p:nvPr/>
        </p:nvSpPr>
        <p:spPr bwMode="auto">
          <a:xfrm>
            <a:off x="322263" y="9324975"/>
            <a:ext cx="6653212" cy="0"/>
          </a:xfrm>
          <a:prstGeom prst="line">
            <a:avLst/>
          </a:prstGeom>
          <a:noFill/>
          <a:ln w="12700">
            <a:solidFill>
              <a:srgbClr val="000000"/>
            </a:solidFill>
            <a:round/>
            <a:headEnd/>
            <a:tailEnd/>
          </a:ln>
          <a:effectLst/>
        </p:spPr>
        <p:txBody>
          <a:bodyPr/>
          <a:lstStyle/>
          <a:p>
            <a:pPr algn="ctr">
              <a:spcBef>
                <a:spcPct val="30000"/>
              </a:spcBef>
              <a:defRPr/>
            </a:pPr>
            <a:endParaRPr lang="en-US" dirty="0">
              <a:latin typeface="Garamond" pitchFamily="-110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3744030"/>
      </p:ext>
    </p:extLst>
  </p:cSld>
  <p:clrMap bg1="lt1" tx1="dk1" bg2="lt2" tx2="dk2" accent1="accent1" accent2="accent2" accent3="accent3" accent4="accent4" accent5="accent5" accent6="accent6" hlink="hlink" folHlink="folHlink"/>
  <p:hf dt="0"/>
  <p:notesStyle>
    <a:lvl1pPr marL="0" indent="0" algn="l" rtl="0" eaLnBrk="0" fontAlgn="base" hangingPunct="0">
      <a:spcBef>
        <a:spcPct val="30000"/>
      </a:spcBef>
      <a:spcAft>
        <a:spcPct val="0"/>
      </a:spcAft>
      <a:buSzPct val="65000"/>
      <a:buFont typeface="Wingdings" pitchFamily="2" charset="2"/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 pitchFamily="-110" charset="-128"/>
      </a:defRPr>
    </a:lvl1pPr>
    <a:lvl2pPr marL="282575" indent="0" algn="l" rtl="0" eaLnBrk="0" fontAlgn="base" hangingPunct="0">
      <a:spcBef>
        <a:spcPct val="30000"/>
      </a:spcBef>
      <a:spcAft>
        <a:spcPct val="0"/>
      </a:spcAft>
      <a:buNone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2pPr>
    <a:lvl3pPr marL="744538" indent="-173038" algn="l" rtl="0" eaLnBrk="0" fontAlgn="base" hangingPunct="0">
      <a:spcBef>
        <a:spcPct val="30000"/>
      </a:spcBef>
      <a:spcAft>
        <a:spcPct val="0"/>
      </a:spcAft>
      <a:buChar char="•"/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3pPr>
    <a:lvl4pPr marL="16002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4pPr>
    <a:lvl5pPr marL="2057400" indent="-228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110" charset="0"/>
        <a:ea typeface="ＭＳ Ｐゴシック" pitchFamily="-110" charset="-128"/>
        <a:cs typeface="ＭＳ Ｐゴシック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/>
          <p:cNvPicPr preferRelativeResize="0">
            <a:picLocks noChangeArrowheads="1"/>
          </p:cNvPicPr>
          <p:nvPr/>
        </p:nvPicPr>
        <p:blipFill rotWithShape="1">
          <a:blip r:embed="rId2"/>
          <a:srcRect t="19473"/>
          <a:stretch/>
        </p:blipFill>
        <p:spPr bwMode="auto">
          <a:xfrm>
            <a:off x="1" y="-1801"/>
            <a:ext cx="2498725" cy="83089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04898" name="Rectangle 2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2498726" y="4984481"/>
            <a:ext cx="6335713" cy="400685"/>
          </a:xfrm>
        </p:spPr>
        <p:txBody>
          <a:bodyPr>
            <a:spAutoFit/>
          </a:bodyPr>
          <a:lstStyle>
            <a:lvl1pPr marL="0" indent="0" algn="r">
              <a:buFont typeface="Monotype Sorts" pitchFamily="-110" charset="2"/>
              <a:buNone/>
              <a:defRPr sz="2000"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104900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704850" y="3226947"/>
            <a:ext cx="8121650" cy="1469414"/>
          </a:xfrm>
        </p:spPr>
        <p:txBody>
          <a:bodyPr lIns="91440" anchor="ctr"/>
          <a:lstStyle>
            <a:lvl1pPr algn="ctr" defTabSz="1825625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7EF9825-4C23-4085-A4E3-B5565466BD91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4762500" y="994975"/>
            <a:ext cx="4375150" cy="33210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4762500" y="4500439"/>
            <a:ext cx="4375150" cy="3322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40E4B02-67B9-4228-B08B-2561CEE6B94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4850" y="1"/>
            <a:ext cx="8667750" cy="83554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23495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62500" y="994976"/>
            <a:ext cx="4375150" cy="68284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86CC632-9864-46F1-8EAB-FCD3BB9CEC9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7" name="Rectangle 5"/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4950" y="994976"/>
            <a:ext cx="8902700" cy="6828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t" anchorCtr="0" compatLnSpc="1">
            <a:prstTxWarp prst="textNoShape">
              <a:avLst/>
            </a:prstTxWarp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03876" name="Rectangle 4"/>
          <p:cNvSpPr>
            <a:spLocks noGrp="1" noChangeArrowheads="1"/>
          </p:cNvSpPr>
          <p:nvPr>
            <p:ph type="sldNum" sz="quarter" idx="4"/>
          </p:nvPr>
        </p:nvSpPr>
        <p:spPr bwMode="hidden">
          <a:xfrm>
            <a:off x="8777288" y="7961724"/>
            <a:ext cx="546100" cy="2727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r" eaLnBrk="0" hangingPunct="0">
              <a:defRPr b="1">
                <a:solidFill>
                  <a:srgbClr val="000000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</a:lstStyle>
          <a:p>
            <a:pPr>
              <a:defRPr/>
            </a:pPr>
            <a:fld id="{77EF9825-4C23-4085-A4E3-B5565466BD91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  <p:sp>
        <p:nvSpPr>
          <p:cNvPr id="1103877" name="Rectangle 5"/>
          <p:cNvSpPr>
            <a:spLocks noGrp="1" noChangeArrowheads="1"/>
          </p:cNvSpPr>
          <p:nvPr>
            <p:ph type="ftr" sz="quarter" idx="3"/>
          </p:nvPr>
        </p:nvSpPr>
        <p:spPr bwMode="hidden">
          <a:xfrm>
            <a:off x="234950" y="8032785"/>
            <a:ext cx="5441950" cy="1384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algn="ctr" eaLnBrk="0" hangingPunct="0">
              <a:spcBef>
                <a:spcPct val="0"/>
              </a:spcBef>
              <a:defRPr sz="900">
                <a:solidFill>
                  <a:srgbClr val="000000"/>
                </a:solidFill>
                <a:latin typeface="+mn-lt"/>
                <a:ea typeface="+mn-ea"/>
                <a:cs typeface="+mn-cs"/>
              </a:defRPr>
            </a:lvl1pPr>
          </a:lstStyle>
          <a:p>
            <a:pPr algn="l">
              <a:defRPr/>
            </a:pPr>
            <a:r>
              <a:rPr lang="en-US" dirty="0"/>
              <a:t>Copyright © 2017 Elephant Scale. All rights reserved.</a:t>
            </a:r>
          </a:p>
        </p:txBody>
      </p:sp>
      <p:pic>
        <p:nvPicPr>
          <p:cNvPr id="1030" name="Picture 6"/>
          <p:cNvPicPr preferRelativeResize="0">
            <a:picLocks noChangeArrowheads="1"/>
          </p:cNvPicPr>
          <p:nvPr/>
        </p:nvPicPr>
        <p:blipFill>
          <a:blip r:embed="rId6"/>
          <a:srcRect/>
          <a:stretch>
            <a:fillRect/>
          </a:stretch>
        </p:blipFill>
        <p:spPr bwMode="ltGray">
          <a:xfrm>
            <a:off x="0" y="1"/>
            <a:ext cx="704850" cy="83554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31" name="Rectangle 7"/>
          <p:cNvSpPr>
            <a:spLocks noGrp="1" noChangeArrowheads="1"/>
          </p:cNvSpPr>
          <p:nvPr>
            <p:ph type="title"/>
          </p:nvPr>
        </p:nvSpPr>
        <p:spPr bwMode="invGray">
          <a:xfrm>
            <a:off x="704850" y="1"/>
            <a:ext cx="8667750" cy="835549"/>
          </a:xfrm>
          <a:prstGeom prst="rect">
            <a:avLst/>
          </a:prstGeom>
          <a:solidFill>
            <a:schemeClr val="tx2"/>
          </a:solidFill>
          <a:ln w="9525">
            <a:noFill/>
            <a:miter lim="800000"/>
            <a:headEnd/>
            <a:tailEnd/>
          </a:ln>
        </p:spPr>
        <p:txBody>
          <a:bodyPr vert="horz" wrap="square" lIns="92007" tIns="46005" rIns="92007" bIns="46005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56" r:id="rId1"/>
    <p:sldLayoutId id="2147483655" r:id="rId2"/>
    <p:sldLayoutId id="2147483654" r:id="rId3"/>
    <p:sldLayoutId id="2147483653" r:id="rId4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+mj-lt"/>
          <a:ea typeface="ＭＳ Ｐゴシック" pitchFamily="-110" charset="-128"/>
          <a:cs typeface="ＭＳ Ｐゴシック" pitchFamily="-11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  <a:ea typeface="ＭＳ Ｐゴシック" pitchFamily="-110" charset="-128"/>
          <a:cs typeface="ＭＳ Ｐゴシック" pitchFamily="-110" charset="-128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sz="2600" b="1">
          <a:solidFill>
            <a:schemeClr val="tx1"/>
          </a:solidFill>
          <a:latin typeface="Verdana" pitchFamily="-110" charset="0"/>
        </a:defRPr>
      </a:lvl9pPr>
    </p:titleStyle>
    <p:bodyStyle>
      <a:lvl1pPr marL="290513" indent="-290513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SzPct val="65000"/>
        <a:buFont typeface="Wingdings" pitchFamily="2" charset="2"/>
        <a:buChar char=""/>
        <a:defRPr sz="2400">
          <a:solidFill>
            <a:srgbClr val="000000"/>
          </a:solidFill>
          <a:latin typeface="+mn-lt"/>
          <a:ea typeface="ＭＳ Ｐゴシック" pitchFamily="-110" charset="-128"/>
          <a:cs typeface="ＭＳ Ｐゴシック" pitchFamily="-110" charset="-128"/>
        </a:defRPr>
      </a:lvl1pPr>
      <a:lvl2pPr marL="633413" indent="-228600" algn="l" rtl="0" eaLnBrk="0" fontAlgn="base" hangingPunct="0">
        <a:spcBef>
          <a:spcPct val="20000"/>
        </a:spcBef>
        <a:spcAft>
          <a:spcPct val="0"/>
        </a:spcAft>
        <a:buClr>
          <a:srgbClr val="000000"/>
        </a:buClr>
        <a:buChar char="–"/>
        <a:defRPr sz="22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2pPr>
      <a:lvl3pPr marL="969963" indent="-22225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3pPr>
      <a:lvl4pPr marL="1258888" indent="-228600" algn="l" rtl="0" eaLnBrk="0" fontAlgn="base" hangingPunct="0">
        <a:spcBef>
          <a:spcPct val="0"/>
        </a:spcBef>
        <a:spcAft>
          <a:spcPct val="0"/>
        </a:spcAft>
        <a:buClr>
          <a:srgbClr val="5F5F5F"/>
        </a:buClr>
        <a:buSzPct val="65000"/>
        <a:buFont typeface="Arial Bold" pitchFamily="34" charset="0"/>
        <a:buChar char="‒"/>
        <a:defRPr lang="en-US" dirty="0">
          <a:solidFill>
            <a:srgbClr val="000000"/>
          </a:solidFill>
          <a:latin typeface="+mn-lt"/>
          <a:ea typeface="ＭＳ Ｐゴシック" pitchFamily="-110" charset="-128"/>
          <a:cs typeface="ＭＳ Ｐゴシック"/>
        </a:defRPr>
      </a:lvl4pPr>
      <a:lvl5pPr marL="20558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  <a:cs typeface="ＭＳ Ｐゴシック"/>
        </a:defRPr>
      </a:lvl5pPr>
      <a:lvl6pPr marL="25130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6pPr>
      <a:lvl7pPr marL="29702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7pPr>
      <a:lvl8pPr marL="34274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8pPr>
      <a:lvl9pPr marL="3884613" indent="-230188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defRPr sz="800">
          <a:solidFill>
            <a:schemeClr val="tx1"/>
          </a:solidFill>
          <a:latin typeface="Times New Roman" pitchFamily="-110" charset="0"/>
          <a:ea typeface="ＭＳ Ｐゴシック" pitchFamily="-110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 sz="quarter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/>
        <p:txBody>
          <a:bodyPr wrap="square">
            <a:noAutofit/>
          </a:bodyPr>
          <a:lstStyle/>
          <a:p>
            <a:r>
              <a:rPr sz="4200" b="1" i="0">
                <a:latin typeface="Times New Roman"/>
              </a:rPr>
              <a:t>Module 7 — High-Volume Fan-Out Best Practices</a:t>
            </a:r>
            <a:endParaRPr sz="4200" b="1" i="0">
              <a:latin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The fan-out problem: 10M msg/sec, 10 overlapping consumers</a:t>
            </a:r>
          </a:p>
          <a:p>
            <a:r>
              <a:t> Topic design strategies: single topic vs pre-filtered sub-topics</a:t>
            </a:r>
          </a:p>
          <a:p>
            <a:r>
              <a:t> Partition key design and consumer group topology</a:t>
            </a:r>
          </a:p>
          <a:p>
            <a:r>
              <a:t> Efficient filtering: headers, schemas, Kafka Streams branching, Flink SQL</a:t>
            </a:r>
          </a:p>
          <a:p>
            <a:r>
              <a:t> Benchmark: duplication vs filtering</a:t>
            </a:r>
          </a:p>
          <a:p>
            <a:r>
              <a:t> KEDA autoscaling based on consumer lag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Fan-Out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Scenario:</a:t>
            </a:r>
          </a:p>
          <a:p>
            <a:r>
              <a:t> A dataset arrives at</a:t>
            </a:r>
            <a:r>
              <a:rPr b="1"/>
              <a:t> 10 million messages per second</a:t>
            </a:r>
          </a:p>
          <a:p>
            <a:r>
              <a:rPr b="1"/>
              <a:t> 10 consumer teams</a:t>
            </a:r>
            <a:r>
              <a:t> each need a</a:t>
            </a:r>
            <a:r>
              <a:rPr b="1"/>
              <a:t> different but overlapping subset</a:t>
            </a:r>
          </a:p>
          <a:p>
            <a:r>
              <a:t> Goal: minimize storage and network duplication on Kafka</a:t>
            </a:r>
          </a:p>
          <a:p>
            <a:r>
              <a:t> Goal: minimize consumer CPU overhead for filtering unwanted messages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Topic Design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>
            <a:r>
              <a:rPr b="1"/>
              <a:t> Rule of thumb:</a:t>
            </a:r>
            <a:r>
              <a:t> topic proliferation trades CPU for storage. At 10M msg/sec, every deserialization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914400"/>
          <a:ext cx="89154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</a:tblGrid>
              <a:tr h="457200">
                <a:tc>
                  <a:txBody>
                    <a:bodyPr/>
                    <a:lstStyle/>
                    <a:p>
                      <a: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Network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Consumer 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Ops Complexity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 broad topic + client-side filter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10 pre-filtered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10×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10× producer writes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High (topic sprawl)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Streams-branched derived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Moderate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1 topic + header-based skip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Low–Moderate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Low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Partition Key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Partition by the field that co-locates related data for consumers:</a:t>
            </a:r>
          </a:p>
          <a:p/>
          <a:p/>
          <a:p>
            <a:r>
              <a:rPr b="1"/>
              <a:t> Anti-pattern:</a:t>
            </a:r>
            <a:r>
              <a:t> random or null keys → even distribution but no co-location, no filtering leverage.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15400" cy="764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Header-Based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Producers tag messages with routing metadata:</a:t>
            </a:r>
          </a:p>
          <a:p/>
          <a:p/>
          <a:p/>
          <a:p/>
          <a:p>
            <a:r>
              <a:t> Consumers skip by header —</a:t>
            </a:r>
            <a:r>
              <a:rPr b="1"/>
              <a:t> no deserialization for unwanted records:</a:t>
            </a:r>
          </a:p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3312"/>
            <a:ext cx="7416800" cy="2654300"/>
          </a:xfrm>
          <a:prstGeom prst="rect">
            <a:avLst/>
          </a:prstGeom>
        </p:spPr>
      </p:pic>
      <p:pic>
        <p:nvPicPr>
          <p:cNvPr id="6" name="Picture 5" descr="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47872"/>
            <a:ext cx="109220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Header Filtering: CPU Savings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 10M msg/sec with 33% of messages wanted per consumer:</a:t>
            </a:r>
          </a:p>
          <a:p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792224"/>
          <a:ext cx="8915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297180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t>Approach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Deserialization calls/sec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Relative CPU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Full deserialize 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10,000,000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1× (baseline)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Header skip, deserialize wanted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~0.33×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Schema-Based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Using Avro union types, consumers can deserialize only the outer envelope first:</a:t>
            </a:r>
          </a:p>
          <a:p/>
          <a:p/>
          <a:p/>
          <a:p>
            <a:r>
              <a:t> Consumer reads</a:t>
            </a:r>
            <a:r>
              <a:rPr>
                <a:latin typeface="Courier New"/>
              </a:rPr>
              <a:t> region</a:t>
            </a:r>
            <a:r>
              <a:t> from outer record → decides whether to parse</a:t>
            </a:r>
            <a:r>
              <a:rPr>
                <a:latin typeface="Courier New"/>
              </a:rPr>
              <a:t> payload</a:t>
            </a:r>
            <a:r>
              <a:t> .</a:t>
            </a:r>
          </a:p>
          <a:p>
            <a:r>
              <a:t> Stronger guarantees than headers (schema-enforced) but higher coupling to Schema Registry.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8915400" cy="17755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Kafka Streams Branching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Server-side pre-filtering — removes CPU cost from all consumers:</a:t>
            </a:r>
          </a:p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92224"/>
            <a:ext cx="118364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Flink SQL — Declarative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Declarative SQL alternative to Streams branching (Flink SQL is the 2026 direction;</a:t>
            </a:r>
            <a:r>
              <a:t> ksqlDB has been de-emphasized by Confluent and Flink is in this course's lab env):</a:t>
            </a:r>
          </a:p>
          <a:p/>
          <a:p/>
          <a:p/>
          <a:p/>
          <a:p/>
          <a:p>
            <a:r>
              <a:t> Continuous queries keep derived topics updated as new events arrive.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31136"/>
            <a:ext cx="10464800" cy="37211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Filtering Strategy Decision Tree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0160000" cy="31877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KEDA Autoscaler: Scale on Lag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/>
          <a:p/>
          <a:p/>
          <a:p/>
          <a:p/>
          <a:p>
            <a:r>
              <a:t> Scale up when lag &gt; 10,000. Scale down after</a:t>
            </a:r>
            <a:r>
              <a:rPr>
                <a:latin typeface="Courier New"/>
              </a:rPr>
              <a:t> cooldownPeriod</a:t>
            </a:r>
            <a:r>
              <a:t> seconds of low lag.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11684000" cy="5321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KEDA: Why Cap maxReplicaCount?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/>
          <a:p>
            <a:r>
              <a:t> Adding more consumers than partitions</a:t>
            </a:r>
            <a:r>
              <a:rPr b="1"/>
              <a:t> wastes resources</a:t>
            </a:r>
            <a:r>
              <a:t> — idle replicas with no partitions assigned.</a:t>
            </a:r>
          </a:p>
          <a:p/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pic>
        <p:nvPicPr>
          <p:cNvPr id="5" name="Picture 4" descr="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00"/>
            <a:ext cx="8940800" cy="1320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Benchmark: Duplication vs Filtering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At 50,000 messages with 33% wanted (emea):</a:t>
            </a:r>
          </a:p>
          <a:p/>
          <a:p/>
          <a:p/>
          <a:p/>
          <a:p>
            <a:r>
              <a:rPr b="1"/>
              <a:t> Break-even point:</a:t>
            </a:r>
            <a:r>
              <a:t> when wanted fraction &gt; ~80%, full deserialization may be cheaper (no header overhead).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" y="1353312"/>
          <a:ext cx="89154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8850"/>
                <a:gridCol w="2228850"/>
                <a:gridCol w="2228850"/>
                <a:gridCol w="2228850"/>
              </a:tblGrid>
              <a:tr h="457200">
                <a:tc>
                  <a:txBody>
                    <a:bodyPr/>
                    <a:lstStyle/>
                    <a:p>
                      <a:r>
                        <a:t>Strategy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Time (s)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Throughput (msg/s)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Full deserialize all 50K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All messages deserialized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Header-skip, deserialize emea only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~0.33×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~3× faster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Skip at metadata level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7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 Single broad topic + header filtering is the most storage-efficient fan-out design</a:t>
            </a:r>
          </a:p>
          <a:p>
            <a:r>
              <a:t> Header-based skip avoids deserialization cost for unwanted messages — 3× CPU savings at 33% selectivity</a:t>
            </a:r>
          </a:p>
          <a:p>
            <a:r>
              <a:t> Schema-based filtering provides stronger guarantees but tighter Schema Registry coupling</a:t>
            </a:r>
          </a:p>
          <a:p>
            <a:r>
              <a:t> Kafka Streams branching moves filtering to the server side — best for static, high-volume cases</a:t>
            </a:r>
          </a:p>
          <a:p>
            <a:r>
              <a:t> Flink SQL provides declarative filtering without redeployment (the modern successor to ksqlDB)</a:t>
            </a:r>
          </a:p>
          <a:p>
            <a:r>
              <a:t> KEDA autoscaling ties consumer replica count to Prometheus lag metric</a:t>
            </a:r>
          </a:p>
          <a:p>
            <a:r>
              <a:t> Cap</a:t>
            </a:r>
            <a:r>
              <a:rPr>
                <a:latin typeface="Courier New"/>
              </a:rPr>
              <a:t> maxReplicaCount</a:t>
            </a:r>
            <a:r>
              <a:t> to partition count per consumer group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Lab Preview — Lab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1"/>
              <a:t> Design and Validate a Fan-Out Strategy</a:t>
            </a:r>
          </a:p>
          <a:p>
            <a:r>
              <a:t> You will:</a:t>
            </a:r>
          </a:p>
          <a:p>
            <a:r>
              <a:t> Create a broad topic and produce events with routing headers</a:t>
            </a:r>
          </a:p>
          <a:p>
            <a:r>
              <a:t> Implement header-based filtering across 3 consumer groups</a:t>
            </a:r>
          </a:p>
          <a:p>
            <a:r>
              <a:t> Benchmark full deserialization vs header-skip</a:t>
            </a:r>
          </a:p>
          <a:p>
            <a:r>
              <a:t> Review Kafka Streams branching pseudocode</a:t>
            </a:r>
          </a:p>
          <a:p>
            <a:r>
              <a:t> Configure and test a KEDA ScaledObject tied to consumer lag</a:t>
            </a:r>
          </a:p>
          <a:p>
            <a:r>
              <a:t> Environment: Docker Compose (3-broker Kafka, Prometheus, KEDA optional)</a:t>
            </a:r>
            <a:r>
              <a:t> Time: 75–90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8065008"/>
            <a:ext cx="8915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000000"/>
                </a:solidFill>
              </a:rPr>
              <a:t>Copyright © 2026 by Elephant Scale, All Rights Reserved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Pc_New">
  <a:themeElements>
    <a:clrScheme name="LPc_New 7">
      <a:dk1>
        <a:srgbClr val="000000"/>
      </a:dk1>
      <a:lt1>
        <a:srgbClr val="FFFFFF"/>
      </a:lt1>
      <a:dk2>
        <a:srgbClr val="CCECFF"/>
      </a:dk2>
      <a:lt2>
        <a:srgbClr val="003399"/>
      </a:lt2>
      <a:accent1>
        <a:srgbClr val="0794FF"/>
      </a:accent1>
      <a:accent2>
        <a:srgbClr val="800080"/>
      </a:accent2>
      <a:accent3>
        <a:srgbClr val="E2F4FF"/>
      </a:accent3>
      <a:accent4>
        <a:srgbClr val="DADADA"/>
      </a:accent4>
      <a:accent5>
        <a:srgbClr val="AAC8FF"/>
      </a:accent5>
      <a:accent6>
        <a:srgbClr val="730073"/>
      </a:accent6>
      <a:hlink>
        <a:srgbClr val="FF0000"/>
      </a:hlink>
      <a:folHlink>
        <a:srgbClr val="FFFFD2"/>
      </a:folHlink>
    </a:clrScheme>
    <a:fontScheme name="LPc_New">
      <a:majorFont>
        <a:latin typeface="Verdan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30000"/>
          </a:spcBef>
          <a:spcAft>
            <a:spcPct val="0"/>
          </a:spcAft>
          <a:buClrTx/>
          <a:buSzTx/>
          <a:buFontTx/>
          <a:buNone/>
          <a:tabLst/>
          <a:defRPr kumimoji="0" lang="en-US" sz="10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Garamond" pitchFamily="-110" charset="0"/>
          </a:defRPr>
        </a:defPPr>
      </a:lstStyle>
    </a:lnDef>
  </a:objectDefaults>
  <a:extraClrSchemeLst>
    <a:extraClrScheme>
      <a:clrScheme name="LPc_New 1">
        <a:dk1>
          <a:srgbClr val="000099"/>
        </a:dk1>
        <a:lt1>
          <a:srgbClr val="FFFFFF"/>
        </a:lt1>
        <a:dk2>
          <a:srgbClr val="0000FF"/>
        </a:dk2>
        <a:lt2>
          <a:srgbClr val="FFFF00"/>
        </a:lt2>
        <a:accent1>
          <a:srgbClr val="FF6633"/>
        </a:accent1>
        <a:accent2>
          <a:srgbClr val="FF00FF"/>
        </a:accent2>
        <a:accent3>
          <a:srgbClr val="AAAAFF"/>
        </a:accent3>
        <a:accent4>
          <a:srgbClr val="DADADA"/>
        </a:accent4>
        <a:accent5>
          <a:srgbClr val="FFB8AD"/>
        </a:accent5>
        <a:accent6>
          <a:srgbClr val="E700E7"/>
        </a:accent6>
        <a:hlink>
          <a:srgbClr val="FF0000"/>
        </a:hlink>
        <a:folHlink>
          <a:srgbClr val="8080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2">
        <a:dk1>
          <a:srgbClr val="000066"/>
        </a:dk1>
        <a:lt1>
          <a:srgbClr val="CCECFF"/>
        </a:lt1>
        <a:dk2>
          <a:srgbClr val="000080"/>
        </a:dk2>
        <a:lt2>
          <a:srgbClr val="00000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000056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3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B2B2B2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D5D5D5"/>
        </a:accent5>
        <a:accent6>
          <a:srgbClr val="797979"/>
        </a:accent6>
        <a:hlink>
          <a:srgbClr val="5F5F5F"/>
        </a:hlink>
        <a:folHlink>
          <a:srgbClr val="DDDDDD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LPc_New 4">
        <a:dk1>
          <a:srgbClr val="000000"/>
        </a:dk1>
        <a:lt1>
          <a:srgbClr val="FFFFFF"/>
        </a:lt1>
        <a:dk2>
          <a:srgbClr val="660033"/>
        </a:dk2>
        <a:lt2>
          <a:srgbClr val="FFFF66"/>
        </a:lt2>
        <a:accent1>
          <a:srgbClr val="FF0033"/>
        </a:accent1>
        <a:accent2>
          <a:srgbClr val="CC6600"/>
        </a:accent2>
        <a:accent3>
          <a:srgbClr val="B8AAAD"/>
        </a:accent3>
        <a:accent4>
          <a:srgbClr val="DADADA"/>
        </a:accent4>
        <a:accent5>
          <a:srgbClr val="FFAAAD"/>
        </a:accent5>
        <a:accent6>
          <a:srgbClr val="B95C00"/>
        </a:accent6>
        <a:hlink>
          <a:srgbClr val="999933"/>
        </a:hlink>
        <a:folHlink>
          <a:srgbClr val="A5002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5">
        <a:dk1>
          <a:srgbClr val="000000"/>
        </a:dk1>
        <a:lt1>
          <a:srgbClr val="FFFFFF"/>
        </a:lt1>
        <a:dk2>
          <a:srgbClr val="CCECFF"/>
        </a:dk2>
        <a:lt2>
          <a:srgbClr val="000080"/>
        </a:lt2>
        <a:accent1>
          <a:srgbClr val="9999FF"/>
        </a:accent1>
        <a:accent2>
          <a:srgbClr val="CC00FF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B900E7"/>
        </a:accent6>
        <a:hlink>
          <a:srgbClr val="00CC99"/>
        </a:hlink>
        <a:folHlink>
          <a:srgbClr val="0099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6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9999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CACA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LPc_New 7">
        <a:dk1>
          <a:srgbClr val="000000"/>
        </a:dk1>
        <a:lt1>
          <a:srgbClr val="FFFFFF"/>
        </a:lt1>
        <a:dk2>
          <a:srgbClr val="CCECFF"/>
        </a:dk2>
        <a:lt2>
          <a:srgbClr val="003399"/>
        </a:lt2>
        <a:accent1>
          <a:srgbClr val="0794FF"/>
        </a:accent1>
        <a:accent2>
          <a:srgbClr val="800080"/>
        </a:accent2>
        <a:accent3>
          <a:srgbClr val="E2F4FF"/>
        </a:accent3>
        <a:accent4>
          <a:srgbClr val="DADADA"/>
        </a:accent4>
        <a:accent5>
          <a:srgbClr val="AAC8FF"/>
        </a:accent5>
        <a:accent6>
          <a:srgbClr val="730073"/>
        </a:accent6>
        <a:hlink>
          <a:srgbClr val="FF0000"/>
        </a:hlink>
        <a:folHlink>
          <a:srgbClr val="FFFFD2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378292</TotalTime>
  <Words>0</Words>
  <Application>Microsoft Macintosh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9" baseType="lpstr">
      <vt:lpstr>ＭＳ Ｐゴシック</vt:lpstr>
      <vt:lpstr>Arial</vt:lpstr>
      <vt:lpstr>Arial Bold</vt:lpstr>
      <vt:lpstr>Garamond</vt:lpstr>
      <vt:lpstr>Monotype Sorts</vt:lpstr>
      <vt:lpstr>Times New Roman</vt:lpstr>
      <vt:lpstr>Verdana</vt:lpstr>
      <vt:lpstr>Wingdings</vt:lpstr>
      <vt:lpstr>LPc_New</vt:lpstr>
    </vt:vector>
  </TitlesOfParts>
  <Company>Elephant Scale LLC &amp; LearningPatterns Inc.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</dc:title>
  <dc:subject>Spark</dc:subject>
  <dc:creator>Elephant Scale</dc:creator>
  <cp:lastModifiedBy>fateme</cp:lastModifiedBy>
  <cp:revision>4135</cp:revision>
  <cp:lastPrinted>2010-01-03T02:41:41Z</cp:lastPrinted>
  <dcterms:created xsi:type="dcterms:W3CDTF">2010-07-13T15:22:01Z</dcterms:created>
  <dcterms:modified xsi:type="dcterms:W3CDTF">2019-10-02T11:26:38Z</dcterms:modified>
</cp:coreProperties>
</file>