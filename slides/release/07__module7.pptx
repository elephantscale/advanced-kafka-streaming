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"best practices" payoff of the whole module. The one number that matters most is partition count — size it for peak, because repartitioning a live high-volume topic is genuinely painful. Give them the formula out loud: target throughput ÷ per-consumer throughput, rounded up for headroom. Compression is the cheapest win on the slide — lz4 or zstd cut network and disk dramatically for near-zero effort, so it's the first knob I'd turn.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Frame every knob as a point on a line, not a right answer. The teaching move: set the durability floor FIRST — acks and min.insync.replicas — based on whether this topic is ingestion or a system of record, THEN tune batching and compression for speed underneath it. batch.size plus linger.ms is the highest-leverage producer change: a few milliseconds of latency buys big throughput. Tie it back to fan-out — ingestion often runs acks=1, the downstream record store runs acks=all.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7 — High-Volume Fan-Out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fan-out problem: 10M msg/sec, 10 overlapping consumers</a:t>
            </a:r>
          </a:p>
          <a:p>
            <a:r>
              <a:t> Topic design strategies: single topic vs pre-filtered sub-topics</a:t>
            </a:r>
          </a:p>
          <a:p>
            <a:r>
              <a:t> Partition key design and consumer group topology</a:t>
            </a:r>
          </a:p>
          <a:p>
            <a:r>
              <a:t> Efficient filtering: headers, schemas, Kafka Streams branching, Flink SQL</a:t>
            </a:r>
          </a:p>
          <a:p>
            <a:r>
              <a:t> Benchmark: duplication vs filtering</a:t>
            </a:r>
          </a:p>
          <a:p>
            <a:r>
              <a:t> Broker and topic configuration for high volume</a:t>
            </a:r>
          </a:p>
          <a:p>
            <a:r>
              <a:t> KEDA autoscaling based on consumer 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Fan-Out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</a:p>
          <a:p>
            <a:r>
              <a:t> A dataset arrives at</a:t>
            </a:r>
            <a:r>
              <a:rPr b="1"/>
              <a:t> 10 million messages per second</a:t>
            </a:r>
          </a:p>
          <a:p>
            <a:r>
              <a:rPr b="1"/>
              <a:t> 10 consumer teams</a:t>
            </a:r>
            <a:r>
              <a:t> each need a</a:t>
            </a:r>
            <a:r>
              <a:rPr b="1"/>
              <a:t> different but overlapping subset</a:t>
            </a:r>
          </a:p>
          <a:p>
            <a:r>
              <a:t> Goal: minimize storage and network duplication on Kafka</a:t>
            </a:r>
          </a:p>
          <a:p>
            <a:r>
              <a:t> Goal: minimize consumer CPU overhead for filtering unwanted messages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Fan-Out, Intuitively — The Mailroom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One firehose of mail; ten desks, each wanting a different slice.</a:t>
            </a:r>
          </a:p>
          <a:p>
            <a:r>
              <a:rPr b="1"/>
              <a:t> Photocopy the whole paper for every desk</a:t>
            </a:r>
            <a:r>
              <a:t> — dead simple, but 10× the paper and the copier runs hot.</a:t>
            </a:r>
            <a:r>
              <a:rPr i="1"/>
              <a:t> (= duplicate the topic per consumer.)</a:t>
            </a:r>
          </a:p>
          <a:p>
            <a:r>
              <a:rPr b="1"/>
              <a:t> Sort and tag at the mailroom; each desk grabs only its pile</a:t>
            </a:r>
            <a:r>
              <a:t> — a little upfront work, huge savings downstream.</a:t>
            </a:r>
            <a:r>
              <a:rPr i="1"/>
              <a:t> (= header / stream filtering.)</a:t>
            </a:r>
          </a:p>
          <a:p>
            <a:r>
              <a:t> The whole module is one question:</a:t>
            </a:r>
            <a:r>
              <a:rPr b="1"/>
              <a:t> where do you pay — storage (copies) or CPU</a:t>
            </a:r>
          </a:p>
          <a:p>
            <a:endParaRPr b="1"/>
          </a:p>
          <a:p>
            <a:endParaRPr b="1"/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tima-miroshnichenko-61701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5139531"/>
            <a:ext cx="3677412" cy="24518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Design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rPr b="1"/>
              <a:t> Rule of thumb:</a:t>
            </a:r>
            <a:r>
              <a:t> topic proliferation trades CPU for storage. At 10M msg/sec, every deserialization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Consumer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Ops Complexity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 broad topic + client-side 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10 pre-filtered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10× producer writes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 (topic sprawl)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Streams-branched derived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1 topic + header-based 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Low–Moderate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Partition Key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Partition by the field that co-locates related data for consumers:</a:t>
            </a:r>
          </a:p>
          <a:p>
            <a:r>
              <a:rPr b="1"/>
              <a:t> Anti-pattern:</a:t>
            </a:r>
            <a:r>
              <a:t> random or null keys → even distribution but no co-location, no filtering leverage.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05931"/>
            <a:ext cx="8915400" cy="764440"/>
          </a:xfrm>
          <a:prstGeom prst="rect">
            <a:avLst/>
          </a:prstGeom>
        </p:spPr>
      </p:pic>
      <p:pic>
        <p:nvPicPr>
          <p:cNvPr id="6" name="Picture 5" descr="pexels-ingo-147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725" y="5444331"/>
            <a:ext cx="3753612" cy="21266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Header-Based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Producers tag messages with routing metadata: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Consumers skip by header —</a:t>
            </a:r>
            <a:r>
              <a:rPr b="1" dirty="0"/>
              <a:t> no deserialization for unwanted records:</a:t>
            </a:r>
          </a:p>
          <a:p>
            <a:endParaRPr b="1" dirty="0"/>
          </a:p>
          <a:p>
            <a:endParaRPr b="1"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63" y="1643893"/>
            <a:ext cx="7416800" cy="26543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63" y="5537067"/>
            <a:ext cx="8753775" cy="10585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Header Filtering: CPU Savings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 10M msg/sec with 33% of messages wanted per consumer: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080892"/>
              </p:ext>
            </p:extLst>
          </p:nvPr>
        </p:nvGraphicFramePr>
        <p:xfrm>
          <a:off x="237744" y="1862930"/>
          <a:ext cx="8915400" cy="14837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6494">
                <a:tc>
                  <a:txBody>
                    <a:bodyPr/>
                    <a:lstStyle/>
                    <a:p>
                      <a: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Deserialization calls/sec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Relative CPU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Full deserialize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10,000,000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1× (baseline)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Header skip, deserialize wanted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~0.33×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3× CPU Actually Saves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header-skip win isn't abstract — price it out at</a:t>
            </a:r>
            <a:r>
              <a:rPr b="1"/>
              <a:t> 10M msg/sec, 10 consumer teams</a:t>
            </a:r>
            <a:r>
              <a:t> :</a:t>
            </a:r>
          </a:p>
          <a:p>
            <a:r>
              <a:t> Full-deserialize in every consumer: say each needs</a:t>
            </a:r>
            <a:r>
              <a:rPr b="1"/>
              <a:t> ~20 cores</a:t>
            </a:r>
            <a:r>
              <a:t> to keep up →</a:t>
            </a:r>
            <a:r>
              <a:rPr b="1"/>
              <a:t> ~200 cores</a:t>
            </a:r>
            <a:r>
              <a:t> .</a:t>
            </a:r>
          </a:p>
          <a:p>
            <a:r>
              <a:t> Header-skip (33% wanted):</a:t>
            </a:r>
            <a:r>
              <a:rPr b="1"/>
              <a:t> ~7 cores</a:t>
            </a:r>
            <a:r>
              <a:t> each →</a:t>
            </a:r>
            <a:r>
              <a:rPr b="1"/>
              <a:t> ~70 cores</a:t>
            </a:r>
            <a:r>
              <a:t> .</a:t>
            </a:r>
          </a:p>
          <a:p>
            <a:r>
              <a:rPr b="1"/>
              <a:t> ~130 cores saved, continuously</a:t>
            </a:r>
            <a:r>
              <a:t> — on cloud compute, a five- to six-figure annual line item for a one-line header check.</a:t>
            </a:r>
          </a:p>
          <a:p>
            <a:r>
              <a:rPr i="1"/>
              <a:t> (Core counts are illustrative — the point is the ratio, not the exact number.)</a:t>
            </a:r>
          </a:p>
          <a:p>
            <a:endParaRPr i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Schema-Based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Using Avro union types, consumers can deserialize only the outer envelope first: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Consumer reads</a:t>
            </a:r>
            <a:r>
              <a:rPr dirty="0">
                <a:latin typeface="Courier New"/>
              </a:rPr>
              <a:t> region</a:t>
            </a:r>
            <a:r>
              <a:rPr dirty="0"/>
              <a:t> from outer record → decides whether to parse</a:t>
            </a:r>
            <a:r>
              <a:rPr dirty="0">
                <a:latin typeface="Courier New"/>
              </a:rPr>
              <a:t> payload</a:t>
            </a:r>
            <a:r>
              <a:rPr dirty="0"/>
              <a:t> .</a:t>
            </a:r>
          </a:p>
          <a:p>
            <a:r>
              <a:rPr dirty="0"/>
              <a:t> Stronger guarantees than headers (schema-enforced) but higher coupling to Schema Registry.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2167731"/>
            <a:ext cx="8915400" cy="1775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Branching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Server-side pre-filtering — removes CPU cost from all consumers: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5285"/>
            <a:ext cx="9235017" cy="2487113"/>
          </a:xfrm>
          <a:prstGeom prst="rect">
            <a:avLst/>
          </a:prstGeom>
        </p:spPr>
      </p:pic>
      <p:pic>
        <p:nvPicPr>
          <p:cNvPr id="6" name="Picture 5" descr="pexels-narmin-aslanli-701641061-306061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4532066"/>
            <a:ext cx="2559113" cy="34121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SQL — Declarative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Declarative SQL alternative to Streams branching (Flink SQL is the 2026 direction; ksqlDB has been de-emphasized by Confluent and Flink is in this course's lab env):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Continuous queries keep derived topics updated as new events arrive.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" y="3401071"/>
            <a:ext cx="9353550" cy="3325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Filtering Strategy Decision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8" y="1558131"/>
            <a:ext cx="9218002" cy="28921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KEDA Autoscaler: Scale on Lag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dirty="0"/>
          </a:p>
          <a:p>
            <a:endParaRPr dirty="0"/>
          </a:p>
          <a:p>
            <a:r>
              <a:rPr dirty="0"/>
              <a:t> Scale up when lag &gt; 10,000. Scale down after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cooldownPeriod</a:t>
            </a:r>
            <a:r>
              <a:rPr dirty="0"/>
              <a:t> seconds of low lag.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12" y="1054113"/>
            <a:ext cx="8755179" cy="39874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KEDA: Why Cap maxReplicaCount?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Adding more consumers than partitions</a:t>
            </a:r>
            <a:r>
              <a:rPr b="1" dirty="0"/>
              <a:t> wastes resources</a:t>
            </a:r>
            <a:r>
              <a:rPr dirty="0"/>
              <a:t> — idle replicas with no partitions assigned.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" y="1329531"/>
            <a:ext cx="89408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Benchmark: Duplication vs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 50,000 messages with 33% wanted (emea):</a:t>
            </a:r>
          </a:p>
          <a:p>
            <a:r>
              <a:rPr b="1"/>
              <a:t> Break-even point:</a:t>
            </a:r>
            <a:r>
              <a:t> when wanted fraction &gt; ~80%, full deserialization may be cheaper (no header overhead).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364613"/>
              </p:ext>
            </p:extLst>
          </p:nvPr>
        </p:nvGraphicFramePr>
        <p:xfrm>
          <a:off x="217487" y="2645850"/>
          <a:ext cx="8915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8582">
                <a:tc>
                  <a:txBody>
                    <a:bodyPr/>
                    <a:lstStyle/>
                    <a:p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Throughput (msg/s)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Full deserialize all 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messages deserialized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Header-skip, deserialize emea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~0.33×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~3× faster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Skip at metadata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Picture 5" descr="pexels-shvetsa-36830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438" y="5676618"/>
            <a:ext cx="3220212" cy="21468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Broker &amp; Topic Configuration for High Volume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 fan-out scale, configuration is the difference between a cluster that keeps up and one that falls over. The knobs that matter most:</a:t>
            </a:r>
          </a:p>
          <a:p>
            <a:r>
              <a:rPr b="1"/>
              <a:t> Partitions</a:t>
            </a:r>
            <a:r>
              <a:t> — the unit of parallelism; size for</a:t>
            </a:r>
            <a:r>
              <a:rPr b="1"/>
              <a:t> peak</a:t>
            </a:r>
            <a:r>
              <a:t> consumer throughput, not today's load. More partitions = more parallel consumers, but also more open files and longer rebalances.</a:t>
            </a:r>
          </a:p>
          <a:p>
            <a:r>
              <a:rPr b="1"/>
              <a:t> Replication factor = 3</a:t>
            </a:r>
            <a:r>
              <a:t> with</a:t>
            </a:r>
          </a:p>
          <a:p>
            <a:r>
              <a:rPr b="1" i="1"/>
              <a:t> min.insync.replicas=2</a:t>
            </a:r>
            <a:r>
              <a:t> — the standard durable-yet-available setting for production topics.</a:t>
            </a:r>
          </a:p>
          <a:p>
            <a:r>
              <a:rPr b="1" i="1"/>
              <a:t> retention.ms</a:t>
            </a:r>
          </a:p>
          <a:p>
            <a:r>
              <a:t> — cap what you keep; high-volume topics fill disk fast, so bound retention deliberately.</a:t>
            </a:r>
          </a:p>
          <a:p>
            <a:r>
              <a:rPr b="1" i="1"/>
              <a:t> segment.bytes</a:t>
            </a:r>
          </a:p>
          <a:p>
            <a:r>
              <a:t> — larger segments mean fewer files and less overhead at high throughput.</a:t>
            </a:r>
          </a:p>
          <a:p>
            <a:r>
              <a:rPr b="1" i="1"/>
              <a:t> compression.type=producer</a:t>
            </a:r>
          </a:p>
          <a:p>
            <a:r>
              <a:t> at the topic — the broker stores exactly what the producer sent; use</a:t>
            </a:r>
            <a:r>
              <a:rPr b="1"/>
              <a:t> lz4</a:t>
            </a:r>
            <a:r>
              <a:t> (low CPU) or</a:t>
            </a:r>
            <a:r>
              <a:rPr b="1"/>
              <a:t> zstd</a:t>
            </a:r>
            <a:r>
              <a:t> (best ratio) for big network and disk savings.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Tuning Throughput vs Durability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high-volume setting is a point on the throughput ↔ durability line — choose it deliberately:</a:t>
            </a:r>
          </a:p>
          <a:p>
            <a:r>
              <a:rPr b="1"/>
              <a:t> Producer batching</a:t>
            </a:r>
            <a:r>
              <a:t> — raise</a:t>
            </a:r>
            <a:r>
              <a:rPr>
                <a:latin typeface="Courier New"/>
              </a:rPr>
              <a:t> batch.size</a:t>
            </a:r>
            <a:r>
              <a:t> and set</a:t>
            </a:r>
            <a:r>
              <a:rPr>
                <a:latin typeface="Courier New"/>
              </a:rPr>
              <a:t> linger.ms</a:t>
            </a:r>
            <a:r>
              <a:t> to 5–20 ms: trades a little latency for</a:t>
            </a:r>
            <a:r>
              <a:rPr b="1"/>
              <a:t> much</a:t>
            </a:r>
            <a:r>
              <a:t> higher throughput (fewer, larger requests).</a:t>
            </a:r>
          </a:p>
          <a:p>
            <a:r>
              <a:rPr b="1" i="1"/>
              <a:t> acks</a:t>
            </a:r>
          </a:p>
          <a:p>
            <a:r>
              <a:t> —</a:t>
            </a:r>
            <a:r>
              <a:rPr>
                <a:latin typeface="Courier New"/>
              </a:rPr>
              <a:t> acks=all</a:t>
            </a:r>
            <a:r>
              <a:t> (durable, slower) vs</a:t>
            </a:r>
            <a:r>
              <a:rPr>
                <a:latin typeface="Courier New"/>
              </a:rPr>
              <a:t> acks=1</a:t>
            </a:r>
            <a:r>
              <a:t> (faster, risks loss on leader failure). Fan-out</a:t>
            </a:r>
            <a:r>
              <a:rPr b="1"/>
              <a:t> ingestion</a:t>
            </a:r>
            <a:r>
              <a:t> often uses</a:t>
            </a:r>
            <a:r>
              <a:rPr>
                <a:latin typeface="Courier New"/>
              </a:rPr>
              <a:t> acks=1</a:t>
            </a:r>
            <a:r>
              <a:t> ; systems of record use</a:t>
            </a:r>
            <a:r>
              <a:rPr>
                <a:latin typeface="Courier New"/>
              </a:rPr>
              <a:t> acks=all</a:t>
            </a:r>
            <a:r>
              <a:t> .</a:t>
            </a:r>
          </a:p>
          <a:p>
            <a:r>
              <a:rPr b="1"/>
              <a:t> Compression</a:t>
            </a:r>
            <a:r>
              <a:t> —</a:t>
            </a:r>
            <a:r>
              <a:rPr>
                <a:latin typeface="Courier New"/>
              </a:rPr>
              <a:t> zstd</a:t>
            </a:r>
            <a:r>
              <a:t> for best ratio,</a:t>
            </a:r>
            <a:r>
              <a:rPr>
                <a:latin typeface="Courier New"/>
              </a:rPr>
              <a:t> lz4</a:t>
            </a:r>
            <a:r>
              <a:t> for lowest CPU; both cut broker I/O dramatically at volume.</a:t>
            </a:r>
          </a:p>
          <a:p>
            <a:r>
              <a:rPr b="1"/>
              <a:t> Broker threads</a:t>
            </a:r>
            <a:r>
              <a:t> — scale</a:t>
            </a:r>
            <a:r>
              <a:rPr>
                <a:latin typeface="Courier New"/>
              </a:rPr>
              <a:t> num.network.threads</a:t>
            </a:r>
            <a:r>
              <a:t> and</a:t>
            </a:r>
            <a:r>
              <a:rPr>
                <a:latin typeface="Courier New"/>
              </a:rPr>
              <a:t> num.io.threads</a:t>
            </a:r>
            <a:r>
              <a:t> with cores and connection count.</a:t>
            </a:r>
          </a:p>
          <a:p>
            <a:r>
              <a:rPr b="1"/>
              <a:t> Consumer fetch</a:t>
            </a:r>
            <a:r>
              <a:t> — larger</a:t>
            </a:r>
            <a:r>
              <a:rPr>
                <a:latin typeface="Courier New"/>
              </a:rPr>
              <a:t> fetch.min.bytes</a:t>
            </a:r>
            <a:r>
              <a:t> /</a:t>
            </a:r>
            <a:r>
              <a:rPr>
                <a:latin typeface="Courier New"/>
              </a:rPr>
              <a:t> fetch.max.wait.ms</a:t>
            </a:r>
            <a:r>
              <a:t> let consumers pull bigger batches, raising throughput per poll.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Single broad topic + header filtering is the most storage-efficient fan-out design</a:t>
            </a:r>
          </a:p>
          <a:p>
            <a:r>
              <a:t> Header-based skip avoids deserialization cost for unwanted messages — 3× CPU savings at 33% selectivity</a:t>
            </a:r>
          </a:p>
          <a:p>
            <a:r>
              <a:t> Schema-based filtering provides stronger guarantees but tighter Schema Registry coupling</a:t>
            </a:r>
          </a:p>
          <a:p>
            <a:r>
              <a:t> Kafka Streams branching moves filtering to the server side — best for static, high-volume cases</a:t>
            </a:r>
          </a:p>
          <a:p>
            <a:r>
              <a:t> Flink SQL provides declarative filtering without redeployment (the modern successor to ksqlDB)</a:t>
            </a:r>
          </a:p>
          <a:p>
            <a:r>
              <a:t> KEDA autoscaling ties consumer replica count to Prometheus lag metric</a:t>
            </a:r>
          </a:p>
          <a:p>
            <a:r>
              <a:t> Cap</a:t>
            </a:r>
            <a:r>
              <a:rPr>
                <a:latin typeface="Courier New"/>
              </a:rPr>
              <a:t> maxReplicaCount</a:t>
            </a:r>
            <a:r>
              <a:t> to partition count per consumer group</a:t>
            </a:r>
          </a:p>
          <a:p>
            <a:r>
              <a:t> High-volume tuning: size partitions for peak, compress (lz4/zstd), batch producers; set the durability floor (</a:t>
            </a:r>
            <a:r>
              <a:rPr>
                <a:latin typeface="Courier New"/>
              </a:rPr>
              <a:t> acks</a:t>
            </a:r>
            <a:r>
              <a:t> ,</a:t>
            </a:r>
            <a:r>
              <a:rPr>
                <a:latin typeface="Courier New"/>
              </a:rPr>
              <a:t> min.insync.replicas</a:t>
            </a:r>
            <a:r>
              <a:t> ) first, then tune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Design and Validate a Fan-Out Strategy</a:t>
            </a:r>
          </a:p>
          <a:p>
            <a:r>
              <a:t> You will:</a:t>
            </a:r>
          </a:p>
          <a:p>
            <a:r>
              <a:t> Create a broad topic and produce events with routing headers</a:t>
            </a:r>
          </a:p>
          <a:p>
            <a:r>
              <a:t> Implement header-based filtering across 3 consumer groups</a:t>
            </a:r>
          </a:p>
          <a:p>
            <a:r>
              <a:t> Benchmark full deserialization vs header-skip</a:t>
            </a:r>
          </a:p>
          <a:p>
            <a:r>
              <a:t> Review Kafka Streams branching pseudocode</a:t>
            </a:r>
          </a:p>
          <a:p>
            <a:r>
              <a:t> Configure and test a KEDA ScaledObject tied to consumer lag</a:t>
            </a:r>
          </a:p>
          <a:p>
            <a:r>
              <a:t> Environment: Docker Compose (3-broker Kafka, Prometheus, KEDA optional) Time: 75–90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378296</TotalTime>
  <Words>1670</Words>
  <Application>Microsoft Macintosh PowerPoint</Application>
  <PresentationFormat>Custom</PresentationFormat>
  <Paragraphs>229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7 — High-Volume Fan-Out Best Practices</vt:lpstr>
      <vt:lpstr>Module 7 Agenda</vt:lpstr>
      <vt:lpstr>The Fan-Out Problem</vt:lpstr>
      <vt:lpstr>Fan-Out, Intuitively — The Mailroom</vt:lpstr>
      <vt:lpstr>Topic Design Options</vt:lpstr>
      <vt:lpstr>Partition Key Design</vt:lpstr>
      <vt:lpstr>Header-Based Filtering</vt:lpstr>
      <vt:lpstr>Header Filtering: CPU Savings</vt:lpstr>
      <vt:lpstr>What 3× CPU Actually Saves</vt:lpstr>
      <vt:lpstr>Schema-Based Filtering</vt:lpstr>
      <vt:lpstr>Kafka Streams Branching</vt:lpstr>
      <vt:lpstr>Flink SQL — Declarative Filtering</vt:lpstr>
      <vt:lpstr>Filtering Strategy Decision Tree</vt:lpstr>
      <vt:lpstr>KEDA Autoscaler: Scale on Lag</vt:lpstr>
      <vt:lpstr>KEDA: Why Cap maxReplicaCount?</vt:lpstr>
      <vt:lpstr>Benchmark: Duplication vs Filtering</vt:lpstr>
      <vt:lpstr>Broker &amp; Topic Configuration for High Volume</vt:lpstr>
      <vt:lpstr>Tuning Throughput vs Durability</vt:lpstr>
      <vt:lpstr>Module 7 Summary</vt:lpstr>
      <vt:lpstr>Lab Preview — Lab 7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2026-07-08T21:00:20Z</dcterms:modified>
</cp:coreProperties>
</file>