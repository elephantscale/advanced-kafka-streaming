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5 — Reliability, Scaling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Right-sizing Kafka clusters</a:t>
            </a:r>
          </a:p>
          <a:p>
            <a:r>
              <a:t> Expanding Kafka with no data loss</a:t>
            </a:r>
          </a:p>
          <a:p>
            <a:r>
              <a:t> HA and performance tuning</a:t>
            </a:r>
          </a:p>
          <a:p>
            <a:r>
              <a:t> Producer and consumer throughput parameters</a:t>
            </a:r>
          </a:p>
          <a:p>
            <a:r>
              <a:t> Consumer lag detection and remediation</a:t>
            </a:r>
          </a:p>
          <a:p>
            <a:r>
              <a:t> Cooperative rebalancing</a:t>
            </a:r>
          </a:p>
          <a:p>
            <a:r>
              <a:t> Broker failure, failover, and ISR recovery</a:t>
            </a:r>
          </a:p>
          <a:p>
            <a:r>
              <a:t> Capacity planning formula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pexels-foadshariyati-32085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4968030"/>
            <a:ext cx="2382012" cy="29775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Limits Kafka Throughput?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Network bandwidth</a:t>
            </a:r>
            <a:r>
              <a:t> — bytes in/out per broker</a:t>
            </a:r>
          </a:p>
          <a:p>
            <a:r>
              <a:rPr b="1"/>
              <a:t> Disk I/O</a:t>
            </a:r>
            <a:r>
              <a:t> — sequential write throughput</a:t>
            </a:r>
          </a:p>
          <a:p>
            <a:r>
              <a:rPr b="1"/>
              <a:t> CPU</a:t>
            </a:r>
            <a:r>
              <a:t> — compression/decompression, serialization</a:t>
            </a:r>
          </a:p>
          <a:p>
            <a:r>
              <a:rPr b="1"/>
              <a:t> Producer batching</a:t>
            </a:r>
            <a:r>
              <a:t> — small batches = more overhead</a:t>
            </a:r>
          </a:p>
          <a:p>
            <a:r>
              <a:rPr b="1"/>
              <a:t> Replication factor</a:t>
            </a:r>
            <a:r>
              <a:t> — more replicas = more network traffic</a:t>
            </a:r>
          </a:p>
          <a:p>
            <a:r>
              <a:rPr b="1"/>
              <a:t> Consumer parallelism</a:t>
            </a:r>
            <a:r>
              <a:t> — limited by partition count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Right-Sizing: Capacity Planning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Broker count: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1280438"/>
            <a:ext cx="9353550" cy="1676012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" y="4164011"/>
            <a:ext cx="9011134" cy="18899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Throughput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Tuning 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batch.size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 (64KB–1MB)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Larger batches, fewer requests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linger.ms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 (5–100ms)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 to fill batches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compression.type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lz4` or `zstd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Smaller network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buffer.memory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 (64MB+)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More in-flight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2731"/>
            <a:ext cx="40640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Throughput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fetch.min.bytes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Wait for more data per fetch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fetch.max.wait.ms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Max wait time for min 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max.poll.records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Records processed per poll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fetch.max.bytes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Larger fetch responses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7872"/>
            <a:ext cx="43688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Enable end-to-end: compress at producer, decompress only at consumer.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CPU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Lowest latency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lz4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Very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High-throughput producers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zstd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Modern choice, storage-sensitive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Legacy compatibility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snappy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Balanced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Picture 5" descr="com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032" y="5238233"/>
            <a:ext cx="5049012" cy="2826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Expanding Kafka with No Data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245600" cy="5321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Blue/Green Cluster 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Zero-downtime: producers switch first, consumers drain, then switch.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245600" cy="3187700"/>
          </a:xfrm>
          <a:prstGeom prst="rect">
            <a:avLst/>
          </a:prstGeom>
        </p:spPr>
      </p:pic>
      <p:pic>
        <p:nvPicPr>
          <p:cNvPr id="6" name="Picture 5" descr="pexels-diva-3286244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038" y="4642134"/>
            <a:ext cx="2229612" cy="334441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Lag, Intuitively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Lag is just the</a:t>
            </a:r>
            <a:r>
              <a:rPr b="1"/>
              <a:t> checkout line</a:t>
            </a:r>
            <a:r>
              <a:t> at a supermarket: messages arrive, consumers ring them up, and lag = the shoppers still waiting.</a:t>
            </a:r>
          </a:p>
          <a:p>
            <a:r>
              <a:t> Lag</a:t>
            </a:r>
            <a:r>
              <a:rPr b="1"/>
              <a:t> grows</a:t>
            </a:r>
            <a:r>
              <a:t> whenever</a:t>
            </a:r>
            <a:r>
              <a:rPr b="1"/>
              <a:t> arrival rate &gt; processing rate</a:t>
            </a:r>
            <a:r>
              <a:t> — the line backs up.</a:t>
            </a:r>
          </a:p>
          <a:p>
            <a:r>
              <a:t> Two ways to shrink it:</a:t>
            </a:r>
            <a:r>
              <a:rPr b="1"/>
              <a:t> process faster</a:t>
            </a:r>
            <a:r>
              <a:t> (optimize, go async) or</a:t>
            </a:r>
            <a:r>
              <a:rPr b="1"/>
              <a:t> add cashiers</a:t>
            </a:r>
            <a:r>
              <a:t> (more consumers) — but only up to the number of</a:t>
            </a:r>
            <a:r>
              <a:rPr b="1"/>
              <a:t> lanes</a:t>
            </a:r>
            <a:r>
              <a:t> (partitions).</a:t>
            </a:r>
          </a:p>
          <a:p>
            <a:r>
              <a:t> Steady non-zero lag is fine.</a:t>
            </a:r>
            <a:r>
              <a:rPr b="1"/>
              <a:t> Steadily</a:t>
            </a:r>
            <a:r>
              <a:t> is the alarm.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Lag — The Primary Health 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 Root cause vs fix: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6197600" cy="13208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37744" y="2231136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Root 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Slow processing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Optimize code, async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 few consumers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 instances (up to partition count)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Rebalance 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Switch to cooperative rebalancing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Message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DLQ handling, avoid retry loops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6" descr="pexels-polina-zimmerman-41081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794" y="4676562"/>
            <a:ext cx="2096856" cy="31452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Rebalancing — The Throughput Killer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Eager rebalancing</a:t>
            </a:r>
            <a:r>
              <a:rPr dirty="0"/>
              <a:t> (default before Kafka 2.3):</a:t>
            </a:r>
          </a:p>
          <a:p>
            <a:endParaRPr lang="en-US" dirty="0"/>
          </a:p>
          <a:p>
            <a:endParaRPr dirty="0"/>
          </a:p>
          <a:p>
            <a:r>
              <a:rPr b="1" dirty="0"/>
              <a:t> Cooperative incremental rebalancing</a:t>
            </a:r>
            <a:r>
              <a:rPr dirty="0"/>
              <a:t> (client-side, Kafka 2.4+):</a:t>
            </a:r>
          </a:p>
          <a:p>
            <a:endParaRPr dirty="0"/>
          </a:p>
          <a:p>
            <a:endParaRPr lang="en-US" dirty="0"/>
          </a:p>
          <a:p>
            <a:endParaRPr dirty="0"/>
          </a:p>
          <a:p>
            <a:r>
              <a:rPr dirty="0"/>
              <a:t> Config:</a:t>
            </a:r>
          </a:p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r>
              <a:rPr b="1" dirty="0"/>
              <a:t> </a:t>
            </a:r>
            <a:endParaRPr lang="en-US" b="1" dirty="0"/>
          </a:p>
          <a:p>
            <a:r>
              <a:rPr b="1" dirty="0"/>
              <a:t>New consumer protocol — KIP-848 (GA in Kafka 4):</a:t>
            </a:r>
          </a:p>
          <a:p>
            <a:endParaRPr b="1" dirty="0"/>
          </a:p>
          <a:p>
            <a:endParaRPr b="1" dirty="0"/>
          </a:p>
          <a:p>
            <a:endParaRPr b="1" dirty="0"/>
          </a:p>
          <a:p>
            <a:endParaRPr b="1"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574"/>
            <a:ext cx="9190662" cy="611396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338" y="3032554"/>
            <a:ext cx="6502400" cy="10541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676" y="4926712"/>
            <a:ext cx="9096376" cy="665065"/>
          </a:xfrm>
          <a:prstGeom prst="rect">
            <a:avLst/>
          </a:prstGeom>
        </p:spPr>
      </p:pic>
      <p:pic>
        <p:nvPicPr>
          <p:cNvPr id="8" name="Picture 7" descr="pexels-maxou-2003313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1588" y="2881025"/>
            <a:ext cx="1469074" cy="1958765"/>
          </a:xfrm>
          <a:prstGeom prst="rect">
            <a:avLst/>
          </a:prstGeom>
        </p:spPr>
      </p:pic>
      <p:pic>
        <p:nvPicPr>
          <p:cNvPr id="9" name="Picture 8" descr="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2073" y="5572214"/>
            <a:ext cx="9282735" cy="871569"/>
          </a:xfrm>
          <a:prstGeom prst="rect">
            <a:avLst/>
          </a:prstGeom>
        </p:spPr>
      </p:pic>
      <p:pic>
        <p:nvPicPr>
          <p:cNvPr id="10" name="Picture 9" descr="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451703"/>
            <a:ext cx="9190662" cy="4932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Rebalancing Goes Wrong — The Rebalance Storm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real production failure pattern:</a:t>
            </a:r>
          </a:p>
          <a:p>
            <a:r>
              <a:t> A 30-consumer group processes payments. One pod hits a long GC pause and misses a heartbeat → the group</a:t>
            </a:r>
            <a:r>
              <a:rPr b="1"/>
              <a:t> rebalances</a:t>
            </a:r>
            <a:r>
              <a:t> → under the eager protocol,</a:t>
            </a:r>
            <a:r>
              <a:rPr b="1"/>
              <a:t> all 30 stop</a:t>
            </a:r>
            <a:r>
              <a:t> .</a:t>
            </a:r>
          </a:p>
          <a:p>
            <a:r>
              <a:t> The pause only</a:t>
            </a:r>
            <a:r>
              <a:rPr i="1"/>
              <a:t> looked</a:t>
            </a:r>
            <a:r>
              <a:t> like death; the pod rejoins →</a:t>
            </a:r>
            <a:r>
              <a:rPr b="1"/>
              <a:t> another rebalance</a:t>
            </a:r>
            <a:r>
              <a:t> → everyone stops again.</a:t>
            </a:r>
          </a:p>
          <a:p>
            <a:r>
              <a:t> Under load this loops: the group spends more time</a:t>
            </a:r>
            <a:r>
              <a:rPr b="1"/>
              <a:t> rebalancing than processing</a:t>
            </a:r>
            <a:r>
              <a:t> . Lag explodes, latency spikes, on-call gets paged.</a:t>
            </a:r>
          </a:p>
          <a:p>
            <a:r>
              <a:t> The fix is exactly the config from the previous slide:</a:t>
            </a:r>
          </a:p>
          <a:p>
            <a:r>
              <a:rPr b="1"/>
              <a:t> Cooperative rebalancing</a:t>
            </a:r>
            <a:r>
              <a:t> — only affected partitions move; the other 29 keep working.</a:t>
            </a:r>
          </a:p>
          <a:p>
            <a:r>
              <a:rPr b="1"/>
              <a:t> Static membership</a:t>
            </a:r>
            <a:r>
              <a:t> (</a:t>
            </a:r>
            <a:r>
              <a:rPr>
                <a:latin typeface="Courier New"/>
              </a:rPr>
              <a:t> group.instance.id</a:t>
            </a:r>
            <a:r>
              <a:t> ) — a brief restart no longer triggers a reassignment.</a:t>
            </a:r>
          </a:p>
          <a:p>
            <a:r>
              <a:rPr b="1"/>
              <a:t> KIP-848</a:t>
            </a:r>
            <a:r>
              <a:t> — the broker drives incremental assignment; no stop-the-world barrier.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Broker Failure and ISR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Monitor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UnderReplicatedPartitions</a:t>
            </a:r>
            <a:r>
              <a:rPr dirty="0"/>
              <a:t> — non-zero is the first sign of trouble.</a:t>
            </a:r>
          </a:p>
          <a:p>
            <a:r>
              <a:rPr dirty="0"/>
              <a:t> Key configs:</a:t>
            </a:r>
          </a:p>
          <a:p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replica.lag.time.max.ms</a:t>
            </a:r>
            <a:r>
              <a:rPr dirty="0"/>
              <a:t> — how long before a replica is removed from ISR</a:t>
            </a:r>
          </a:p>
          <a:p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min.insync.replicas</a:t>
            </a:r>
            <a:r>
              <a:rPr dirty="0"/>
              <a:t> — minimum ISR required for produce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1077132"/>
            <a:ext cx="894080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 Configuration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 Recommendation for production:</a:t>
            </a:r>
            <a:r>
              <a:rPr dirty="0">
                <a:latin typeface="Courier New"/>
              </a:rPr>
              <a:t> acks=all</a:t>
            </a:r>
            <a:r>
              <a:rPr dirty="0"/>
              <a:t> ,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min.insync.replicas</a:t>
            </a:r>
            <a:r>
              <a:rPr dirty="0">
                <a:latin typeface="Courier New"/>
              </a:rPr>
              <a:t>=2</a:t>
            </a:r>
            <a:r>
              <a:rPr dirty="0"/>
              <a:t> ,</a:t>
            </a:r>
            <a:r>
              <a:rPr dirty="0">
                <a:latin typeface="Courier New"/>
              </a:rPr>
              <a:t> replication-factor=3</a:t>
            </a:r>
            <a:r>
              <a:rPr dirty="0"/>
              <a:t> 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Maximum durability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data loss, some throughput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High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Possible data loss on broker failure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dirty="0"/>
                        <a:t>Zero data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RF (e.g.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Writes fail if any broker is 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5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Capacity planning: model storage per topic before provisioning</a:t>
            </a:r>
          </a:p>
          <a:p>
            <a:r>
              <a:t> Expanding Kafka: use</a:t>
            </a:r>
            <a:r>
              <a:rPr>
                <a:latin typeface="Courier New"/>
              </a:rPr>
              <a:t> kafka-reassign-partitions</a:t>
            </a:r>
            <a:r>
              <a:t> with throttle, validate ISR</a:t>
            </a:r>
          </a:p>
          <a:p>
            <a:r>
              <a:t> Producer tuning: larger batches, linger, lz4/zstd compression</a:t>
            </a:r>
          </a:p>
          <a:p>
            <a:r>
              <a:t> Consumer tuning: fetch.min.bytes, max.poll.records</a:t>
            </a:r>
          </a:p>
          <a:p>
            <a:r>
              <a:t> Consumer lag is the primary operational health metric</a:t>
            </a:r>
          </a:p>
          <a:p>
            <a:r>
              <a:t> Cooperative rebalancing dramatically reduces disruption; the KIP-848 broker-driven protocol is the Kafka 4 forward path</a:t>
            </a:r>
          </a:p>
          <a:p>
            <a:r>
              <a:t> Tiered Storage decouples retention from broker disk — size on throughput, not total storage</a:t>
            </a:r>
          </a:p>
          <a:p>
            <a:r>
              <a:t> HA:</a:t>
            </a:r>
            <a:r>
              <a:rPr>
                <a:latin typeface="Courier New"/>
              </a:rPr>
              <a:t> acks=all</a:t>
            </a:r>
            <a:r>
              <a:t> ,</a:t>
            </a:r>
            <a:r>
              <a:rPr>
                <a:latin typeface="Courier New"/>
              </a:rPr>
              <a:t> min.insync.replicas=2</a:t>
            </a:r>
            <a:r>
              <a:t> ,</a:t>
            </a:r>
            <a:r>
              <a:rPr>
                <a:latin typeface="Courier New"/>
              </a:rPr>
              <a:t> replication-factor=3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6 — Modern Kafka &amp; Streaming Trends</a:t>
            </a:r>
          </a:p>
          <a:p>
            <a:r>
              <a:t> Multi-cluster federation and disaster recovery</a:t>
            </a:r>
          </a:p>
          <a:p>
            <a:r>
              <a:t> Kafka at the edge and IoT</a:t>
            </a:r>
          </a:p>
          <a:p>
            <a:r>
              <a:t> AI-driven streaming pipelines</a:t>
            </a:r>
          </a:p>
          <a:p>
            <a:r>
              <a:t> Serverless Kafka: MSK Serverless, Confluent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Preview — Lab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Stress-Test a Kafka Cluster and Analyze Rebalance and Failover Behavior</a:t>
            </a:r>
          </a:p>
          <a:p>
            <a:r>
              <a:t> You will:</a:t>
            </a:r>
          </a:p>
          <a:p>
            <a:r>
              <a:t> Baseline and tuned throughput benchmarks</a:t>
            </a:r>
          </a:p>
          <a:p>
            <a:r>
              <a:t> Consumer lag simulation and group-based remediation</a:t>
            </a:r>
          </a:p>
          <a:p>
            <a:r>
              <a:t> Eager vs cooperative rebalancing comparison</a:t>
            </a:r>
          </a:p>
          <a:p>
            <a:r>
              <a:t> Partition reassignment with throttling on a live cluster</a:t>
            </a:r>
          </a:p>
          <a:p>
            <a:r>
              <a:t> Broker failure simulation with ISR recovery measurement</a:t>
            </a:r>
          </a:p>
          <a:p>
            <a:r>
              <a:t> End-to-end latency measurement</a:t>
            </a:r>
          </a:p>
          <a:p>
            <a:r>
              <a:t> Environment: Docker Compose (3-broker Kafka cluster) Time: 75–90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378297</TotalTime>
  <Words>1149</Words>
  <Application>Microsoft Macintosh PowerPoint</Application>
  <PresentationFormat>Custom</PresentationFormat>
  <Paragraphs>259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5 — Reliability, Scaling &amp; Performance</vt:lpstr>
      <vt:lpstr>Module 5 Agenda</vt:lpstr>
      <vt:lpstr>What Limits Kafka Throughput?</vt:lpstr>
      <vt:lpstr>Right-Sizing: Capacity Planning Formula</vt:lpstr>
      <vt:lpstr>Producer Throughput Tuning</vt:lpstr>
      <vt:lpstr>Consumer Throughput Tuning</vt:lpstr>
      <vt:lpstr>Compression Strategy</vt:lpstr>
      <vt:lpstr>Expanding Kafka with No Data Loss</vt:lpstr>
      <vt:lpstr>Blue/Green Cluster Migration</vt:lpstr>
      <vt:lpstr>Consumer Lag, Intuitively</vt:lpstr>
      <vt:lpstr>Consumer Lag — The Primary Health Metric</vt:lpstr>
      <vt:lpstr>Rebalancing — The Throughput Killer</vt:lpstr>
      <vt:lpstr>When Rebalancing Goes Wrong — The Rebalance Storm</vt:lpstr>
      <vt:lpstr>Broker Failure and ISR Recovery</vt:lpstr>
      <vt:lpstr>HA Configuration Matrix</vt:lpstr>
      <vt:lpstr>Module 5 Summary</vt:lpstr>
      <vt:lpstr>What's Next</vt:lpstr>
      <vt:lpstr>Lab Preview — Lab 5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2026-07-03T04:34:25Z</dcterms:modified>
</cp:coreProperties>
</file>