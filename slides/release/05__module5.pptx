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2"/>
  </p:notesMasterIdLst>
  <p:handoutMasterIdLst>
    <p:handoutMasterId r:id="rId3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</p:sldIdLst>
  <p:sldSz cx="9372600" cy="829786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614" userDrawn="1">
          <p15:clr>
            <a:srgbClr val="A4A3A4"/>
          </p15:clr>
        </p15:guide>
        <p15:guide id="2" pos="2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y Conlee" initials="MC" lastIdx="1" clrIdx="0"/>
  <p:cmAuthor id="2" name="Mark Kerzner" initials="MK" lastIdx="6" clrIdx="1"/>
  <p:cmAuthor id="3" name="Mary Beth Conlee" initials="MBC" lastIdx="7" clrIdx="2"/>
  <p:cmAuthor id="4" name="Michelle" initials="M" lastIdx="5" clrIdx="3"/>
  <p:cmAuthor id="5" name="Tricia Murphy" initials="TM" lastIdx="4" clrIdx="4">
    <p:extLst/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1A"/>
    <a:srgbClr val="D6B8EB"/>
    <a:srgbClr val="A77EC7"/>
    <a:srgbClr val="B59BC7"/>
    <a:srgbClr val="C7AAD9"/>
    <a:srgbClr val="C89EDF"/>
    <a:srgbClr val="BD83DF"/>
    <a:srgbClr val="CB89DF"/>
    <a:srgbClr val="CA87D1"/>
    <a:srgbClr val="CF8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969" autoAdjust="0"/>
    <p:restoredTop sz="86012" autoAdjust="0"/>
  </p:normalViewPr>
  <p:slideViewPr>
    <p:cSldViewPr>
      <p:cViewPr varScale="1">
        <p:scale>
          <a:sx n="82" d="100"/>
          <a:sy n="82" d="100"/>
        </p:scale>
        <p:origin x="2920" y="176"/>
      </p:cViewPr>
      <p:guideLst>
        <p:guide orient="horz" pos="2614"/>
        <p:guide pos="2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5" d="100"/>
        <a:sy n="85" d="100"/>
      </p:scale>
      <p:origin x="0" y="0"/>
    </p:cViewPr>
  </p:sorterViewPr>
  <p:notesViewPr>
    <p:cSldViewPr>
      <p:cViewPr>
        <p:scale>
          <a:sx n="80" d="100"/>
          <a:sy n="80" d="100"/>
        </p:scale>
        <p:origin x="3296" y="-56"/>
      </p:cViewPr>
      <p:guideLst>
        <p:guide orient="horz" pos="3024"/>
        <p:guide pos="2308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handoutMaster" Target="handoutMasters/handoutMaster1.xml"/><Relationship Id="rId4" Type="http://schemas.openxmlformats.org/officeDocument/2006/relationships/commentAuthors" Target="commentAuthors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3363"/>
            <a:ext cx="3170238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3363"/>
            <a:ext cx="3170237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algn="r"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7E62689-8C7D-4291-A094-4E689FEC4C3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915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75" y="473075"/>
            <a:ext cx="5365750" cy="4751388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38280" name="Rectangle 8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365250" y="9388475"/>
            <a:ext cx="4578350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1" compatLnSpc="1">
            <a:prstTxWarp prst="textNoShape">
              <a:avLst/>
            </a:prstTxWarp>
          </a:bodyPr>
          <a:lstStyle>
            <a:lvl1pPr algn="ctr" defTabSz="965200" eaLnBrk="0" hangingPunct="0">
              <a:defRPr sz="900">
                <a:latin typeface="Arial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438281" name="Rectangle 9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400800" y="9388475"/>
            <a:ext cx="554038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b="1">
                <a:latin typeface="Arial" charset="0"/>
              </a:defRPr>
            </a:lvl1pPr>
          </a:lstStyle>
          <a:p>
            <a:pPr>
              <a:defRPr/>
            </a:pPr>
            <a:fld id="{EFAADD5D-AF76-45EE-AA5F-6DAC73BF167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438306" name="Text Box 34"/>
          <p:cNvSpPr txBox="1">
            <a:spLocks noChangeArrowheads="1"/>
          </p:cNvSpPr>
          <p:nvPr/>
        </p:nvSpPr>
        <p:spPr bwMode="auto">
          <a:xfrm>
            <a:off x="271463" y="5176838"/>
            <a:ext cx="617537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6386" tIns="48194" rIns="96386" bIns="48194"/>
          <a:lstStyle/>
          <a:p>
            <a:pPr defTabSz="960438">
              <a:defRPr/>
            </a:pPr>
            <a:r>
              <a:rPr lang="en-US" sz="1200" b="1" u="sng" dirty="0">
                <a:latin typeface="Times New Roman" pitchFamily="18" charset="0"/>
                <a:cs typeface="Times New Roman" pitchFamily="18" charset="0"/>
              </a:rPr>
              <a:t>Notes:</a:t>
            </a:r>
          </a:p>
        </p:txBody>
      </p:sp>
      <p:sp>
        <p:nvSpPr>
          <p:cNvPr id="438309" name="Rectangle 37"/>
          <p:cNvSpPr>
            <a:spLocks noGrp="1" noChangeArrowheads="1"/>
          </p:cNvSpPr>
          <p:nvPr>
            <p:ph type="body" sz="quarter" idx="3"/>
          </p:nvPr>
        </p:nvSpPr>
        <p:spPr bwMode="gray">
          <a:xfrm>
            <a:off x="322263" y="5462588"/>
            <a:ext cx="6607175" cy="375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537" tIns="45768" rIns="91537" bIns="45768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 dirty="0"/>
          </a:p>
        </p:txBody>
      </p:sp>
      <p:sp>
        <p:nvSpPr>
          <p:cNvPr id="438317" name="Line 45"/>
          <p:cNvSpPr>
            <a:spLocks noChangeShapeType="1"/>
          </p:cNvSpPr>
          <p:nvPr/>
        </p:nvSpPr>
        <p:spPr bwMode="auto">
          <a:xfrm>
            <a:off x="322263" y="9324975"/>
            <a:ext cx="6653212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pPr algn="ctr">
              <a:spcBef>
                <a:spcPct val="30000"/>
              </a:spcBef>
              <a:defRPr/>
            </a:pPr>
            <a:endParaRPr lang="en-US" dirty="0">
              <a:latin typeface="Garamond" pitchFamily="-11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3744030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indent="0" algn="l" rtl="0" eaLnBrk="0" fontAlgn="base" hangingPunct="0">
      <a:spcBef>
        <a:spcPct val="30000"/>
      </a:spcBef>
      <a:spcAft>
        <a:spcPct val="0"/>
      </a:spcAft>
      <a:buSzPct val="65000"/>
      <a:buFont typeface="Wingdings" pitchFamily="2" charset="2"/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 pitchFamily="-110" charset="-128"/>
      </a:defRPr>
    </a:lvl1pPr>
    <a:lvl2pPr marL="282575" indent="0" algn="l" rtl="0" eaLnBrk="0" fontAlgn="base" hangingPunct="0">
      <a:spcBef>
        <a:spcPct val="30000"/>
      </a:spcBef>
      <a:spcAft>
        <a:spcPct val="0"/>
      </a:spcAft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2pPr>
    <a:lvl3pPr marL="744538" indent="-173038" algn="l" rtl="0" eaLnBrk="0" fontAlgn="base" hangingPunct="0">
      <a:spcBef>
        <a:spcPct val="30000"/>
      </a:spcBef>
      <a:spcAft>
        <a:spcPct val="0"/>
      </a:spcAft>
      <a:buChar char="•"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/>
          <p:cNvPicPr preferRelativeResize="0">
            <a:picLocks noChangeArrowheads="1"/>
          </p:cNvPicPr>
          <p:nvPr/>
        </p:nvPicPr>
        <p:blipFill rotWithShape="1">
          <a:blip r:embed="rId2"/>
          <a:srcRect t="19473"/>
          <a:stretch/>
        </p:blipFill>
        <p:spPr bwMode="auto">
          <a:xfrm>
            <a:off x="1" y="-1801"/>
            <a:ext cx="2498725" cy="830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04898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498726" y="4984481"/>
            <a:ext cx="6335713" cy="400685"/>
          </a:xfrm>
        </p:spPr>
        <p:txBody>
          <a:bodyPr>
            <a:spAutoFit/>
          </a:bodyPr>
          <a:lstStyle>
            <a:lvl1pPr marL="0" indent="0" algn="r">
              <a:buFont typeface="Monotype Sorts" pitchFamily="-110" charset="2"/>
              <a:buNone/>
              <a:defRPr sz="200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04900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704850" y="3226947"/>
            <a:ext cx="8121650" cy="1469414"/>
          </a:xfrm>
        </p:spPr>
        <p:txBody>
          <a:bodyPr lIns="91440" anchor="ctr"/>
          <a:lstStyle>
            <a:lvl1pPr algn="ctr" defTabSz="1825625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EF9825-4C23-4085-A4E3-B5565466BD9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762500" y="994975"/>
            <a:ext cx="4375150" cy="33210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762500" y="4500439"/>
            <a:ext cx="4375150" cy="3322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0E4B02-67B9-4228-B08B-2561CEE6B94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250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CC632-9864-46F1-8EAB-FCD3BB9CEC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4950" y="994976"/>
            <a:ext cx="8902700" cy="682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03876" name="Rectangle 4"/>
          <p:cNvSpPr>
            <a:spLocks noGrp="1" noChangeArrowheads="1"/>
          </p:cNvSpPr>
          <p:nvPr>
            <p:ph type="sldNum" sz="quarter" idx="4"/>
          </p:nvPr>
        </p:nvSpPr>
        <p:spPr bwMode="hidden">
          <a:xfrm>
            <a:off x="8777288" y="7961724"/>
            <a:ext cx="546100" cy="272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b="1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fld id="{77EF9825-4C23-4085-A4E3-B5565466BD9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03877" name="Rectangle 5"/>
          <p:cNvSpPr>
            <a:spLocks noGrp="1" noChangeArrowheads="1"/>
          </p:cNvSpPr>
          <p:nvPr>
            <p:ph type="ftr" sz="quarter" idx="3"/>
          </p:nvPr>
        </p:nvSpPr>
        <p:spPr bwMode="hidden">
          <a:xfrm>
            <a:off x="234950" y="8032785"/>
            <a:ext cx="544195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ctr" eaLnBrk="0" hangingPunct="0">
              <a:spcBef>
                <a:spcPct val="0"/>
              </a:spcBef>
              <a:defRPr sz="9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pic>
        <p:nvPicPr>
          <p:cNvPr id="1030" name="Picture 6"/>
          <p:cNvPicPr preferRelativeResize="0">
            <a:picLocks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ltGray">
          <a:xfrm>
            <a:off x="0" y="1"/>
            <a:ext cx="704850" cy="8355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31" name="Rectangle 7"/>
          <p:cNvSpPr>
            <a:spLocks noGrp="1" noChangeArrowheads="1"/>
          </p:cNvSpPr>
          <p:nvPr>
            <p:ph type="title"/>
          </p:nvPr>
        </p:nvSpPr>
        <p:spPr bwMode="invGray">
          <a:xfrm>
            <a:off x="704850" y="1"/>
            <a:ext cx="8667750" cy="83554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4" r:id="rId3"/>
    <p:sldLayoutId id="2147483653" r:id="rId4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+mj-lt"/>
          <a:ea typeface="ＭＳ Ｐゴシック" pitchFamily="-110" charset="-128"/>
          <a:cs typeface="ＭＳ Ｐゴシック" pitchFamily="-11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9pPr>
    </p:titleStyle>
    <p:bodyStyle>
      <a:lvl1pPr marL="290513" indent="-2905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5000"/>
        <a:buFont typeface="Wingdings" pitchFamily="2" charset="2"/>
        <a:buChar char=""/>
        <a:defRPr sz="2400">
          <a:solidFill>
            <a:srgbClr val="000000"/>
          </a:solidFill>
          <a:latin typeface="+mn-lt"/>
          <a:ea typeface="ＭＳ Ｐゴシック" pitchFamily="-110" charset="-128"/>
          <a:cs typeface="ＭＳ Ｐゴシック" pitchFamily="-110" charset="-128"/>
        </a:defRPr>
      </a:lvl1pPr>
      <a:lvl2pPr marL="633413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Char char="–"/>
        <a:defRPr sz="22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2pPr>
      <a:lvl3pPr marL="969963" indent="-22225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3pPr>
      <a:lvl4pPr marL="1258888" indent="-228600" algn="l" rtl="0" eaLnBrk="0" fontAlgn="base" hangingPunct="0">
        <a:spcBef>
          <a:spcPct val="0"/>
        </a:spcBef>
        <a:spcAft>
          <a:spcPct val="0"/>
        </a:spcAft>
        <a:buClr>
          <a:srgbClr val="5F5F5F"/>
        </a:buClr>
        <a:buSzPct val="65000"/>
        <a:buFont typeface="Arial Bold" pitchFamily="34" charset="0"/>
        <a:buChar char="‒"/>
        <a:defRPr lang="en-US" dirty="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4pPr>
      <a:lvl5pPr marL="20558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  <a:cs typeface="ＭＳ Ｐゴシック"/>
        </a:defRPr>
      </a:lvl5pPr>
      <a:lvl6pPr marL="25130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6pPr>
      <a:lvl7pPr marL="29702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7pPr>
      <a:lvl8pPr marL="34274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8pPr>
      <a:lvl9pPr marL="38846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 wrap="square">
            <a:noAutofit/>
          </a:bodyPr>
          <a:lstStyle/>
          <a:p>
            <a:r>
              <a:rPr sz="4200" b="1" i="0">
                <a:latin typeface="Times New Roman"/>
              </a:rPr>
              <a:t>Module 5 — Reliability, Scaling &amp; Performance</a:t>
            </a:r>
            <a:endParaRPr sz="4200" b="1" i="0">
              <a:latin typeface="Times New Roman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5 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Right-sizing Kafka clusters</a:t>
            </a:r>
          </a:p>
          <a:p>
            <a:r>
              <a:t> Expanding Kafka with no data loss</a:t>
            </a:r>
          </a:p>
          <a:p>
            <a:r>
              <a:t> HA and performance tuning</a:t>
            </a:r>
          </a:p>
          <a:p>
            <a:r>
              <a:t> Producer and consumer throughput parameters</a:t>
            </a:r>
          </a:p>
          <a:p>
            <a:r>
              <a:t> Consumer lag detection and remediation</a:t>
            </a:r>
          </a:p>
          <a:p>
            <a:r>
              <a:t> Cooperative rebalancing</a:t>
            </a:r>
          </a:p>
          <a:p>
            <a:r>
              <a:t> Broker failure, failover, and ISR recovery</a:t>
            </a:r>
          </a:p>
          <a:p>
            <a:r>
              <a:t> Capacity planning formula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Limits Kafka Throughput?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Network bandwidth</a:t>
            </a:r>
            <a:r>
              <a:t> — bytes in/out per broker</a:t>
            </a:r>
          </a:p>
          <a:p>
            <a:r>
              <a:rPr b="1"/>
              <a:t> Disk I/O</a:t>
            </a:r>
            <a:r>
              <a:t> — sequential write throughput</a:t>
            </a:r>
          </a:p>
          <a:p>
            <a:r>
              <a:rPr b="1"/>
              <a:t> CPU</a:t>
            </a:r>
            <a:r>
              <a:t> — compression/decompression, serialization</a:t>
            </a:r>
          </a:p>
          <a:p>
            <a:r>
              <a:rPr b="1"/>
              <a:t> Producer batching</a:t>
            </a:r>
            <a:r>
              <a:t> — small batches = more overhead</a:t>
            </a:r>
          </a:p>
          <a:p>
            <a:r>
              <a:rPr b="1"/>
              <a:t> Replication factor</a:t>
            </a:r>
            <a:r>
              <a:t> — more replicas = more network traffic</a:t>
            </a:r>
          </a:p>
          <a:p>
            <a:r>
              <a:rPr b="1"/>
              <a:t> Consumer parallelism</a:t>
            </a:r>
            <a:r>
              <a:t> — limited by partition count</a:t>
            </a:r>
          </a:p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Right-Sizing: Capacity Planning Formula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>
            <a:r>
              <a:t> Broker count:</a:t>
            </a:r>
          </a:p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11836400" cy="2120900"/>
          </a:xfrm>
          <a:prstGeom prst="rect">
            <a:avLst/>
          </a:prstGeom>
        </p:spPr>
      </p:pic>
      <p:pic>
        <p:nvPicPr>
          <p:cNvPr id="6" name="Picture 5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70048"/>
            <a:ext cx="7569200" cy="1587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Producer Throughput Tuning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914400"/>
          <a:ext cx="8915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2971800"/>
                <a:gridCol w="2971800"/>
              </a:tblGrid>
              <a:tr h="457200">
                <a:tc>
                  <a:txBody>
                    <a:bodyPr/>
                    <a:lstStyle/>
                    <a:p>
                      <a:r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Tuning 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Effect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>
                          <a:latin typeface="Courier New"/>
                        </a:rPr>
                        <a:t>batch.size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Increase (64KB–1MB)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Larger batches, fewer requests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>
                          <a:latin typeface="Courier New"/>
                        </a:rPr>
                        <a:t>linger.ms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Increase (5–100ms)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Wait to fill batches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>
                          <a:latin typeface="Courier New"/>
                        </a:rPr>
                        <a:t>compression.type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Courier New"/>
                        </a:rPr>
                        <a:t>lz4` or `zstd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Smaller network payload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>
                          <a:latin typeface="Courier New"/>
                        </a:rPr>
                        <a:t>buffer.memory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Increase (64MB+)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More in-flight data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6" name="Picture 5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47872"/>
            <a:ext cx="4064000" cy="1320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Consumer Throughput Tuning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914400"/>
          <a:ext cx="8915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7700"/>
                <a:gridCol w="4457700"/>
              </a:tblGrid>
              <a:tr h="457200">
                <a:tc>
                  <a:txBody>
                    <a:bodyPr/>
                    <a:lstStyle/>
                    <a:p>
                      <a:r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Effect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>
                          <a:latin typeface="Courier New"/>
                        </a:rPr>
                        <a:t>fetch.min.bytes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Wait for more data per fetch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>
                          <a:latin typeface="Courier New"/>
                        </a:rPr>
                        <a:t>fetch.max.wait.ms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Max wait time for min bytes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>
                          <a:latin typeface="Courier New"/>
                        </a:rPr>
                        <a:t>max.poll.records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Records processed per poll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>
                          <a:latin typeface="Courier New"/>
                        </a:rPr>
                        <a:t>fetch.max.bytes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Larger fetch responses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6" name="Picture 5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47872"/>
            <a:ext cx="4368800" cy="1320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Compression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  <a:p/>
          <a:p>
            <a:r>
              <a:t> Enable end-to-end: compress at producer, decompress only at consumer.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914400"/>
          <a:ext cx="8915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8850"/>
                <a:gridCol w="2228850"/>
                <a:gridCol w="2228850"/>
                <a:gridCol w="2228850"/>
              </a:tblGrid>
              <a:tr h="457200">
                <a:tc>
                  <a:txBody>
                    <a:bodyPr/>
                    <a:lstStyle/>
                    <a:p>
                      <a:r>
                        <a:t>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CPU 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Best For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Lowest latency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lz4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Very 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High-throughput producers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zstd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Modern choice, storage-sensitive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gzip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Legacy compatibility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snappy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Balanced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Expanding Kafka with No Data Loss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9245600" cy="53213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Blue/Green Cluster Migration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>
            <a:r>
              <a:t> Zero-downtime: producers switch first, consumers drain, then switch.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9245600" cy="31877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Consumer Lag — The Primary Health Metric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>
            <a:r>
              <a:t> Root cause vs fix:</a:t>
            </a:r>
          </a:p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6197600" cy="132080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37744" y="2231136"/>
          <a:ext cx="8915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7700"/>
                <a:gridCol w="4457700"/>
              </a:tblGrid>
              <a:tr h="457200">
                <a:tc>
                  <a:txBody>
                    <a:bodyPr/>
                    <a:lstStyle/>
                    <a:p>
                      <a:r>
                        <a:t>Root Cause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Fix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Slow processing logic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Optimize code, async processing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Too few consumers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Add instances (up to partition count)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Rebalance storm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Switch to cooperative rebalancing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Message errors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DLQ handling, avoid retry loops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Rebalancing — The Throughput Killer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Eager rebalancing</a:t>
            </a:r>
            <a:r>
              <a:t> (default before Kafka 2.3):</a:t>
            </a:r>
          </a:p>
          <a:p/>
          <a:p>
            <a:r>
              <a:rPr b="1"/>
              <a:t> Cooperative incremental rebalancing</a:t>
            </a:r>
            <a:r>
              <a:t> (client-side, Kafka 2.4+):</a:t>
            </a:r>
          </a:p>
          <a:p/>
          <a:p/>
          <a:p>
            <a:r>
              <a:t> Config:</a:t>
            </a:r>
          </a:p>
          <a:p/>
          <a:p>
            <a:r>
              <a:rPr b="1"/>
              <a:t> New consumer protocol — KIP-848 (GA in Kafka 4):</a:t>
            </a:r>
          </a:p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312"/>
            <a:ext cx="11836400" cy="787400"/>
          </a:xfrm>
          <a:prstGeom prst="rect">
            <a:avLst/>
          </a:prstGeom>
        </p:spPr>
      </p:pic>
      <p:pic>
        <p:nvPicPr>
          <p:cNvPr id="6" name="Picture 5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31136"/>
            <a:ext cx="6502400" cy="1054100"/>
          </a:xfrm>
          <a:prstGeom prst="rect">
            <a:avLst/>
          </a:prstGeom>
        </p:spPr>
      </p:pic>
      <p:pic>
        <p:nvPicPr>
          <p:cNvPr id="7" name="Picture 6" descr="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547872"/>
            <a:ext cx="10769600" cy="787400"/>
          </a:xfrm>
          <a:prstGeom prst="rect">
            <a:avLst/>
          </a:prstGeom>
        </p:spPr>
      </p:pic>
      <p:pic>
        <p:nvPicPr>
          <p:cNvPr id="8" name="Picture 7" descr="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425696"/>
            <a:ext cx="11226800" cy="1054100"/>
          </a:xfrm>
          <a:prstGeom prst="rect">
            <a:avLst/>
          </a:prstGeom>
        </p:spPr>
      </p:pic>
      <p:pic>
        <p:nvPicPr>
          <p:cNvPr id="9" name="Picture 8" descr="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303520"/>
            <a:ext cx="97028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Broker Failure and ISR Recovery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>
            <a:r>
              <a:t> Monitor</a:t>
            </a:r>
            <a:r>
              <a:rPr>
                <a:latin typeface="Courier New"/>
              </a:rPr>
              <a:t> UnderReplicatedPartitions</a:t>
            </a:r>
            <a:r>
              <a:t> — non-zero is the first sign of trouble.</a:t>
            </a:r>
          </a:p>
          <a:p>
            <a:r>
              <a:t> Key configs:</a:t>
            </a:r>
          </a:p>
          <a:p>
            <a:r>
              <a:rPr>
                <a:latin typeface="Courier New"/>
              </a:rPr>
              <a:t> replica.lag.time.max.ms</a:t>
            </a:r>
            <a:r>
              <a:t> — how long before a replica is removed from ISR</a:t>
            </a:r>
          </a:p>
          <a:p>
            <a:r>
              <a:rPr>
                <a:latin typeface="Courier New"/>
              </a:rPr>
              <a:t> min.insync.replicas</a:t>
            </a:r>
            <a:r>
              <a:t> — minimum ISR required for produce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8940800" cy="2387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 Configuration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>
            <a:r>
              <a:t> Recommendation for production:</a:t>
            </a:r>
            <a:r>
              <a:rPr>
                <a:latin typeface="Courier New"/>
              </a:rPr>
              <a:t> acks=all</a:t>
            </a:r>
            <a:r>
              <a:t> ,</a:t>
            </a:r>
            <a:r>
              <a:rPr>
                <a:latin typeface="Courier New"/>
              </a:rPr>
              <a:t> min.insync.replicas=2</a:t>
            </a:r>
            <a:r>
              <a:t> ,</a:t>
            </a:r>
            <a:r>
              <a:rPr>
                <a:latin typeface="Courier New"/>
              </a:rPr>
              <a:t> replication-factor=3</a:t>
            </a:r>
            <a:r>
              <a:t> 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914400"/>
          <a:ext cx="8915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8850"/>
                <a:gridCol w="2228850"/>
                <a:gridCol w="2228850"/>
                <a:gridCol w="2228850"/>
              </a:tblGrid>
              <a:tr h="457200">
                <a:tc>
                  <a:txBody>
                    <a:bodyPr/>
                    <a:lstStyle/>
                    <a:p>
                      <a:r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Result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Maximum durability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Courier New"/>
                        </a:rPr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 data loss, some throughput cost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High throughput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Courier Ne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Possible data loss on broker failure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Zero data 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Courier New"/>
                        </a:rPr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RF (e.g. 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Writes fail if any broker is down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5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Capacity planning: model storage per topic before provisioning</a:t>
            </a:r>
          </a:p>
          <a:p>
            <a:r>
              <a:t> Expanding Kafka: use</a:t>
            </a:r>
            <a:r>
              <a:rPr>
                <a:latin typeface="Courier New"/>
              </a:rPr>
              <a:t> kafka-reassign-partitions</a:t>
            </a:r>
            <a:r>
              <a:t> with throttle, validate ISR</a:t>
            </a:r>
          </a:p>
          <a:p>
            <a:r>
              <a:t> Producer tuning: larger batches, linger, lz4/zstd compression</a:t>
            </a:r>
          </a:p>
          <a:p>
            <a:r>
              <a:t> Consumer tuning: fetch.min.bytes, max.poll.records</a:t>
            </a:r>
          </a:p>
          <a:p>
            <a:r>
              <a:t> Consumer lag is the primary operational health metric</a:t>
            </a:r>
          </a:p>
          <a:p>
            <a:r>
              <a:t> Cooperative rebalancing dramatically reduces disruption; the KIP-848 broker-driven protocol is the Kafka 4 forward path</a:t>
            </a:r>
          </a:p>
          <a:p>
            <a:r>
              <a:t> Tiered Storage decouples retention from broker disk — size on throughput, not total storage</a:t>
            </a:r>
          </a:p>
          <a:p>
            <a:r>
              <a:t> HA:</a:t>
            </a:r>
            <a:r>
              <a:rPr>
                <a:latin typeface="Courier New"/>
              </a:rPr>
              <a:t> acks=all</a:t>
            </a:r>
            <a:r>
              <a:t> ,</a:t>
            </a:r>
            <a:r>
              <a:rPr>
                <a:latin typeface="Courier New"/>
              </a:rPr>
              <a:t> min.insync.replicas=2</a:t>
            </a:r>
            <a:r>
              <a:t> ,</a:t>
            </a:r>
            <a:r>
              <a:rPr>
                <a:latin typeface="Courier New"/>
              </a:rPr>
              <a:t> replication-factor=3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What's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Module 6 — Modern Kafka &amp; Streaming Trends</a:t>
            </a:r>
          </a:p>
          <a:p>
            <a:r>
              <a:t> Multi-cluster federation and disaster recovery</a:t>
            </a:r>
          </a:p>
          <a:p>
            <a:r>
              <a:t> Kafka at the edge and IoT</a:t>
            </a:r>
          </a:p>
          <a:p>
            <a:r>
              <a:t> AI-driven streaming pipelines</a:t>
            </a:r>
          </a:p>
          <a:p>
            <a:r>
              <a:t> Serverless Kafka: MSK Serverless, Confluent Cloud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Preview — Lab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Stress-Test a Kafka Cluster and Analyze Rebalance and Failover Behavior</a:t>
            </a:r>
          </a:p>
          <a:p>
            <a:r>
              <a:t> You will:</a:t>
            </a:r>
          </a:p>
          <a:p>
            <a:r>
              <a:t> Baseline and tuned throughput benchmarks</a:t>
            </a:r>
          </a:p>
          <a:p>
            <a:r>
              <a:t> Consumer lag simulation and group-based remediation</a:t>
            </a:r>
          </a:p>
          <a:p>
            <a:r>
              <a:t> Eager vs cooperative rebalancing comparison</a:t>
            </a:r>
          </a:p>
          <a:p>
            <a:r>
              <a:t> Partition reassignment with throttling on a live cluster</a:t>
            </a:r>
          </a:p>
          <a:p>
            <a:r>
              <a:t> Broker failure simulation with ISR recovery measurement</a:t>
            </a:r>
          </a:p>
          <a:p>
            <a:r>
              <a:t> End-to-end latency measurement</a:t>
            </a:r>
          </a:p>
          <a:p>
            <a:r>
              <a:t> Environment: Docker Compose (3-broker Kafka cluster)</a:t>
            </a:r>
            <a:r>
              <a:t> Time: 75–90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lnDef>
  </a:objectDefaults>
  <a:extraClrSchemeLst>
    <a:extraClrScheme>
      <a:clrScheme name="LPc_New 1">
        <a:dk1>
          <a:srgbClr val="000099"/>
        </a:dk1>
        <a:lt1>
          <a:srgbClr val="FFFFFF"/>
        </a:lt1>
        <a:dk2>
          <a:srgbClr val="0000FF"/>
        </a:dk2>
        <a:lt2>
          <a:srgbClr val="FFFF00"/>
        </a:lt2>
        <a:accent1>
          <a:srgbClr val="FF6633"/>
        </a:accent1>
        <a:accent2>
          <a:srgbClr val="FF00FF"/>
        </a:accent2>
        <a:accent3>
          <a:srgbClr val="AAAAFF"/>
        </a:accent3>
        <a:accent4>
          <a:srgbClr val="DADADA"/>
        </a:accent4>
        <a:accent5>
          <a:srgbClr val="FFB8AD"/>
        </a:accent5>
        <a:accent6>
          <a:srgbClr val="E700E7"/>
        </a:accent6>
        <a:hlink>
          <a:srgbClr val="FF00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2">
        <a:dk1>
          <a:srgbClr val="000066"/>
        </a:dk1>
        <a:lt1>
          <a:srgbClr val="CCECFF"/>
        </a:lt1>
        <a:dk2>
          <a:srgbClr val="000080"/>
        </a:dk2>
        <a:lt2>
          <a:srgbClr val="00000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000056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B2B2B2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797979"/>
        </a:accent6>
        <a:hlink>
          <a:srgbClr val="5F5F5F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4">
        <a:dk1>
          <a:srgbClr val="000000"/>
        </a:dk1>
        <a:lt1>
          <a:srgbClr val="FFFFFF"/>
        </a:lt1>
        <a:dk2>
          <a:srgbClr val="660033"/>
        </a:dk2>
        <a:lt2>
          <a:srgbClr val="FFFF66"/>
        </a:lt2>
        <a:accent1>
          <a:srgbClr val="FF0033"/>
        </a:accent1>
        <a:accent2>
          <a:srgbClr val="CC6600"/>
        </a:accent2>
        <a:accent3>
          <a:srgbClr val="B8AAAD"/>
        </a:accent3>
        <a:accent4>
          <a:srgbClr val="DADADA"/>
        </a:accent4>
        <a:accent5>
          <a:srgbClr val="FFAAAD"/>
        </a:accent5>
        <a:accent6>
          <a:srgbClr val="B95C00"/>
        </a:accent6>
        <a:hlink>
          <a:srgbClr val="999933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5">
        <a:dk1>
          <a:srgbClr val="000000"/>
        </a:dk1>
        <a:lt1>
          <a:srgbClr val="FFFFFF"/>
        </a:lt1>
        <a:dk2>
          <a:srgbClr val="CCECFF"/>
        </a:dk2>
        <a:lt2>
          <a:srgbClr val="00008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6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9999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7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0794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AAC8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378292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9" baseType="lpstr">
      <vt:lpstr>ＭＳ Ｐゴシック</vt:lpstr>
      <vt:lpstr>Arial</vt:lpstr>
      <vt:lpstr>Arial Bold</vt:lpstr>
      <vt:lpstr>Garamond</vt:lpstr>
      <vt:lpstr>Monotype Sorts</vt:lpstr>
      <vt:lpstr>Times New Roman</vt:lpstr>
      <vt:lpstr>Verdana</vt:lpstr>
      <vt:lpstr>Wingdings</vt:lpstr>
      <vt:lpstr>LPc_New</vt:lpstr>
    </vt:vector>
  </TitlesOfParts>
  <Company>Elephant Scale LLC &amp; LearningPatterns Inc.</Company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subject>Spark</dc:subject>
  <dc:creator>Elephant Scale</dc:creator>
  <cp:lastModifiedBy>fateme</cp:lastModifiedBy>
  <cp:revision>4135</cp:revision>
  <cp:lastPrinted>2010-01-03T02:41:41Z</cp:lastPrinted>
  <dcterms:created xsi:type="dcterms:W3CDTF">2010-07-13T15:22:01Z</dcterms:created>
  <dcterms:modified xsi:type="dcterms:W3CDTF">2019-10-02T11:26:38Z</dcterms:modified>
</cp:coreProperties>
</file>