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4 — Connectors, Pipelines &amp; Integrations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Why Kafka Connect exists</a:t>
            </a:r>
          </a:p>
          <a:p>
            <a:r>
              <a:t> Connect architecture and internal topics</a:t>
            </a:r>
          </a:p>
          <a:p>
            <a:r>
              <a:t> Source connectors, sink connectors, offset management</a:t>
            </a:r>
          </a:p>
          <a:p>
            <a:r>
              <a:t> Error handling, retries, and Dead Letter Queues</a:t>
            </a:r>
          </a:p>
          <a:p>
            <a:r>
              <a:t> Custom connector development</a:t>
            </a:r>
          </a:p>
          <a:p>
            <a:r>
              <a:t> Integration patterns: S3, Elasticsearch, Flink, Spark, Iceberg/lakehouse</a:t>
            </a:r>
          </a:p>
          <a:p>
            <a:r>
              <a:t> Stream-to-batch handoff and the lakehouse path</a:t>
            </a:r>
          </a:p>
          <a:p>
            <a:r>
              <a:t> Backpressure management</a:t>
            </a:r>
          </a:p>
          <a:p>
            <a:r>
              <a:t> Enterprise integration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Kafka Connect?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Moving data between systems is</a:t>
            </a:r>
            <a:r>
              <a:rPr b="1"/>
              <a:t> the hardest part of streaming</a:t>
            </a:r>
            <a:r>
              <a:t> .</a:t>
            </a:r>
          </a:p>
          <a:p>
            <a:r>
              <a:t> Without Kafka Connect:</a:t>
            </a:r>
          </a:p>
          <a:p>
            <a:r>
              <a:t> Custom code for every integration</a:t>
            </a:r>
          </a:p>
          <a:p>
            <a:r>
              <a:t> Reinventing offset management, error handling, restarts</a:t>
            </a:r>
          </a:p>
          <a:p>
            <a:r>
              <a:t> No standard for connector configuration or monitoring</a:t>
            </a:r>
          </a:p>
          <a:p>
            <a:r>
              <a:t> With Kafka Connect:</a:t>
            </a:r>
          </a:p>
          <a:p>
            <a:r>
              <a:t> 700+ production-ready connectors</a:t>
            </a:r>
          </a:p>
          <a:p>
            <a:r>
              <a:t> Built-in offset management and exactly-once delivery (Kafka 3.3+)</a:t>
            </a:r>
          </a:p>
          <a:p>
            <a:r>
              <a:t> REST API for deployment and monitoring</a:t>
            </a:r>
          </a:p>
          <a:p>
            <a:r>
              <a:t> Horizontal scaling via connector tasks</a:t>
            </a:r>
          </a:p>
          <a:p>
            <a:r>
              <a:t> Schema Registry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Connect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Workers are</a:t>
            </a:r>
            <a:r>
              <a:rPr b="1"/>
              <a:t> stateless</a:t>
            </a:r>
            <a:r>
              <a:t> — all state is stored in Kafka internal topics.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2268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 Internal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>
            <a:r>
              <a:t> Benefits:</a:t>
            </a:r>
          </a:p>
          <a:p>
            <a:r>
              <a:t> Workers are completely stateless — any worker can pick up any task</a:t>
            </a:r>
          </a:p>
          <a:p>
            <a:r>
              <a:t> Full state survives cluster restarts and worker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Purpose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connect-configs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Connector and task configurations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connect-offsets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Source connector read positions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connect-status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Connector and task status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Connector — JDBC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531600" cy="452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Sink Connector — S3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15400" cy="24906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Offset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Source connectors store their read position in</a:t>
            </a:r>
            <a:r>
              <a:rPr>
                <a:latin typeface="Courier New"/>
              </a:rPr>
              <a:t> connect-offsets</a:t>
            </a:r>
            <a:r>
              <a:t> :</a:t>
            </a:r>
          </a:p>
          <a:p/>
          <a:p>
            <a:r>
              <a:t> On restart: connector</a:t>
            </a:r>
            <a:r>
              <a:rPr b="1"/>
              <a:t> resumes from last stored offset</a:t>
            </a:r>
            <a:r>
              <a:t> — no duplicates, no data loss.</a:t>
            </a:r>
          </a:p>
          <a:p>
            <a:r>
              <a:t> For</a:t>
            </a:r>
            <a:r>
              <a:rPr b="1"/>
              <a:t> exactly-once</a:t>
            </a:r>
            <a:r>
              <a:t> source connectors (GA since Kafka 3.3, standard in Kafka 4):</a:t>
            </a:r>
          </a:p>
          <a:p>
            <a:r>
              <a:t> Offsets are committed atomically with the Kafka produce transaction</a:t>
            </a:r>
          </a:p>
          <a:p>
            <a:r>
              <a:t> No duplicates even on connector worker failure</a:t>
            </a:r>
          </a:p>
          <a:p>
            <a:r>
              <a:t> Enable with</a:t>
            </a:r>
            <a:r>
              <a:rPr>
                <a:latin typeface="Courier New"/>
              </a:rPr>
              <a:t> exactly.once.source.support=enabled</a:t>
            </a:r>
            <a:r>
              <a:t> on the Connect worker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5781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Handling and Dead Letter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t> Failed records go to the DLQ with error headers: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093200" cy="23876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0048"/>
            <a:ext cx="84836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Retry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rPr b="1"/>
              <a:t> Transient failures</a:t>
            </a:r>
            <a:r>
              <a:t> (network timeouts, unavailability) → retry with exponential backoff</a:t>
            </a:r>
          </a:p>
          <a:p>
            <a:r>
              <a:rPr b="1"/>
              <a:t> Persistent failures</a:t>
            </a:r>
            <a:r>
              <a:t> (schema mismatch, corrupt records) → send to DLQ immediately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5024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↔ Flink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Flink natively reads from and writes to Kafka: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16967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↔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15400" cy="32788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Stream-to-Batch Handoff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rPr b="1"/>
              <a:t> Lambda architecture</a:t>
            </a:r>
            <a:r>
              <a:t> — dual path (real-time + batch), merge results</a:t>
            </a:r>
          </a:p>
          <a:p>
            <a:r>
              <a:rPr b="1"/>
              <a:t> Kappa architecture</a:t>
            </a:r>
            <a:r>
              <a:t> — single Kafka path, replay for batch (preferred when retention allows)</a:t>
            </a:r>
          </a:p>
          <a:p>
            <a:r>
              <a:rPr b="1"/>
              <a:t> Modern lakehouse path (2026):</a:t>
            </a:r>
            <a:r>
              <a:t> instead of landing raw files, sink directly to</a:t>
            </a:r>
            <a:r>
              <a:rPr b="1"/>
              <a:t> Apache Iceberg</a:t>
            </a:r>
            <a:r>
              <a:t> tables — via the Iceberg Sink Connector, or Confluent</a:t>
            </a:r>
            <a:r>
              <a:rPr b="1"/>
              <a:t> Tableflow</a:t>
            </a:r>
            <a:r>
              <a:t> (Kafka topics materialized as Iceberg/Delta tables). Query from Spark, Flink, Trino, or</a:t>
            </a:r>
            <a:r>
              <a:t> Athena with no separate ETL job. Pairs naturally with Tiered Storage.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1600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Backpressure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consumers fall behind producers: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353312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Root 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 few connector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Increase `tasks.max`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Slow sink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Circuit breaker, async writes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Producer burst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Separate high/low-priority topics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Consumer processing slow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Scale consumer instances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Integration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Outbox Pattern</a:t>
            </a:r>
            <a:r>
              <a:t> — eliminates dual-write risk:</a:t>
            </a:r>
          </a:p>
          <a:p/>
          <a:p>
            <a:r>
              <a:rPr b="1"/>
              <a:t> Saga</a:t>
            </a:r>
            <a:r>
              <a:t> — distributed transaction coordination via events:</a:t>
            </a:r>
          </a:p>
          <a:p/>
          <a:p>
            <a:r>
              <a:rPr b="1"/>
              <a:t> Event-Carried State Transfer</a:t>
            </a:r>
            <a:r>
              <a:t> — embed full state in the event (avoid lookups):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312400" cy="5207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10769600" cy="52070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08960"/>
            <a:ext cx="10922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4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Connect provides 700+ connectors with built-in offset management</a:t>
            </a:r>
          </a:p>
          <a:p>
            <a:r>
              <a:t> Internal topics make workers completely stateless and fault-tolerant</a:t>
            </a:r>
          </a:p>
          <a:p>
            <a:r>
              <a:t> Configure</a:t>
            </a:r>
            <a:r>
              <a:rPr>
                <a:latin typeface="Courier New"/>
              </a:rPr>
              <a:t> errors.tolerance</a:t>
            </a:r>
            <a:r>
              <a:t> , retries, and DLQ for production resilience</a:t>
            </a:r>
          </a:p>
          <a:p>
            <a:r>
              <a:t> Flink and Spark both have mature native Kafka integrations</a:t>
            </a:r>
          </a:p>
          <a:p>
            <a:r>
              <a:t> Stream-to-batch: S3 sink + Kappa architecture, increasingly going straight to an Iceberg lakehouse (Tableflow)</a:t>
            </a:r>
          </a:p>
          <a:p>
            <a:r>
              <a:t> Enterprise patterns: outbox, saga, event-carried state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5 — Reliability, Scaling &amp; Performance</a:t>
            </a:r>
          </a:p>
          <a:p>
            <a:r>
              <a:t> Capacity planning and right-sizing</a:t>
            </a:r>
          </a:p>
          <a:p>
            <a:r>
              <a:t> Expanding Kafka with no data loss</a:t>
            </a:r>
          </a:p>
          <a:p>
            <a:r>
              <a:t> HA and performance tuning: replication, acks, consumer lag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Deploy and Tune Source and Sink Connectors</a:t>
            </a:r>
          </a:p>
          <a:p>
            <a:r>
              <a:t> You will:</a:t>
            </a:r>
          </a:p>
          <a:p>
            <a:r>
              <a:t> Deploy a JDBC source connector reading from PostgreSQL</a:t>
            </a:r>
          </a:p>
          <a:p>
            <a:r>
              <a:t> Deploy an S3/MinIO sink connector writing time-partitioned files</a:t>
            </a:r>
          </a:p>
          <a:p>
            <a:r>
              <a:t> Inject bad records and observe Dead Letter Queue behavior</a:t>
            </a:r>
          </a:p>
          <a:p>
            <a:r>
              <a:t> Pause, insert rows, resume — verify offset tracking</a:t>
            </a:r>
          </a:p>
          <a:p>
            <a:r>
              <a:t> Discuss task scaling limits for JDBC vs file connectors</a:t>
            </a:r>
          </a:p>
          <a:p>
            <a:r>
              <a:t> Environment: Docker Compose (Kafka, PostgreSQL, MinIO, Kafka Connect)</a:t>
            </a:r>
            <a:r>
              <a:t> Time: 60–75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