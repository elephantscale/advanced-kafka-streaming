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1" r:id="rId1"/>
  </p:sldMasterIdLst>
  <p:notesMasterIdLst>
    <p:notesMasterId r:id="rId23"/>
  </p:notesMasterIdLst>
  <p:handoutMasterIdLst>
    <p:handoutMasterId r:id="rId24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372600" cy="829786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1pPr>
    <a:lvl2pPr marL="4572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2pPr>
    <a:lvl3pPr marL="9144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3pPr>
    <a:lvl4pPr marL="13716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4pPr>
    <a:lvl5pPr marL="18288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5pPr>
    <a:lvl6pPr marL="22860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6pPr>
    <a:lvl7pPr marL="27432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7pPr>
    <a:lvl8pPr marL="32004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8pPr>
    <a:lvl9pPr marL="36576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9pPr>
  </p:defaultTextStyle>
  <p:extLst>
    <p:ext uri="{EFAFB233-063F-42B5-8137-9DF3F51BA10A}">
      <p15:sldGuideLst xmlns:p15="http://schemas.microsoft.com/office/powerpoint/2012/main">
        <p15:guide id="1" orient="horz" pos="2614" userDrawn="1">
          <p15:clr>
            <a:srgbClr val="A4A3A4"/>
          </p15:clr>
        </p15:guide>
        <p15:guide id="2" pos="295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y Conlee" initials="MC" lastIdx="1" clrIdx="0"/>
  <p:cmAuthor id="2" name="Mark Kerzner" initials="MK" lastIdx="6" clrIdx="1"/>
  <p:cmAuthor id="3" name="Mary Beth Conlee" initials="MBC" lastIdx="7" clrIdx="2"/>
  <p:cmAuthor id="4" name="Michelle" initials="M" lastIdx="5" clrIdx="3"/>
  <p:cmAuthor id="5" name="Tricia Murphy" initials="TM" lastIdx="4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1A1A"/>
    <a:srgbClr val="D6B8EB"/>
    <a:srgbClr val="A77EC7"/>
    <a:srgbClr val="B59BC7"/>
    <a:srgbClr val="C7AAD9"/>
    <a:srgbClr val="C89EDF"/>
    <a:srgbClr val="BD83DF"/>
    <a:srgbClr val="CB89DF"/>
    <a:srgbClr val="CA87D1"/>
    <a:srgbClr val="CF86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959" autoAdjust="0"/>
    <p:restoredTop sz="86027" autoAdjust="0"/>
  </p:normalViewPr>
  <p:slideViewPr>
    <p:cSldViewPr>
      <p:cViewPr varScale="1">
        <p:scale>
          <a:sx n="90" d="100"/>
          <a:sy n="90" d="100"/>
        </p:scale>
        <p:origin x="3312" y="192"/>
      </p:cViewPr>
      <p:guideLst>
        <p:guide orient="horz" pos="2614"/>
        <p:guide pos="295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5" d="100"/>
        <a:sy n="85" d="100"/>
      </p:scale>
      <p:origin x="0" y="0"/>
    </p:cViewPr>
  </p:sorterViewPr>
  <p:notesViewPr>
    <p:cSldViewPr>
      <p:cViewPr>
        <p:scale>
          <a:sx n="80" d="100"/>
          <a:sy n="80" d="100"/>
        </p:scale>
        <p:origin x="3296" y="-56"/>
      </p:cViewPr>
      <p:guideLst>
        <p:guide orient="horz" pos="3024"/>
        <p:guide pos="23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3363"/>
            <a:ext cx="3170238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3363"/>
            <a:ext cx="3170237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algn="r"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97E62689-8C7D-4291-A094-4E689FEC4C3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29152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68375" y="473075"/>
            <a:ext cx="5365750" cy="4751388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8280" name="Rectangle 8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365250" y="9388475"/>
            <a:ext cx="4578350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1" compatLnSpc="1">
            <a:prstTxWarp prst="textNoShape">
              <a:avLst/>
            </a:prstTxWarp>
          </a:bodyPr>
          <a:lstStyle>
            <a:lvl1pPr algn="ctr" defTabSz="965200" eaLnBrk="0" hangingPunct="0">
              <a:defRPr sz="900">
                <a:latin typeface="Arial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438281" name="Rectangle 9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6400800" y="9388475"/>
            <a:ext cx="554038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b="1">
                <a:latin typeface="Arial" charset="0"/>
              </a:defRPr>
            </a:lvl1pPr>
          </a:lstStyle>
          <a:p>
            <a:pPr>
              <a:defRPr/>
            </a:pPr>
            <a:fld id="{EFAADD5D-AF76-45EE-AA5F-6DAC73BF167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38306" name="Text Box 34"/>
          <p:cNvSpPr txBox="1">
            <a:spLocks noChangeArrowheads="1"/>
          </p:cNvSpPr>
          <p:nvPr/>
        </p:nvSpPr>
        <p:spPr bwMode="auto">
          <a:xfrm>
            <a:off x="271463" y="5176838"/>
            <a:ext cx="617537" cy="25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6386" tIns="48194" rIns="96386" bIns="48194"/>
          <a:lstStyle/>
          <a:p>
            <a:pPr defTabSz="960438">
              <a:defRPr/>
            </a:pPr>
            <a:r>
              <a:rPr lang="en-US" sz="1200" b="1" u="sng" dirty="0">
                <a:latin typeface="Times New Roman" pitchFamily="18" charset="0"/>
                <a:cs typeface="Times New Roman" pitchFamily="18" charset="0"/>
              </a:rPr>
              <a:t>Notes:</a:t>
            </a:r>
          </a:p>
        </p:txBody>
      </p:sp>
      <p:sp>
        <p:nvSpPr>
          <p:cNvPr id="438309" name="Rectangle 37"/>
          <p:cNvSpPr>
            <a:spLocks noGrp="1" noChangeArrowheads="1"/>
          </p:cNvSpPr>
          <p:nvPr>
            <p:ph type="body" sz="quarter" idx="3"/>
          </p:nvPr>
        </p:nvSpPr>
        <p:spPr bwMode="gray">
          <a:xfrm>
            <a:off x="322263" y="5462588"/>
            <a:ext cx="6607175" cy="3751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37" tIns="45768" rIns="91537" bIns="45768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 dirty="0"/>
          </a:p>
        </p:txBody>
      </p:sp>
      <p:sp>
        <p:nvSpPr>
          <p:cNvPr id="438317" name="Line 45"/>
          <p:cNvSpPr>
            <a:spLocks noChangeShapeType="1"/>
          </p:cNvSpPr>
          <p:nvPr/>
        </p:nvSpPr>
        <p:spPr bwMode="auto">
          <a:xfrm>
            <a:off x="322263" y="9324975"/>
            <a:ext cx="6653212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30000"/>
              </a:spcBef>
              <a:defRPr/>
            </a:pPr>
            <a:endParaRPr lang="en-US" dirty="0">
              <a:latin typeface="Garamond" pitchFamily="-11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374403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indent="0" algn="l" rtl="0" eaLnBrk="0" fontAlgn="base" hangingPunct="0">
      <a:spcBef>
        <a:spcPct val="30000"/>
      </a:spcBef>
      <a:spcAft>
        <a:spcPct val="0"/>
      </a:spcAft>
      <a:buSzPct val="65000"/>
      <a:buFont typeface="Wingdings" pitchFamily="2" charset="2"/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 pitchFamily="-110" charset="-128"/>
      </a:defRPr>
    </a:lvl1pPr>
    <a:lvl2pPr marL="282575" indent="0" algn="l" rtl="0" eaLnBrk="0" fontAlgn="base" hangingPunct="0">
      <a:spcBef>
        <a:spcPct val="30000"/>
      </a:spcBef>
      <a:spcAft>
        <a:spcPct val="0"/>
      </a:spcAft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2pPr>
    <a:lvl3pPr marL="744538" indent="-173038" algn="l" rtl="0" eaLnBrk="0" fontAlgn="base" hangingPunct="0">
      <a:spcBef>
        <a:spcPct val="30000"/>
      </a:spcBef>
      <a:spcAft>
        <a:spcPct val="0"/>
      </a:spcAft>
      <a:buChar char="•"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/>
          <p:cNvPicPr preferRelativeResize="0">
            <a:picLocks noChangeArrowheads="1"/>
          </p:cNvPicPr>
          <p:nvPr/>
        </p:nvPicPr>
        <p:blipFill rotWithShape="1">
          <a:blip r:embed="rId2"/>
          <a:srcRect t="19473"/>
          <a:stretch/>
        </p:blipFill>
        <p:spPr bwMode="auto">
          <a:xfrm>
            <a:off x="1" y="-1801"/>
            <a:ext cx="2498725" cy="8308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04898" name="Rectangle 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498726" y="4984481"/>
            <a:ext cx="6335713" cy="400685"/>
          </a:xfrm>
        </p:spPr>
        <p:txBody>
          <a:bodyPr>
            <a:spAutoFit/>
          </a:bodyPr>
          <a:lstStyle>
            <a:lvl1pPr marL="0" indent="0" algn="r">
              <a:buFont typeface="Monotype Sorts" pitchFamily="-110" charset="2"/>
              <a:buNone/>
              <a:defRPr sz="20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04900" name="Rectangle 4"/>
          <p:cNvSpPr>
            <a:spLocks noGrp="1" noChangeArrowheads="1"/>
          </p:cNvSpPr>
          <p:nvPr>
            <p:ph type="ctrTitle" sz="quarter"/>
          </p:nvPr>
        </p:nvSpPr>
        <p:spPr>
          <a:xfrm>
            <a:off x="704850" y="3226947"/>
            <a:ext cx="8121650" cy="1469414"/>
          </a:xfrm>
        </p:spPr>
        <p:txBody>
          <a:bodyPr lIns="91440" anchor="ctr"/>
          <a:lstStyle>
            <a:lvl1pPr algn="ctr" defTabSz="1825625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EF9825-4C23-4085-A4E3-B5565466BD9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762500" y="994975"/>
            <a:ext cx="4375150" cy="33210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762500" y="4500439"/>
            <a:ext cx="4375150" cy="3322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0E4B02-67B9-4228-B08B-2561CEE6B94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250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6CC632-9864-46F1-8EAB-FCD3BB9CEC9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4950" y="994976"/>
            <a:ext cx="8902700" cy="682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03876" name="Rectangle 4"/>
          <p:cNvSpPr>
            <a:spLocks noGrp="1" noChangeArrowheads="1"/>
          </p:cNvSpPr>
          <p:nvPr>
            <p:ph type="sldNum" sz="quarter" idx="4"/>
          </p:nvPr>
        </p:nvSpPr>
        <p:spPr bwMode="hidden">
          <a:xfrm>
            <a:off x="8777288" y="7961724"/>
            <a:ext cx="546100" cy="2727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b="1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fld id="{77EF9825-4C23-4085-A4E3-B5565466BD9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03877" name="Rectangle 5"/>
          <p:cNvSpPr>
            <a:spLocks noGrp="1" noChangeArrowheads="1"/>
          </p:cNvSpPr>
          <p:nvPr>
            <p:ph type="ftr" sz="quarter" idx="3"/>
          </p:nvPr>
        </p:nvSpPr>
        <p:spPr bwMode="hidden">
          <a:xfrm>
            <a:off x="234950" y="8032785"/>
            <a:ext cx="5441950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ctr" eaLnBrk="0" hangingPunct="0">
              <a:spcBef>
                <a:spcPct val="0"/>
              </a:spcBef>
              <a:defRPr sz="9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pic>
        <p:nvPicPr>
          <p:cNvPr id="1030" name="Picture 6"/>
          <p:cNvPicPr preferRelativeResize="0">
            <a:picLocks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ltGray">
          <a:xfrm>
            <a:off x="0" y="1"/>
            <a:ext cx="704850" cy="8355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1" name="Rectangle 7"/>
          <p:cNvSpPr>
            <a:spLocks noGrp="1" noChangeArrowheads="1"/>
          </p:cNvSpPr>
          <p:nvPr>
            <p:ph type="title"/>
          </p:nvPr>
        </p:nvSpPr>
        <p:spPr bwMode="invGray">
          <a:xfrm>
            <a:off x="704850" y="1"/>
            <a:ext cx="8667750" cy="835549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6" r:id="rId1"/>
    <p:sldLayoutId id="2147483655" r:id="rId2"/>
    <p:sldLayoutId id="2147483654" r:id="rId3"/>
    <p:sldLayoutId id="2147483653" r:id="rId4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+mj-lt"/>
          <a:ea typeface="ＭＳ Ｐゴシック" pitchFamily="-110" charset="-128"/>
          <a:cs typeface="ＭＳ Ｐゴシック" pitchFamily="-110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9pPr>
    </p:titleStyle>
    <p:bodyStyle>
      <a:lvl1pPr marL="290513" indent="-29051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5000"/>
        <a:buFont typeface="Wingdings" pitchFamily="2" charset="2"/>
        <a:buChar char=""/>
        <a:defRPr sz="2400">
          <a:solidFill>
            <a:srgbClr val="000000"/>
          </a:solidFill>
          <a:latin typeface="+mn-lt"/>
          <a:ea typeface="ＭＳ Ｐゴシック" pitchFamily="-110" charset="-128"/>
          <a:cs typeface="ＭＳ Ｐゴシック" pitchFamily="-110" charset="-128"/>
        </a:defRPr>
      </a:lvl1pPr>
      <a:lvl2pPr marL="633413" indent="-228600" algn="l" rtl="0" eaLnBrk="0" fontAlgn="base" hangingPunct="0">
        <a:spcBef>
          <a:spcPct val="20000"/>
        </a:spcBef>
        <a:spcAft>
          <a:spcPct val="0"/>
        </a:spcAft>
        <a:buClr>
          <a:srgbClr val="000000"/>
        </a:buClr>
        <a:buChar char="–"/>
        <a:defRPr sz="22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2pPr>
      <a:lvl3pPr marL="969963" indent="-22225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3pPr>
      <a:lvl4pPr marL="1258888" indent="-228600" algn="l" rtl="0" eaLnBrk="0" fontAlgn="base" hangingPunct="0">
        <a:spcBef>
          <a:spcPct val="0"/>
        </a:spcBef>
        <a:spcAft>
          <a:spcPct val="0"/>
        </a:spcAft>
        <a:buClr>
          <a:srgbClr val="5F5F5F"/>
        </a:buClr>
        <a:buSzPct val="65000"/>
        <a:buFont typeface="Arial Bold" pitchFamily="34" charset="0"/>
        <a:buChar char="‒"/>
        <a:defRPr lang="en-US" dirty="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4pPr>
      <a:lvl5pPr marL="20558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  <a:cs typeface="ＭＳ Ｐゴシック"/>
        </a:defRPr>
      </a:lvl5pPr>
      <a:lvl6pPr marL="25130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6pPr>
      <a:lvl7pPr marL="29702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7pPr>
      <a:lvl8pPr marL="34274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8pPr>
      <a:lvl9pPr marL="38846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sz="quarter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itle 2"/>
          <p:cNvSpPr>
            <a:spLocks noGrp="1"/>
          </p:cNvSpPr>
          <p:nvPr>
            <p:ph type="ctrTitle" sz="quarter"/>
          </p:nvPr>
        </p:nvSpPr>
        <p:spPr/>
        <p:txBody>
          <a:bodyPr wrap="square">
            <a:noAutofit/>
          </a:bodyPr>
          <a:lstStyle/>
          <a:p>
            <a:r>
              <a:rPr sz="4200" b="1" i="0">
                <a:latin typeface="Times New Roman"/>
              </a:rPr>
              <a:t>Module 4 — Connectors, Pipelines &amp; Integrations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4 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Why Kafka Connect exists</a:t>
            </a:r>
          </a:p>
          <a:p>
            <a:r>
              <a:t> Connect architecture and internal topics</a:t>
            </a:r>
          </a:p>
          <a:p>
            <a:r>
              <a:t> Source connectors, sink connectors, offset management</a:t>
            </a:r>
          </a:p>
          <a:p>
            <a:r>
              <a:t> Error handling, retries, and Dead Letter Queues</a:t>
            </a:r>
          </a:p>
          <a:p>
            <a:r>
              <a:t> Custom connector development</a:t>
            </a:r>
          </a:p>
          <a:p>
            <a:r>
              <a:t> Integration patterns: S3, Elasticsearch, Flink, Spark, Iceberg/lakehouse</a:t>
            </a:r>
          </a:p>
          <a:p>
            <a:r>
              <a:t> Stream-to-batch handoff and the lakehouse path</a:t>
            </a:r>
          </a:p>
          <a:p>
            <a:r>
              <a:t> Backpressure management</a:t>
            </a:r>
          </a:p>
          <a:p>
            <a:r>
              <a:t> Enterprise integration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Kafka Connect?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Moving data between systems is</a:t>
            </a:r>
            <a:r>
              <a:rPr b="1"/>
              <a:t> the hardest part of streaming</a:t>
            </a:r>
            <a:r>
              <a:t> .</a:t>
            </a:r>
          </a:p>
          <a:p>
            <a:r>
              <a:t> Without Kafka Connect:</a:t>
            </a:r>
          </a:p>
          <a:p>
            <a:r>
              <a:t> Custom code for every integration</a:t>
            </a:r>
          </a:p>
          <a:p>
            <a:r>
              <a:t> Reinventing offset management, error handling, restarts</a:t>
            </a:r>
          </a:p>
          <a:p>
            <a:r>
              <a:t> No standard for connector configuration or monitoring</a:t>
            </a:r>
          </a:p>
          <a:p>
            <a:r>
              <a:t> With Kafka Connect:</a:t>
            </a:r>
          </a:p>
          <a:p>
            <a:r>
              <a:t> 700+ production-ready connectors</a:t>
            </a:r>
          </a:p>
          <a:p>
            <a:r>
              <a:t> Built-in offset management and exactly-once delivery (Kafka 3.3+)</a:t>
            </a:r>
          </a:p>
          <a:p>
            <a:r>
              <a:t> REST API for deployment and monitoring</a:t>
            </a:r>
          </a:p>
          <a:p>
            <a:r>
              <a:t> Horizontal scaling via connector tasks</a:t>
            </a:r>
          </a:p>
          <a:p>
            <a:r>
              <a:t> Schema Registry integration</a:t>
            </a:r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7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7900" y="6434930"/>
            <a:ext cx="2667000" cy="156269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Kafka Connect, Intuitively — The USB Hub for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Before Connect, wiring two systems together meant</a:t>
            </a:r>
            <a:r>
              <a:rPr b="1"/>
              <a:t> hand-soldering a custom cable</a:t>
            </a:r>
            <a:r>
              <a:t> every time: bespoke code to read Postgres, more to write S3 — each one reinventing offsets, retries, and restarts.</a:t>
            </a:r>
          </a:p>
          <a:p>
            <a:r>
              <a:t> Connect is the</a:t>
            </a:r>
            <a:r>
              <a:rPr b="1"/>
              <a:t> USB hub</a:t>
            </a:r>
            <a:r>
              <a:t> : a standard socket where you</a:t>
            </a:r>
            <a:r>
              <a:rPr b="1"/>
              <a:t> plug in</a:t>
            </a:r>
            <a:r>
              <a:t> a pre-built connector and it just works — 700+ of them.</a:t>
            </a:r>
          </a:p>
          <a:p>
            <a:r>
              <a:rPr b="1"/>
              <a:t> You configure, you don't code</a:t>
            </a:r>
            <a:r>
              <a:t> — a connector is JSON, not a program.</a:t>
            </a:r>
          </a:p>
          <a:p>
            <a:r>
              <a:rPr b="1"/>
              <a:t> The hub handles the hard parts</a:t>
            </a:r>
            <a:r>
              <a:t> — offset tracking, retries, scaling, restarts — once, for every connector.</a:t>
            </a:r>
          </a:p>
          <a:p>
            <a:r>
              <a:rPr b="1"/>
              <a:t> Source = plug data</a:t>
            </a:r>
          </a:p>
          <a:p>
            <a:endParaRPr b="1"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Kafka Connect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r>
              <a:t> Workers are</a:t>
            </a:r>
            <a:r>
              <a:rPr b="1"/>
              <a:t> stateless</a:t>
            </a:r>
            <a:r>
              <a:t> — all state is stored in Kafka internal topics.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86731"/>
            <a:ext cx="9346713" cy="2209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Connect Internal Topics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r>
              <a:t> Benefits:</a:t>
            </a:r>
          </a:p>
          <a:p>
            <a:r>
              <a:t> Workers are completely stateless — any worker can pick up any task</a:t>
            </a:r>
          </a:p>
          <a:p>
            <a:r>
              <a:t> Full state survives cluster restarts and worker failures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37744" y="914400"/>
          <a:ext cx="8915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57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57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t>Topic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Purpose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>
                          <a:latin typeface="Courier New"/>
                        </a:rPr>
                        <a:t>connect-configs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Connector and task configurations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>
                          <a:latin typeface="Courier New"/>
                        </a:rPr>
                        <a:t>connect-offsets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Source connector read positions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>
                          <a:latin typeface="Courier New"/>
                        </a:rPr>
                        <a:t>connect-status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Connector and task 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 Connector — JDBC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12" y="900906"/>
            <a:ext cx="9372600" cy="3674720"/>
          </a:xfrm>
          <a:prstGeom prst="rect">
            <a:avLst/>
          </a:prstGeom>
        </p:spPr>
      </p:pic>
      <p:pic>
        <p:nvPicPr>
          <p:cNvPr id="6" name="Picture 5" descr="pexels-cookiecutter-114882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3216" y="5210205"/>
            <a:ext cx="4095572" cy="273401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Sink Connector — S3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0"/>
            <a:ext cx="8915400" cy="249060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Offset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Source connectors store their read position in</a:t>
            </a:r>
            <a:r>
              <a:rPr dirty="0">
                <a:latin typeface="Courier New"/>
              </a:rPr>
              <a:t> connect-offsets</a:t>
            </a:r>
            <a:r>
              <a:rPr dirty="0"/>
              <a:t> 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dirty="0"/>
          </a:p>
          <a:p>
            <a:r>
              <a:rPr dirty="0"/>
              <a:t> On restart: connector</a:t>
            </a:r>
            <a:r>
              <a:rPr b="1" dirty="0"/>
              <a:t> resumes from last stored offset</a:t>
            </a:r>
            <a:r>
              <a:rPr dirty="0"/>
              <a:t> — no duplicates, no data loss.</a:t>
            </a:r>
          </a:p>
          <a:p>
            <a:r>
              <a:rPr dirty="0"/>
              <a:t> For</a:t>
            </a:r>
            <a:r>
              <a:rPr b="1" dirty="0"/>
              <a:t> exactly-once</a:t>
            </a:r>
            <a:r>
              <a:rPr dirty="0"/>
              <a:t> source connectors (GA since Kafka 3.3, standard in Kafka 4):</a:t>
            </a:r>
          </a:p>
          <a:p>
            <a:r>
              <a:rPr dirty="0"/>
              <a:t> Offsets are committed atomically with the Kafka produce transaction</a:t>
            </a:r>
          </a:p>
          <a:p>
            <a:r>
              <a:rPr dirty="0"/>
              <a:t> No duplicates even on connector worker failure</a:t>
            </a:r>
          </a:p>
          <a:p>
            <a:r>
              <a:rPr dirty="0"/>
              <a:t> Enable with</a:t>
            </a:r>
            <a:r>
              <a:rPr dirty="0">
                <a:latin typeface="Courier New"/>
              </a:rPr>
              <a:t> </a:t>
            </a:r>
            <a:r>
              <a:rPr dirty="0" err="1">
                <a:latin typeface="Courier New"/>
              </a:rPr>
              <a:t>exactly.once.source.support</a:t>
            </a:r>
            <a:r>
              <a:rPr dirty="0">
                <a:latin typeface="Courier New"/>
              </a:rPr>
              <a:t>=enabled</a:t>
            </a:r>
            <a:r>
              <a:rPr dirty="0"/>
              <a:t> on the Connect worker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675" y="2243931"/>
            <a:ext cx="8915400" cy="57819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Error Handling and Dead Letter Queues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endParaRPr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dirty="0"/>
          </a:p>
          <a:p>
            <a:r>
              <a:rPr dirty="0"/>
              <a:t> Failed records go to the DLQ with error headers:</a:t>
            </a:r>
          </a:p>
          <a:p>
            <a:endParaRPr dirty="0"/>
          </a:p>
          <a:p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37" y="948847"/>
            <a:ext cx="9093200" cy="2387600"/>
          </a:xfrm>
          <a:prstGeom prst="rect">
            <a:avLst/>
          </a:prstGeom>
        </p:spPr>
      </p:pic>
      <p:pic>
        <p:nvPicPr>
          <p:cNvPr id="6" name="Picture 5" descr="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49" y="4501279"/>
            <a:ext cx="8483600" cy="10541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When One Bad Record Stops Everything — Why the DLQ Exists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 real failure: a single</a:t>
            </a:r>
            <a:r>
              <a:rPr b="1"/>
              <a:t> malformed record</a:t>
            </a:r>
            <a:r>
              <a:t> hits a sink connector — one row with a string where a number belongs.</a:t>
            </a:r>
          </a:p>
          <a:p>
            <a:r>
              <a:t> Default behavior (</a:t>
            </a:r>
            <a:r>
              <a:rPr>
                <a:latin typeface="Courier New"/>
              </a:rPr>
              <a:t> errors.tolerance=none</a:t>
            </a:r>
            <a:r>
              <a:t> ): the task</a:t>
            </a:r>
            <a:r>
              <a:rPr b="1"/>
              <a:t> throws and stops</a:t>
            </a:r>
            <a:r>
              <a:t> . The whole connector halts on record #1 of a million.</a:t>
            </a:r>
          </a:p>
          <a:p>
            <a:r>
              <a:t> At 3am your pipeline is dark, lag is climbing, and one corrupt row is the cause.</a:t>
            </a:r>
          </a:p>
          <a:p>
            <a:r>
              <a:t> The fix is the config on the previous slide:</a:t>
            </a:r>
          </a:p>
          <a:p>
            <a:r>
              <a:rPr>
                <a:latin typeface="Courier New"/>
              </a:rPr>
              <a:t> errors.tolerance=all</a:t>
            </a:r>
            <a:r>
              <a:t> —</a:t>
            </a:r>
            <a:r>
              <a:rPr b="1"/>
              <a:t> don't die on a bad record.</a:t>
            </a:r>
          </a:p>
          <a:p>
            <a:r>
              <a:rPr>
                <a:latin typeface="Courier New"/>
              </a:rPr>
              <a:t> errors.deadletterqueue.topic.name</a:t>
            </a:r>
            <a:r>
              <a:t> —</a:t>
            </a:r>
            <a:r>
              <a:rPr b="1"/>
              <a:t> route the poison record aside</a:t>
            </a:r>
            <a:r>
              <a:t> (with headers saying</a:t>
            </a:r>
            <a:r>
              <a:rPr i="1"/>
              <a:t> why</a:t>
            </a:r>
            <a:r>
              <a:t> ) and keep processing the other 999,999.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Retry Configuration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endParaRPr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dirty="0"/>
          </a:p>
          <a:p>
            <a:r>
              <a:rPr b="1" dirty="0"/>
              <a:t> Transient failures</a:t>
            </a:r>
            <a:r>
              <a:rPr dirty="0"/>
              <a:t> (network timeouts, unavailability) → retry with exponential backoff</a:t>
            </a:r>
          </a:p>
          <a:p>
            <a:r>
              <a:rPr b="1" dirty="0"/>
              <a:t> Persistent failures</a:t>
            </a:r>
            <a:r>
              <a:rPr dirty="0"/>
              <a:t> (schema mismatch, corrupt records) → send to DLQ immediately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19582"/>
            <a:ext cx="9137650" cy="260565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4 — Deploy &amp; Tune Connectors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Stop here and run the lab now.</a:t>
            </a:r>
            <a:r>
              <a:t> Put the Connect config from these slides to work on a live pipeline.</a:t>
            </a:r>
          </a:p>
          <a:p>
            <a:r>
              <a:t> Deploy a</a:t>
            </a:r>
            <a:r>
              <a:rPr b="1"/>
              <a:t> JDBC source</a:t>
            </a:r>
            <a:r>
              <a:t> connector reading from PostgreSQL</a:t>
            </a:r>
          </a:p>
          <a:p>
            <a:r>
              <a:t> Deploy an</a:t>
            </a:r>
            <a:r>
              <a:rPr b="1"/>
              <a:t> S3/MinIO sink</a:t>
            </a:r>
            <a:r>
              <a:t> writing time-partitioned files</a:t>
            </a:r>
          </a:p>
          <a:p>
            <a:r>
              <a:t> Inject a</a:t>
            </a:r>
            <a:r>
              <a:rPr b="1"/>
              <a:t> bad record</a:t>
            </a:r>
            <a:r>
              <a:t> and watch it land in the</a:t>
            </a:r>
            <a:r>
              <a:rPr b="1"/>
              <a:t> Dead Letter Queue</a:t>
            </a:r>
          </a:p>
          <a:p>
            <a:r>
              <a:rPr b="1"/>
              <a:t> Pause, insert rows, resume</a:t>
            </a:r>
            <a:r>
              <a:t> — verify offset tracking (no loss, no dupes)</a:t>
            </a:r>
          </a:p>
          <a:p>
            <a:r>
              <a:t> Discuss</a:t>
            </a:r>
            <a:r>
              <a:rPr b="1"/>
              <a:t> task-scaling</a:t>
            </a:r>
            <a:r>
              <a:t> limits: JDBC vs file connectors</a:t>
            </a:r>
          </a:p>
          <a:p>
            <a:r>
              <a:t> Environment: Docker Compose (Kafka, PostgreSQL, MinIO, Kafka Connect) ·</a:t>
            </a:r>
            <a:r>
              <a:rPr b="1"/>
              <a:t> 60–75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Welcome Back — Kafka in the Wider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You've deployed real source and sink connectors, survived a poison record via the DLQ, and watched offsets resume cleanly.</a:t>
            </a:r>
          </a:p>
          <a:p>
            <a:r>
              <a:t> Now zoom out: how Kafka hands off to</a:t>
            </a:r>
            <a:r>
              <a:rPr b="1"/>
              <a:t> Flink and Spark</a:t>
            </a:r>
            <a:r>
              <a:t> , feeds the</a:t>
            </a:r>
            <a:r>
              <a:rPr b="1"/>
              <a:t> lakehouse</a:t>
            </a:r>
            <a:r>
              <a:t> (Iceberg / Tableflow), and the</a:t>
            </a:r>
            <a:r>
              <a:rPr b="1"/>
              <a:t> enterprise patterns</a:t>
            </a:r>
            <a:r>
              <a:t> (outbox, saga) that wire it into a business.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Kafka ↔ Flink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Flink natively reads from and writes to Kafka:</a:t>
            </a:r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86731"/>
            <a:ext cx="9372600" cy="276802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Kafka ↔ Spark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71475"/>
            <a:ext cx="8915400" cy="327880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Stream-to-Batch Handoff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endParaRPr dirty="0"/>
          </a:p>
          <a:p>
            <a:endParaRPr lang="en-US" dirty="0"/>
          </a:p>
          <a:p>
            <a:endParaRPr lang="en-US" dirty="0"/>
          </a:p>
          <a:p>
            <a:endParaRPr dirty="0"/>
          </a:p>
          <a:p>
            <a:r>
              <a:rPr b="1" dirty="0"/>
              <a:t> Lambda architecture</a:t>
            </a:r>
            <a:r>
              <a:rPr dirty="0"/>
              <a:t> — dual path (real-time + batch), merge results</a:t>
            </a:r>
          </a:p>
          <a:p>
            <a:r>
              <a:rPr b="1" dirty="0"/>
              <a:t> Kappa architecture</a:t>
            </a:r>
            <a:r>
              <a:rPr dirty="0"/>
              <a:t> — single Kafka path, replay for batch (preferred when retention allows)</a:t>
            </a:r>
          </a:p>
          <a:p>
            <a:r>
              <a:rPr b="1" dirty="0"/>
              <a:t> Modern </a:t>
            </a:r>
            <a:r>
              <a:rPr b="1" dirty="0" err="1"/>
              <a:t>lakehouse</a:t>
            </a:r>
            <a:r>
              <a:rPr b="1" dirty="0"/>
              <a:t> path (2026):</a:t>
            </a:r>
            <a:r>
              <a:rPr dirty="0"/>
              <a:t> instead of landing raw files, sink directly to</a:t>
            </a:r>
            <a:r>
              <a:rPr b="1" dirty="0"/>
              <a:t> Apache Iceberg</a:t>
            </a:r>
            <a:r>
              <a:rPr dirty="0"/>
              <a:t> tables — via the Iceberg Sink Connector, or Confluent</a:t>
            </a:r>
            <a:r>
              <a:rPr b="1" dirty="0"/>
              <a:t> </a:t>
            </a:r>
            <a:r>
              <a:rPr b="1" dirty="0" err="1"/>
              <a:t>Tableflow</a:t>
            </a:r>
            <a:r>
              <a:rPr dirty="0"/>
              <a:t> (Kafka topics materialized as Iceberg/Delta tables). Query from Spark, Flink, Trino, or Athena with no separate ETL job. Pairs naturally with Tiered Storage.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12" y="1177131"/>
            <a:ext cx="8978112" cy="187418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Backpressure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dirty="0"/>
              <a:t>When consumers fall behind producers:</a:t>
            </a:r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3028726"/>
              </p:ext>
            </p:extLst>
          </p:nvPr>
        </p:nvGraphicFramePr>
        <p:xfrm>
          <a:off x="237744" y="1353312"/>
          <a:ext cx="89154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57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57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dirty="0"/>
                        <a:t>Root Cause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Fix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Too few connector tasks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Increase `tasks.max`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Slow sink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Circuit breaker, async writes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Producer burst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Separate high/low-priority topics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Consumer processing slow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Scale consumer instances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Enterprise Integration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/>
              <a:t> Outbox Pattern</a:t>
            </a:r>
            <a:r>
              <a:rPr dirty="0"/>
              <a:t> — eliminates dual-write risk:</a:t>
            </a:r>
          </a:p>
          <a:p>
            <a:endParaRPr lang="en-US" dirty="0"/>
          </a:p>
          <a:p>
            <a:endParaRPr lang="en-US" dirty="0"/>
          </a:p>
          <a:p>
            <a:endParaRPr dirty="0"/>
          </a:p>
          <a:p>
            <a:r>
              <a:rPr b="1" dirty="0"/>
              <a:t> Saga</a:t>
            </a:r>
            <a:r>
              <a:rPr dirty="0"/>
              <a:t> — distributed transaction coordination via events:</a:t>
            </a:r>
          </a:p>
          <a:p>
            <a:endParaRPr lang="en-US" dirty="0"/>
          </a:p>
          <a:p>
            <a:endParaRPr lang="en-US" dirty="0"/>
          </a:p>
          <a:p>
            <a:endParaRPr dirty="0"/>
          </a:p>
          <a:p>
            <a:r>
              <a:rPr b="1" dirty="0"/>
              <a:t> Event-Carried State Transfer</a:t>
            </a:r>
            <a:r>
              <a:rPr dirty="0"/>
              <a:t> — embed full state in the event (avoid lookups):</a:t>
            </a:r>
          </a:p>
          <a:p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8" y="1790987"/>
            <a:ext cx="9367012" cy="520700"/>
          </a:xfrm>
          <a:prstGeom prst="rect">
            <a:avLst/>
          </a:prstGeom>
        </p:spPr>
      </p:pic>
      <p:pic>
        <p:nvPicPr>
          <p:cNvPr id="6" name="Picture 5" descr="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28398"/>
            <a:ext cx="9372600" cy="520700"/>
          </a:xfrm>
          <a:prstGeom prst="rect">
            <a:avLst/>
          </a:prstGeom>
        </p:spPr>
      </p:pic>
      <p:pic>
        <p:nvPicPr>
          <p:cNvPr id="7" name="Picture 6" descr="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8575" y="5528966"/>
            <a:ext cx="9401175" cy="5207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4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Kafka Connect provides 700+ connectors with built-in offset management</a:t>
            </a:r>
          </a:p>
          <a:p>
            <a:r>
              <a:t> Internal topics make workers completely stateless and fault-tolerant</a:t>
            </a:r>
          </a:p>
          <a:p>
            <a:r>
              <a:t> Configure</a:t>
            </a:r>
            <a:r>
              <a:rPr>
                <a:latin typeface="Courier New"/>
              </a:rPr>
              <a:t> errors.tolerance</a:t>
            </a:r>
            <a:r>
              <a:t> , retries, and DLQ for production resilience</a:t>
            </a:r>
          </a:p>
          <a:p>
            <a:r>
              <a:t> Flink and Spark both have mature native Kafka integrations</a:t>
            </a:r>
          </a:p>
          <a:p>
            <a:r>
              <a:t> Stream-to-batch: S3 sink + Kappa architecture, increasingly going straight to an Iceberg lakehouse (Tableflow)</a:t>
            </a:r>
          </a:p>
          <a:p>
            <a:r>
              <a:t> Enterprise patterns: outbox, saga, event-carried state transfer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What's Next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Module 5 — Reliability, Scaling &amp; Performance</a:t>
            </a:r>
          </a:p>
          <a:p>
            <a:r>
              <a:t> Capacity planning and right-sizing</a:t>
            </a:r>
          </a:p>
          <a:p>
            <a:r>
              <a:t> Expanding Kafka with no data loss</a:t>
            </a:r>
          </a:p>
          <a:p>
            <a:r>
              <a:t> HA and performance tuning: replication, acks, consumer lag monitoring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Pc_New">
  <a:themeElements>
    <a:clrScheme name="LPc_New 7">
      <a:dk1>
        <a:srgbClr val="000000"/>
      </a:dk1>
      <a:lt1>
        <a:srgbClr val="FFFFFF"/>
      </a:lt1>
      <a:dk2>
        <a:srgbClr val="CCECFF"/>
      </a:dk2>
      <a:lt2>
        <a:srgbClr val="003399"/>
      </a:lt2>
      <a:accent1>
        <a:srgbClr val="0794FF"/>
      </a:accent1>
      <a:accent2>
        <a:srgbClr val="800080"/>
      </a:accent2>
      <a:accent3>
        <a:srgbClr val="E2F4FF"/>
      </a:accent3>
      <a:accent4>
        <a:srgbClr val="DADADA"/>
      </a:accent4>
      <a:accent5>
        <a:srgbClr val="AAC8FF"/>
      </a:accent5>
      <a:accent6>
        <a:srgbClr val="730073"/>
      </a:accent6>
      <a:hlink>
        <a:srgbClr val="FF0000"/>
      </a:hlink>
      <a:folHlink>
        <a:srgbClr val="FFFFD2"/>
      </a:folHlink>
    </a:clrScheme>
    <a:fontScheme name="LPc_New">
      <a:majorFont>
        <a:latin typeface="Verdan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lnDef>
  </a:objectDefaults>
  <a:extraClrSchemeLst>
    <a:extraClrScheme>
      <a:clrScheme name="LPc_New 1">
        <a:dk1>
          <a:srgbClr val="000099"/>
        </a:dk1>
        <a:lt1>
          <a:srgbClr val="FFFFFF"/>
        </a:lt1>
        <a:dk2>
          <a:srgbClr val="0000FF"/>
        </a:dk2>
        <a:lt2>
          <a:srgbClr val="FFFF00"/>
        </a:lt2>
        <a:accent1>
          <a:srgbClr val="FF6633"/>
        </a:accent1>
        <a:accent2>
          <a:srgbClr val="FF00FF"/>
        </a:accent2>
        <a:accent3>
          <a:srgbClr val="AAAAFF"/>
        </a:accent3>
        <a:accent4>
          <a:srgbClr val="DADADA"/>
        </a:accent4>
        <a:accent5>
          <a:srgbClr val="FFB8AD"/>
        </a:accent5>
        <a:accent6>
          <a:srgbClr val="E700E7"/>
        </a:accent6>
        <a:hlink>
          <a:srgbClr val="FF00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2">
        <a:dk1>
          <a:srgbClr val="000066"/>
        </a:dk1>
        <a:lt1>
          <a:srgbClr val="CCECFF"/>
        </a:lt1>
        <a:dk2>
          <a:srgbClr val="000080"/>
        </a:dk2>
        <a:lt2>
          <a:srgbClr val="00000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000056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B2B2B2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797979"/>
        </a:accent6>
        <a:hlink>
          <a:srgbClr val="5F5F5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4">
        <a:dk1>
          <a:srgbClr val="000000"/>
        </a:dk1>
        <a:lt1>
          <a:srgbClr val="FFFFFF"/>
        </a:lt1>
        <a:dk2>
          <a:srgbClr val="660033"/>
        </a:dk2>
        <a:lt2>
          <a:srgbClr val="FFFF66"/>
        </a:lt2>
        <a:accent1>
          <a:srgbClr val="FF0033"/>
        </a:accent1>
        <a:accent2>
          <a:srgbClr val="CC6600"/>
        </a:accent2>
        <a:accent3>
          <a:srgbClr val="B8AAAD"/>
        </a:accent3>
        <a:accent4>
          <a:srgbClr val="DADADA"/>
        </a:accent4>
        <a:accent5>
          <a:srgbClr val="FFAAAD"/>
        </a:accent5>
        <a:accent6>
          <a:srgbClr val="B95C00"/>
        </a:accent6>
        <a:hlink>
          <a:srgbClr val="999933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5">
        <a:dk1>
          <a:srgbClr val="000000"/>
        </a:dk1>
        <a:lt1>
          <a:srgbClr val="FFFFFF"/>
        </a:lt1>
        <a:dk2>
          <a:srgbClr val="CCECFF"/>
        </a:dk2>
        <a:lt2>
          <a:srgbClr val="00008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6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9999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7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0794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AAC8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378297</TotalTime>
  <Words>1296</Words>
  <Application>Microsoft Macintosh PowerPoint</Application>
  <PresentationFormat>Custom</PresentationFormat>
  <Paragraphs>201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0" baseType="lpstr">
      <vt:lpstr>Arial</vt:lpstr>
      <vt:lpstr>Arial Bold</vt:lpstr>
      <vt:lpstr>Courier New</vt:lpstr>
      <vt:lpstr>Garamond</vt:lpstr>
      <vt:lpstr>Monotype Sorts</vt:lpstr>
      <vt:lpstr>Times New Roman</vt:lpstr>
      <vt:lpstr>Verdana</vt:lpstr>
      <vt:lpstr>Wingdings</vt:lpstr>
      <vt:lpstr>LPc_New</vt:lpstr>
      <vt:lpstr>Module 4 — Connectors, Pipelines &amp; Integrations</vt:lpstr>
      <vt:lpstr>Module 4 Agenda</vt:lpstr>
      <vt:lpstr>Why Kafka Connect?</vt:lpstr>
      <vt:lpstr>Kafka Connect, Intuitively — The USB Hub for Data</vt:lpstr>
      <vt:lpstr>Kafka Connect Architecture</vt:lpstr>
      <vt:lpstr>Connect Internal Topics</vt:lpstr>
      <vt:lpstr>Source Connector — JDBC Example</vt:lpstr>
      <vt:lpstr>Sink Connector — S3 Example</vt:lpstr>
      <vt:lpstr>Offset Management</vt:lpstr>
      <vt:lpstr>Error Handling and Dead Letter Queues</vt:lpstr>
      <vt:lpstr>When One Bad Record Stops Everything — Why the DLQ Exists</vt:lpstr>
      <vt:lpstr>Retry Configuration</vt:lpstr>
      <vt:lpstr>Lab 4 — Deploy &amp; Tune Connectors</vt:lpstr>
      <vt:lpstr>Welcome Back — Kafka in the Wider Pipeline</vt:lpstr>
      <vt:lpstr>Kafka ↔ Flink</vt:lpstr>
      <vt:lpstr>Kafka ↔ Spark</vt:lpstr>
      <vt:lpstr>Stream-to-Batch Handoff</vt:lpstr>
      <vt:lpstr>Backpressure Management</vt:lpstr>
      <vt:lpstr>Enterprise Integration Patterns</vt:lpstr>
      <vt:lpstr>Module 4 Summary</vt:lpstr>
      <vt:lpstr>What's Next</vt:lpstr>
    </vt:vector>
  </TitlesOfParts>
  <Company>Elephant Scale LLC &amp; LearningPatterns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Spark</dc:title>
  <dc:subject>Spark</dc:subject>
  <dc:creator>Elephant Scale</dc:creator>
  <cp:lastModifiedBy>Warren Crawford</cp:lastModifiedBy>
  <cp:revision>4136</cp:revision>
  <cp:lastPrinted>2010-01-03T02:41:41Z</cp:lastPrinted>
  <dcterms:created xsi:type="dcterms:W3CDTF">2010-07-13T15:22:01Z</dcterms:created>
  <dcterms:modified xsi:type="dcterms:W3CDTF">2026-07-03T03:57:15Z</dcterms:modified>
</cp:coreProperties>
</file>