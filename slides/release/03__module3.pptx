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"/>
  </p:notesMasterIdLst>
  <p:handoutMasterIdLst>
    <p:handoutMasterId r:id="rId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69" autoAdjust="0"/>
    <p:restoredTop sz="86012" autoAdjust="0"/>
  </p:normalViewPr>
  <p:slideViewPr>
    <p:cSldViewPr>
      <p:cViewPr varScale="1">
        <p:scale>
          <a:sx n="82" d="100"/>
          <a:sy n="82" d="100"/>
        </p:scale>
        <p:origin x="2920" y="176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handoutMaster" Target="handoutMasters/handout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Module 3 — Kafka Operations &amp; Observability</a:t>
            </a:r>
            <a:endParaRPr sz="4200" b="1" i="0">
              <a:latin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3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four observability signals for Kafka</a:t>
            </a:r>
          </a:p>
          <a:p>
            <a:r>
              <a:t> Critical broker, producer, and consumer metrics</a:t>
            </a:r>
          </a:p>
          <a:p>
            <a:r>
              <a:t> Monitoring and tooling stack: Prometheus, Grafana, Kafka UI, Kafdrop, Confluent Control Center</a:t>
            </a:r>
          </a:p>
          <a:p>
            <a:r>
              <a:t> Operational procedures: topic management, consumer group management, security operations</a:t>
            </a:r>
          </a:p>
          <a:p>
            <a:r>
              <a:t> Incident triage runbook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Four Observability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Latency</a:t>
            </a:r>
            <a:r>
              <a:t> — end-to-end produce/consume latency</a:t>
            </a:r>
          </a:p>
          <a:p>
            <a:r>
              <a:rPr b="1"/>
              <a:t> Traffic</a:t>
            </a:r>
            <a:r>
              <a:t> — messages/sec, bytes/sec per topic and partition</a:t>
            </a:r>
          </a:p>
          <a:p>
            <a:r>
              <a:rPr b="1"/>
              <a:t> Errors</a:t>
            </a:r>
            <a:r>
              <a:t> — failed produce requests, consumer errors, ISR shrinks</a:t>
            </a:r>
          </a:p>
          <a:p>
            <a:r>
              <a:rPr b="1"/>
              <a:t> Saturation</a:t>
            </a:r>
            <a:r>
              <a:t> — disk usage, network, CPU, consumer lag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Metrics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6807200" cy="37211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Critical Broker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/>
                <a:gridCol w="4457700"/>
              </a:tblGrid>
              <a:tr h="45720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Alert Threshold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Under-replicated partitions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&gt; 0 (page immediately)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Active controller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!= 1 (page immediately)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Request handler idle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&lt; 30% (warning)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Network processor idle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&lt; 30% (warning)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Log flush latency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&gt; 500ms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Bytes in/out per sec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&gt; 80% NIC capacity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ISR shrink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any non-zero sustained rate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Critical Consumer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/>
                <a:gridCol w="4457700"/>
              </a:tblGrid>
              <a:tr h="45720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Alert When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Consumer 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&gt; SLA threshold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records-consumed-rate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drops unexpectedly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fetch-latency-avg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 → broker issue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rebalance-rate-and-time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frequent → instability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assigned-partitions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imbalanced across consumers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Monitoring &amp; Tooling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/>
                <a:gridCol w="4457700"/>
              </a:tblGrid>
              <a:tr h="457200">
                <a:tc>
                  <a:txBody>
                    <a:bodyPr/>
                    <a:lstStyle/>
                    <a:p>
                      <a: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Best For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/>
                      </a:r>
                      <a:r>
                        <a:rPr b="1"/>
                        <a:t>Prometheus + Grafana</a:t>
                      </a:r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Broker and consumer dashboards, alerting, lag thresholds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/>
                      </a:r>
                      <a:r>
                        <a:rPr b="1"/>
                        <a:t>Kafka UI</a:t>
                      </a:r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Topic management, consumer group operations, visual inspection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/>
                      </a:r>
                      <a:r>
                        <a:rPr b="1"/>
                        <a:t>Kafdrop</a:t>
                      </a:r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Lightweight quick inspection of topic contents and consumer state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/>
                      </a:r>
                      <a:r>
                        <a:rPr b="1"/>
                        <a:t>Confluent Control Center</a:t>
                      </a:r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Commercial option — enterprise observability with schema/connector visibility (not in this course's lab stack)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Prometheus Alerting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Tier 1 — Page immediately:</a:t>
            </a:r>
          </a:p>
          <a:p>
            <a:r>
              <a:rPr>
                <a:latin typeface="Courier New"/>
              </a:rPr>
              <a:t> UnderReplicatedPartitions &gt; 0</a:t>
            </a:r>
            <a:r>
              <a:t> for &gt; 2 minutes</a:t>
            </a:r>
          </a:p>
          <a:p>
            <a:r>
              <a:rPr>
                <a:latin typeface="Courier New"/>
              </a:rPr>
              <a:t> ActiveControllerCount != 1</a:t>
            </a:r>
          </a:p>
          <a:p>
            <a:r>
              <a:t> Broker down (not restarting)</a:t>
            </a:r>
          </a:p>
          <a:p>
            <a:r>
              <a:t> Disk &gt; 90% on any broker</a:t>
            </a:r>
          </a:p>
          <a:p>
            <a:r>
              <a:rPr b="1"/>
              <a:t> Tier 2 — Notify (Slack/email):</a:t>
            </a:r>
          </a:p>
          <a:p>
            <a:r>
              <a:t> Consumer lag above SLA threshold</a:t>
            </a:r>
          </a:p>
          <a:p>
            <a:r>
              <a:t> Producer error rate &gt; 0</a:t>
            </a:r>
          </a:p>
          <a:p>
            <a:r>
              <a:t> Request handler idle &lt; 30%</a:t>
            </a:r>
          </a:p>
          <a:p>
            <a:r>
              <a:rPr b="1"/>
              <a:t> Tier 3 — Track in dashboard:</a:t>
            </a:r>
          </a:p>
          <a:p>
            <a:r>
              <a:t> Compression ratios, batch sizes, rebalance frequency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Topic Operational Procedures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Alter retention on a live topic:</a:t>
            </a:r>
          </a:p>
          <a:p/>
          <a:p/>
          <a:p>
            <a:r>
              <a:rPr b="1"/>
              <a:t> Trigger log compaction:</a:t>
            </a:r>
          </a:p>
          <a:p/>
          <a:p/>
          <a:p>
            <a:r>
              <a:rPr b="1"/>
              <a:t> Inspect topic config: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8788400" cy="10541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70048"/>
            <a:ext cx="9855200" cy="1054100"/>
          </a:xfrm>
          <a:prstGeom prst="rect">
            <a:avLst/>
          </a:prstGeom>
        </p:spPr>
      </p:pic>
      <p:pic>
        <p:nvPicPr>
          <p:cNvPr id="7" name="Picture 6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986783"/>
            <a:ext cx="8940800" cy="787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Consumer Group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Check lag across all groups:</a:t>
            </a:r>
          </a:p>
          <a:p/>
          <a:p>
            <a:r>
              <a:rPr b="1"/>
              <a:t> Reset offsets to earliest:</a:t>
            </a:r>
          </a:p>
          <a:p/>
          <a:p/>
          <a:p>
            <a:r>
              <a:rPr b="1"/>
              <a:t> Detect stuck consumers:</a:t>
            </a:r>
          </a:p>
          <a:p>
            <a:r>
              <a:t> Lag grows but</a:t>
            </a:r>
            <a:r>
              <a:rPr>
                <a:latin typeface="Courier New"/>
              </a:rPr>
              <a:t> records-consumed-rate</a:t>
            </a:r>
            <a:r>
              <a:t> is non-zero → slow processing</a:t>
            </a:r>
          </a:p>
          <a:p>
            <a:r>
              <a:t> Lag grows and</a:t>
            </a:r>
            <a:r>
              <a:rPr>
                <a:latin typeface="Courier New"/>
              </a:rPr>
              <a:t> records-consumed-rate</a:t>
            </a:r>
            <a:r>
              <a:t> is zero → consumer stuck or stopped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9245600" cy="7874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1136"/>
            <a:ext cx="9245600" cy="10541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TLS certificate rotation:</a:t>
            </a:r>
          </a:p>
          <a:p>
            <a:r>
              <a:t> Generate new keystores before expiry</a:t>
            </a:r>
          </a:p>
          <a:p>
            <a:r>
              <a:t> Rolling restart one broker at a time</a:t>
            </a:r>
          </a:p>
          <a:p>
            <a:r>
              <a:t> Verify listeners are up before continuing</a:t>
            </a:r>
          </a:p>
          <a:p>
            <a:r>
              <a:rPr b="1"/>
              <a:t> SASL credential rotation:</a:t>
            </a:r>
          </a:p>
          <a:p/>
          <a:p/>
          <a:p>
            <a:r>
              <a:rPr b="1"/>
              <a:t> Audit logging:</a:t>
            </a:r>
          </a:p>
          <a:p>
            <a:r>
              <a:t> Raise the</a:t>
            </a:r>
            <a:r>
              <a:rPr>
                <a:latin typeface="Courier New"/>
              </a:rPr>
              <a:t> kafka.authorizer.logger</a:t>
            </a:r>
            <a:r>
              <a:t> level in the broker logging config</a:t>
            </a:r>
          </a:p>
          <a:p>
            <a:r>
              <a:t> Note: Kafka 4 moved from Log4j 1.x to</a:t>
            </a:r>
            <a:r>
              <a:rPr b="1"/>
              <a:t> Log4j2</a:t>
            </a:r>
            <a:r>
              <a:t> — configure this in</a:t>
            </a:r>
            <a:r>
              <a:rPr>
                <a:latin typeface="Courier New"/>
              </a:rPr>
              <a:t> log4j2.yaml</a:t>
            </a:r>
            <a:r>
              <a:t> , not the old</a:t>
            </a:r>
            <a:r>
              <a:rPr>
                <a:latin typeface="Courier New"/>
              </a:rPr>
              <a:t> log4j.properties</a:t>
            </a:r>
            <a:r>
              <a:t> format</a:t>
            </a:r>
          </a:p>
          <a:p>
            <a:r>
              <a:t> Route authorizer logs to a dedicated topic/SIEM for compliance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08960"/>
            <a:ext cx="11226800" cy="10541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Incident Triage Runbook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Apply this 6-step process to every production incident:</a:t>
            </a:r>
          </a:p>
          <a:p>
            <a:r>
              <a:rPr b="1"/>
              <a:t> Scope</a:t>
            </a:r>
            <a:r>
              <a:t> — one topic? one consumer group? entire cluster?</a:t>
            </a:r>
          </a:p>
          <a:p>
            <a:r>
              <a:rPr b="1"/>
              <a:t> Control plane</a:t>
            </a:r>
            <a:r>
              <a:t> —</a:t>
            </a:r>
            <a:r>
              <a:rPr>
                <a:latin typeface="Courier New"/>
              </a:rPr>
              <a:t> ActiveControllerCount</a:t>
            </a:r>
            <a:r>
              <a:t> must be exactly 1</a:t>
            </a:r>
          </a:p>
          <a:p>
            <a:r>
              <a:rPr b="1"/>
              <a:t> Durability</a:t>
            </a:r>
            <a:r>
              <a:t> — check</a:t>
            </a:r>
            <a:r>
              <a:rPr>
                <a:latin typeface="Courier New"/>
              </a:rPr>
              <a:t> UnderReplicatedPartitions</a:t>
            </a:r>
            <a:r>
              <a:t> and ISR state</a:t>
            </a:r>
          </a:p>
          <a:p>
            <a:r>
              <a:rPr b="1"/>
              <a:t> Consumer impact</a:t>
            </a:r>
            <a:r>
              <a:t> — is lag growing or stable?</a:t>
            </a:r>
          </a:p>
          <a:p>
            <a:r>
              <a:rPr b="1"/>
              <a:t> Mitigation</a:t>
            </a:r>
            <a:r>
              <a:t> — one safe, reversible action</a:t>
            </a:r>
          </a:p>
          <a:p>
            <a:r>
              <a:rPr b="1"/>
              <a:t> Recovery</a:t>
            </a:r>
            <a:r>
              <a:t> — verify the signal clears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Troubleshooting — Under-Replicated Partitions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Symptom:</a:t>
            </a:r>
            <a:r>
              <a:t> </a:t>
            </a:r>
            <a:r>
              <a:rPr>
                <a:latin typeface="Courier New"/>
              </a:rPr>
              <a:t> UnderReplicatedPartitions &gt; 0</a:t>
            </a:r>
          </a:p>
          <a:p>
            <a:r>
              <a:rPr b="1"/>
              <a:t> Causes:</a:t>
            </a:r>
            <a:r>
              <a:t> broker failure, network partition, disk full on follower, follower behind on load</a:t>
            </a:r>
          </a:p>
          <a:p>
            <a:r>
              <a:rPr b="1"/>
              <a:t> Investigation:</a:t>
            </a:r>
          </a:p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0048"/>
            <a:ext cx="8788400" cy="1587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Troubleshooting — Consumer Lag Spikes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Investigation checklist:</a:t>
            </a:r>
          </a:p>
          <a:p>
            <a:r>
              <a:t> Are all consumer instances running?</a:t>
            </a:r>
          </a:p>
          <a:p>
            <a:r>
              <a:t> Did processing time increase (slow 3rd-party call)?</a:t>
            </a:r>
          </a:p>
          <a:p>
            <a:r>
              <a:t> Did producer throughput spike?</a:t>
            </a:r>
          </a:p>
          <a:p>
            <a:r>
              <a:t> Did a rebalance occur (consumer instance died)?</a:t>
            </a:r>
          </a:p>
          <a:p>
            <a:r>
              <a:t> Is the consumer JVM GC-ing heavily?</a:t>
            </a:r>
          </a:p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47872"/>
            <a:ext cx="6350000" cy="10541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Troubleshooting — Disk Saturation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Immediate actions:</a:t>
            </a:r>
          </a:p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9550400" cy="2387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3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Monitor four signals: latency, traffic, errors, saturation</a:t>
            </a:r>
          </a:p>
          <a:p>
            <a:r>
              <a:t> Critical alert:</a:t>
            </a:r>
            <a:r>
              <a:rPr>
                <a:latin typeface="Courier New"/>
              </a:rPr>
              <a:t> UnderReplicatedPartitions &gt; 0</a:t>
            </a:r>
            <a:r>
              <a:t> ,</a:t>
            </a:r>
            <a:r>
              <a:rPr>
                <a:latin typeface="Courier New"/>
              </a:rPr>
              <a:t> ActiveControllerCount != 1</a:t>
            </a:r>
          </a:p>
          <a:p>
            <a:r>
              <a:t> Use Prometheus + Grafana for metrics; Kafka UI or Kafdrop for operational inspection</a:t>
            </a:r>
          </a:p>
          <a:p>
            <a:r>
              <a:t> Topic management: alter retention and compaction settings on live topics</a:t>
            </a:r>
          </a:p>
          <a:p>
            <a:r>
              <a:t> Consumer group management: describe, reset offsets, detect stuck consumers</a:t>
            </a:r>
          </a:p>
          <a:p>
            <a:r>
              <a:t> Security operations: certificate rotation, SASL credential management, audit logging</a:t>
            </a:r>
          </a:p>
          <a:p>
            <a:r>
              <a:t> Use a structured 6-step runbook for every production incident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Module 4 — Connectors, Pipelines &amp; Integrations</a:t>
            </a:r>
          </a:p>
          <a:p>
            <a:r>
              <a:t> Kafka Connect deep dive: source, sink, offset management, DLQ</a:t>
            </a:r>
          </a:p>
          <a:p>
            <a:r>
              <a:t> Integration patterns: S3, Elasticsearch, Flink, Spark, Iceberg/lakehouse</a:t>
            </a:r>
          </a:p>
          <a:p>
            <a:r>
              <a:t> Enterprise integration patterns and backpressure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Preview — Lab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Diagnose Kafka Health Using Monitoring Dashboards and Operational Runbooks</a:t>
            </a:r>
          </a:p>
          <a:p>
            <a:r>
              <a:t> You will:</a:t>
            </a:r>
          </a:p>
          <a:p>
            <a:r>
              <a:t> Verify Prometheus metric scraping and Grafana dashboards</a:t>
            </a:r>
          </a:p>
          <a:p>
            <a:r>
              <a:t> Produce consumer lag and apply the triage runbook</a:t>
            </a:r>
          </a:p>
          <a:p>
            <a:r>
              <a:t> Alter topic retention and reset consumer group offsets</a:t>
            </a:r>
          </a:p>
          <a:p>
            <a:r>
              <a:t> Simulate under-replicated partitions (broker kill) and verify recovery</a:t>
            </a:r>
          </a:p>
          <a:p>
            <a:r>
              <a:t> Test Prometheus alert expressions</a:t>
            </a:r>
          </a:p>
          <a:p>
            <a:r>
              <a:t> Environment: Docker Compose (3-broker Kafka, Prometheus, Grafana, Kafdrop)</a:t>
            </a:r>
            <a:r>
              <a:t> Time: 60–75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378292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9" baseType="lpstr">
      <vt:lpstr>ＭＳ Ｐゴシック</vt:lpstr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</vt:vector>
  </TitlesOfParts>
  <Company>Elephant Scale LLC &amp; LearningPatterns Inc.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fateme</cp:lastModifiedBy>
  <cp:revision>4135</cp:revision>
  <cp:lastPrinted>2010-01-03T02:41:41Z</cp:lastPrinted>
  <dcterms:created xsi:type="dcterms:W3CDTF">2010-07-13T15:22:01Z</dcterms:created>
  <dcterms:modified xsi:type="dcterms:W3CDTF">2019-10-02T11:26:38Z</dcterms:modified>
</cp:coreProperties>
</file>