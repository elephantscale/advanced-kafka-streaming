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20"/>
  </p:notesMasterIdLst>
  <p:handoutMasterIdLst>
    <p:handoutMasterId r:id="rId21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372600" cy="829786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y Conlee" initials="MC" lastIdx="1" clrIdx="0"/>
  <p:cmAuthor id="2" name="Mark Kerzner" initials="MK" lastIdx="6" clrIdx="1"/>
  <p:cmAuthor id="3" name="Mary Beth Conlee" initials="MBC" lastIdx="7" clrIdx="2"/>
  <p:cmAuthor id="4" name="Michelle" initials="M" lastIdx="5" clrIdx="3"/>
  <p:cmAuthor id="5" name="Tricia Murphy" initials="TM" lastIdx="4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D6B8EB"/>
    <a:srgbClr val="A77EC7"/>
    <a:srgbClr val="B59BC7"/>
    <a:srgbClr val="C7AAD9"/>
    <a:srgbClr val="C89EDF"/>
    <a:srgbClr val="BD83DF"/>
    <a:srgbClr val="CB89DF"/>
    <a:srgbClr val="CA87D1"/>
    <a:srgbClr val="CF8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59" autoAdjust="0"/>
    <p:restoredTop sz="86027" autoAdjust="0"/>
  </p:normalViewPr>
  <p:slideViewPr>
    <p:cSldViewPr>
      <p:cViewPr varScale="1">
        <p:scale>
          <a:sx n="90" d="100"/>
          <a:sy n="90" d="100"/>
        </p:scale>
        <p:origin x="3312" y="192"/>
      </p:cViewPr>
      <p:guideLst>
        <p:guide orient="horz" pos="2614"/>
        <p:guide pos="2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notesViewPr>
    <p:cSldViewPr>
      <p:cViewPr>
        <p:scale>
          <a:sx n="80" d="100"/>
          <a:sy n="80" d="100"/>
        </p:scale>
        <p:origin x="3296" y="-56"/>
      </p:cViewPr>
      <p:guideLst>
        <p:guide orient="horz" pos="3024"/>
        <p:guide pos="23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336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7E62689-8C7D-4291-A094-4E689FEC4C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915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75" y="473075"/>
            <a:ext cx="5365750" cy="47513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8280" name="Rectangle 8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365250" y="9388475"/>
            <a:ext cx="4578350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</a:bodyPr>
          <a:lstStyle>
            <a:lvl1pPr algn="ctr" defTabSz="965200" eaLnBrk="0" hangingPunct="0">
              <a:defRPr sz="900"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438281" name="Rectangle 9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400800" y="9388475"/>
            <a:ext cx="554038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b="1">
                <a:latin typeface="Arial" charset="0"/>
              </a:defRPr>
            </a:lvl1pPr>
          </a:lstStyle>
          <a:p>
            <a:pPr>
              <a:defRPr/>
            </a:pPr>
            <a:fld id="{EFAADD5D-AF76-45EE-AA5F-6DAC73BF1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8306" name="Text Box 34"/>
          <p:cNvSpPr txBox="1">
            <a:spLocks noChangeArrowheads="1"/>
          </p:cNvSpPr>
          <p:nvPr/>
        </p:nvSpPr>
        <p:spPr bwMode="auto">
          <a:xfrm>
            <a:off x="271463" y="5176838"/>
            <a:ext cx="617537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6386" tIns="48194" rIns="96386" bIns="48194"/>
          <a:lstStyle/>
          <a:p>
            <a:pPr defTabSz="960438">
              <a:defRPr/>
            </a:pPr>
            <a:r>
              <a:rPr lang="en-US" sz="1200" b="1" u="sng" dirty="0">
                <a:latin typeface="Times New Roman" pitchFamily="18" charset="0"/>
                <a:cs typeface="Times New Roman" pitchFamily="18" charset="0"/>
              </a:rPr>
              <a:t>Notes:</a:t>
            </a:r>
          </a:p>
        </p:txBody>
      </p:sp>
      <p:sp>
        <p:nvSpPr>
          <p:cNvPr id="438309" name="Rectangle 37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322263" y="5462588"/>
            <a:ext cx="6607175" cy="375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37" tIns="45768" rIns="91537" bIns="45768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438317" name="Line 45"/>
          <p:cNvSpPr>
            <a:spLocks noChangeShapeType="1"/>
          </p:cNvSpPr>
          <p:nvPr/>
        </p:nvSpPr>
        <p:spPr bwMode="auto">
          <a:xfrm>
            <a:off x="322263" y="9324975"/>
            <a:ext cx="66532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30000"/>
              </a:spcBef>
              <a:defRPr/>
            </a:pPr>
            <a:endParaRPr lang="en-US" dirty="0">
              <a:latin typeface="Garamond" pitchFamily="-11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4403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indent="0" algn="l" rtl="0" eaLnBrk="0" fontAlgn="base" hangingPunct="0">
      <a:spcBef>
        <a:spcPct val="30000"/>
      </a:spcBef>
      <a:spcAft>
        <a:spcPct val="0"/>
      </a:spcAft>
      <a:buSzPct val="65000"/>
      <a:buFont typeface="Wingdings" pitchFamily="2" charset="2"/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pitchFamily="-110" charset="-128"/>
      </a:defRPr>
    </a:lvl1pPr>
    <a:lvl2pPr marL="282575" indent="0" algn="l" rtl="0" eaLnBrk="0" fontAlgn="base" hangingPunct="0">
      <a:spcBef>
        <a:spcPct val="30000"/>
      </a:spcBef>
      <a:spcAft>
        <a:spcPct val="0"/>
      </a:spcAft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2pPr>
    <a:lvl3pPr marL="744538" indent="-173038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 preferRelativeResize="0">
            <a:picLocks noChangeArrowheads="1"/>
          </p:cNvPicPr>
          <p:nvPr/>
        </p:nvPicPr>
        <p:blipFill rotWithShape="1">
          <a:blip r:embed="rId2"/>
          <a:srcRect t="19473"/>
          <a:stretch/>
        </p:blipFill>
        <p:spPr bwMode="auto">
          <a:xfrm>
            <a:off x="1" y="-1801"/>
            <a:ext cx="2498725" cy="830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4898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98726" y="4984481"/>
            <a:ext cx="6335713" cy="400685"/>
          </a:xfrm>
        </p:spPr>
        <p:txBody>
          <a:bodyPr>
            <a:spAutoFit/>
          </a:bodyPr>
          <a:lstStyle>
            <a:lvl1pPr marL="0" indent="0" algn="r">
              <a:buFont typeface="Monotype Sorts" pitchFamily="-110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04900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04850" y="3226947"/>
            <a:ext cx="8121650" cy="1469414"/>
          </a:xfrm>
        </p:spPr>
        <p:txBody>
          <a:bodyPr lIns="91440" anchor="ctr"/>
          <a:lstStyle>
            <a:lvl1pPr algn="ctr" defTabSz="1825625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EF9825-4C23-4085-A4E3-B5565466BD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994975"/>
            <a:ext cx="4375150" cy="33210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2500" y="4500439"/>
            <a:ext cx="4375150" cy="332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E4B02-67B9-4228-B08B-2561CEE6B9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CC632-9864-46F1-8EAB-FCD3BB9CEC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950" y="994976"/>
            <a:ext cx="8902700" cy="682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03876" name="Rectangle 4"/>
          <p:cNvSpPr>
            <a:spLocks noGrp="1" noChangeArrowheads="1"/>
          </p:cNvSpPr>
          <p:nvPr>
            <p:ph type="sldNum" sz="quarter" idx="4"/>
          </p:nvPr>
        </p:nvSpPr>
        <p:spPr bwMode="hidden">
          <a:xfrm>
            <a:off x="8777288" y="7961724"/>
            <a:ext cx="546100" cy="272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77EF9825-4C23-4085-A4E3-B5565466BD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03877" name="Rectangle 5"/>
          <p:cNvSpPr>
            <a:spLocks noGrp="1" noChangeArrowheads="1"/>
          </p:cNvSpPr>
          <p:nvPr>
            <p:ph type="ftr" sz="quarter" idx="3"/>
          </p:nvPr>
        </p:nvSpPr>
        <p:spPr bwMode="hidden">
          <a:xfrm>
            <a:off x="234950" y="8032785"/>
            <a:ext cx="544195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0" hangingPunct="0">
              <a:spcBef>
                <a:spcPct val="0"/>
              </a:spcBef>
              <a:defRPr sz="9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pic>
        <p:nvPicPr>
          <p:cNvPr id="1030" name="Picture 6"/>
          <p:cNvPicPr preferRelativeResize="0"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ltGray">
          <a:xfrm>
            <a:off x="0" y="1"/>
            <a:ext cx="704850" cy="835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invGray">
          <a:xfrm>
            <a:off x="704850" y="1"/>
            <a:ext cx="8667750" cy="83554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4" r:id="rId3"/>
    <p:sldLayoutId id="2147483653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9pPr>
    </p:titleStyle>
    <p:bodyStyle>
      <a:lvl1pPr marL="290513" indent="-29051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"/>
        <a:defRPr sz="2400">
          <a:solidFill>
            <a:srgbClr val="000000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633413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Char char="–"/>
        <a:defRPr sz="22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2pPr>
      <a:lvl3pPr marL="969963" indent="-2222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3pPr>
      <a:lvl4pPr marL="1258888" indent="-228600" algn="l" rtl="0" eaLnBrk="0" fontAlgn="base" hangingPunct="0">
        <a:spcBef>
          <a:spcPct val="0"/>
        </a:spcBef>
        <a:spcAft>
          <a:spcPct val="0"/>
        </a:spcAft>
        <a:buClr>
          <a:srgbClr val="5F5F5F"/>
        </a:buClr>
        <a:buSzPct val="65000"/>
        <a:buFont typeface="Arial Bold" pitchFamily="34" charset="0"/>
        <a:buChar char="‒"/>
        <a:defRPr lang="en-US" dirty="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4pPr>
      <a:lvl5pPr marL="20558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  <a:cs typeface="ＭＳ Ｐゴシック"/>
        </a:defRPr>
      </a:lvl5pPr>
      <a:lvl6pPr marL="25130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6pPr>
      <a:lvl7pPr marL="29702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7pPr>
      <a:lvl8pPr marL="34274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8pPr>
      <a:lvl9pPr marL="38846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 wrap="square">
            <a:noAutofit/>
          </a:bodyPr>
          <a:lstStyle/>
          <a:p>
            <a:r>
              <a:rPr sz="4200" b="1" i="0">
                <a:latin typeface="Times New Roman"/>
              </a:rPr>
              <a:t>Module 3 — Kafka Operations &amp; Observability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3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The four observability signals for Kafka</a:t>
            </a:r>
          </a:p>
          <a:p>
            <a:r>
              <a:t> Critical broker, producer, and consumer metrics</a:t>
            </a:r>
          </a:p>
          <a:p>
            <a:r>
              <a:t> Monitoring and tooling stack: Prometheus, Grafana, Kafka UI, Kafdrop, Confluent Control Center</a:t>
            </a:r>
          </a:p>
          <a:p>
            <a:r>
              <a:t> Operational procedures: topic management, consumer group management, security operations</a:t>
            </a:r>
          </a:p>
          <a:p>
            <a:r>
              <a:t> Incident triage runbook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pexels-mikael-varosyan-2148687904-374572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000" y="4278820"/>
            <a:ext cx="2524125" cy="37861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Four Observability Signals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Latency</a:t>
            </a:r>
            <a:r>
              <a:t> — end-to-end produce/consume latency</a:t>
            </a:r>
          </a:p>
          <a:p>
            <a:r>
              <a:rPr b="1"/>
              <a:t> Traffic</a:t>
            </a:r>
            <a:r>
              <a:t> — messages/sec, bytes/sec per topic and partition</a:t>
            </a:r>
          </a:p>
          <a:p>
            <a:r>
              <a:rPr b="1"/>
              <a:t> Errors</a:t>
            </a:r>
            <a:r>
              <a:t> — failed produce requests, consumer errors, ISR shrinks</a:t>
            </a:r>
          </a:p>
          <a:p>
            <a:r>
              <a:rPr b="1"/>
              <a:t> Saturation</a:t>
            </a:r>
            <a:r>
              <a:t> — disk usage, network, CPU, consumer lag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pexels-mikhail-nilov-88515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5100" y="3891579"/>
            <a:ext cx="2622550" cy="393184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Kafka Metrics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6807200" cy="3721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Critical Broker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Alert Threshold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Under-replicated partitions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 0 (page immediately)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Active controller 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!= 1 (page immediately)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Request handler idle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30% (warning)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Network processor idle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30% (warning)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Log flush latency p99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 500ms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Bytes in/out per sec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 80% NIC capacity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ISR shrink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any non-zero sustained rate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6" name="Picture 5" descr="pexels-kerimeveyik-2878218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3105" y="4814375"/>
            <a:ext cx="1629782" cy="28993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Critical Consumer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Alert When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Consumer lag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 SLA threshold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>
                          <a:latin typeface="Courier New"/>
                        </a:rPr>
                        <a:t>records-consumed-rate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drops unexpectedly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>
                          <a:latin typeface="Courier New"/>
                        </a:rPr>
                        <a:t>fetch-latency-avg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 → broker issue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>
                          <a:latin typeface="Courier New"/>
                        </a:rPr>
                        <a:t>rebalance-rate-and-time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frequent → instability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>
                          <a:latin typeface="Courier New"/>
                        </a:rPr>
                        <a:t>assigned-partitions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imbalanced across consumers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Monitoring &amp; Tooling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t>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Best For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b="1"/>
                        <a:t>Prometheus + Grafana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Broker and consumer dashboards, alerting, lag thresholds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b="1"/>
                        <a:t>Kafka 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Topic management, consumer group operations, visual inspection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b="1"/>
                        <a:t>Kafdrop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Lightweight quick inspection of topic contents and consumer state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b="1"/>
                        <a:t>Confluent Control Center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Commercial option — enterprise observability with schema/connector visibility (not in this course's lab stack)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Prometheus Alerting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Tier 1 — Page immediately:</a:t>
            </a:r>
          </a:p>
          <a:p>
            <a:r>
              <a:rPr>
                <a:latin typeface="Courier New"/>
              </a:rPr>
              <a:t> UnderReplicatedPartitions &gt; 0</a:t>
            </a:r>
            <a:r>
              <a:t> for &gt; 2 minutes</a:t>
            </a:r>
          </a:p>
          <a:p>
            <a:r>
              <a:rPr>
                <a:latin typeface="Courier New"/>
              </a:rPr>
              <a:t> ActiveControllerCount != 1</a:t>
            </a:r>
          </a:p>
          <a:p>
            <a:r>
              <a:t> Broker down (not restarting)</a:t>
            </a:r>
          </a:p>
          <a:p>
            <a:r>
              <a:t> Disk &gt; 90% on any broker</a:t>
            </a:r>
          </a:p>
          <a:p>
            <a:r>
              <a:rPr b="1"/>
              <a:t> Tier 2 — Notify (Slack/email):</a:t>
            </a:r>
          </a:p>
          <a:p>
            <a:r>
              <a:t> Consumer lag above SLA threshold</a:t>
            </a:r>
          </a:p>
          <a:p>
            <a:r>
              <a:t> Producer error rate &gt; 0</a:t>
            </a:r>
          </a:p>
          <a:p>
            <a:r>
              <a:t> Request handler idle &lt; 30%</a:t>
            </a:r>
          </a:p>
          <a:p>
            <a:r>
              <a:rPr b="1"/>
              <a:t> Tier 3 — Track in dashboard:</a:t>
            </a:r>
          </a:p>
          <a:p>
            <a:r>
              <a:t> Compression ratios, batch sizes, rebalance frequency</a:t>
            </a:r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promethe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736" y="6130130"/>
            <a:ext cx="2392563" cy="17343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Operational Procedures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 Alter retention on a live topic:</a:t>
            </a:r>
          </a:p>
          <a:p>
            <a:endParaRPr b="1" dirty="0"/>
          </a:p>
          <a:p>
            <a:endParaRPr lang="en-US" b="1" dirty="0"/>
          </a:p>
          <a:p>
            <a:endParaRPr b="1" dirty="0"/>
          </a:p>
          <a:p>
            <a:r>
              <a:rPr b="1" dirty="0"/>
              <a:t> Trigger log compaction:</a:t>
            </a:r>
          </a:p>
          <a:p>
            <a:endParaRPr b="1" dirty="0"/>
          </a:p>
          <a:p>
            <a:endParaRPr lang="en-US" b="1" dirty="0"/>
          </a:p>
          <a:p>
            <a:endParaRPr b="1" dirty="0"/>
          </a:p>
          <a:p>
            <a:r>
              <a:rPr b="1" dirty="0"/>
              <a:t> Inspect topic config:</a:t>
            </a:r>
          </a:p>
          <a:p>
            <a:endParaRPr b="1" dirty="0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100" y="1524097"/>
            <a:ext cx="8788400" cy="1054100"/>
          </a:xfrm>
          <a:prstGeom prst="rect">
            <a:avLst/>
          </a:prstGeom>
        </p:spPr>
      </p:pic>
      <p:pic>
        <p:nvPicPr>
          <p:cNvPr id="6" name="Picture 5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950" y="3331678"/>
            <a:ext cx="9137650" cy="977352"/>
          </a:xfrm>
          <a:prstGeom prst="rect">
            <a:avLst/>
          </a:prstGeom>
        </p:spPr>
      </p:pic>
      <p:pic>
        <p:nvPicPr>
          <p:cNvPr id="7" name="Picture 6" descr="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" y="5139531"/>
            <a:ext cx="8940800" cy="787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Consumer Group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 Check lag across all groups:</a:t>
            </a:r>
          </a:p>
          <a:p>
            <a:endParaRPr lang="en-US" b="1" dirty="0"/>
          </a:p>
          <a:p>
            <a:endParaRPr b="1" dirty="0"/>
          </a:p>
          <a:p>
            <a:r>
              <a:rPr b="1" dirty="0"/>
              <a:t> Reset offsets to earliest:</a:t>
            </a:r>
          </a:p>
          <a:p>
            <a:endParaRPr lang="en-US" b="1" dirty="0"/>
          </a:p>
          <a:p>
            <a:endParaRPr lang="en-US" b="1" dirty="0"/>
          </a:p>
          <a:p>
            <a:endParaRPr b="1" dirty="0"/>
          </a:p>
          <a:p>
            <a:endParaRPr b="1" dirty="0"/>
          </a:p>
          <a:p>
            <a:r>
              <a:rPr b="1" dirty="0"/>
              <a:t> Detect stuck consumers:</a:t>
            </a:r>
          </a:p>
          <a:p>
            <a:r>
              <a:rPr dirty="0"/>
              <a:t> Lag grows but</a:t>
            </a:r>
            <a:r>
              <a:rPr dirty="0">
                <a:latin typeface="Courier New"/>
              </a:rPr>
              <a:t> records-consumed-rate</a:t>
            </a:r>
            <a:r>
              <a:rPr dirty="0"/>
              <a:t> is non-zero → slow processing</a:t>
            </a:r>
          </a:p>
          <a:p>
            <a:r>
              <a:rPr dirty="0"/>
              <a:t> Lag grows and</a:t>
            </a:r>
            <a:r>
              <a:rPr dirty="0">
                <a:latin typeface="Courier New"/>
              </a:rPr>
              <a:t> records-consumed-rate</a:t>
            </a:r>
            <a:r>
              <a:rPr dirty="0"/>
              <a:t> is zero → consumer stuck or stopped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50" y="1406013"/>
            <a:ext cx="8944044" cy="761718"/>
          </a:xfrm>
          <a:prstGeom prst="rect">
            <a:avLst/>
          </a:prstGeom>
        </p:spPr>
      </p:pic>
      <p:pic>
        <p:nvPicPr>
          <p:cNvPr id="6" name="Picture 5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950" y="3146233"/>
            <a:ext cx="8794750" cy="100269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 TLS certificate rotation:</a:t>
            </a:r>
          </a:p>
          <a:p>
            <a:r>
              <a:rPr dirty="0"/>
              <a:t> Generate new keystores before expiry</a:t>
            </a:r>
          </a:p>
          <a:p>
            <a:r>
              <a:rPr dirty="0"/>
              <a:t> Rolling restart one broker at a time</a:t>
            </a:r>
          </a:p>
          <a:p>
            <a:r>
              <a:rPr dirty="0"/>
              <a:t> Verify listeners are up before continuing</a:t>
            </a:r>
          </a:p>
          <a:p>
            <a:r>
              <a:rPr b="1" dirty="0"/>
              <a:t> SASL credential rotation:</a:t>
            </a:r>
          </a:p>
          <a:p>
            <a:endParaRPr b="1" dirty="0"/>
          </a:p>
          <a:p>
            <a:endParaRPr lang="en-US" b="1" dirty="0"/>
          </a:p>
          <a:p>
            <a:endParaRPr b="1" dirty="0"/>
          </a:p>
          <a:p>
            <a:r>
              <a:rPr b="1" dirty="0"/>
              <a:t> Audit logging:</a:t>
            </a:r>
          </a:p>
          <a:p>
            <a:r>
              <a:rPr dirty="0"/>
              <a:t> Raise the</a:t>
            </a:r>
            <a:r>
              <a:rPr dirty="0">
                <a:latin typeface="Courier New"/>
              </a:rPr>
              <a:t> </a:t>
            </a:r>
            <a:r>
              <a:rPr dirty="0" err="1">
                <a:latin typeface="Courier New"/>
              </a:rPr>
              <a:t>kafka.authorizer.logger</a:t>
            </a:r>
            <a:r>
              <a:rPr dirty="0"/>
              <a:t> level in the broker logging config</a:t>
            </a:r>
          </a:p>
          <a:p>
            <a:r>
              <a:rPr dirty="0"/>
              <a:t> Note: Kafka 4 moved from Log4j 1.x to</a:t>
            </a:r>
            <a:r>
              <a:rPr b="1" dirty="0"/>
              <a:t> Log4j2</a:t>
            </a:r>
            <a:r>
              <a:rPr dirty="0"/>
              <a:t> — configure this in</a:t>
            </a:r>
            <a:r>
              <a:rPr dirty="0">
                <a:latin typeface="Courier New"/>
              </a:rPr>
              <a:t> log4j2.yaml</a:t>
            </a:r>
            <a:r>
              <a:rPr dirty="0"/>
              <a:t> , not the old</a:t>
            </a:r>
            <a:r>
              <a:rPr dirty="0">
                <a:latin typeface="Courier New"/>
              </a:rPr>
              <a:t> log4j.properties</a:t>
            </a:r>
            <a:r>
              <a:rPr dirty="0"/>
              <a:t> format</a:t>
            </a:r>
          </a:p>
          <a:p>
            <a:r>
              <a:rPr dirty="0"/>
              <a:t> Route authorizer logs to a dedicated topic/SIEM for compliance tracking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50" y="3537759"/>
            <a:ext cx="9137650" cy="85794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Incident Triage Runbook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Apply this 6-step process to every production incident:</a:t>
            </a:r>
          </a:p>
          <a:p>
            <a:r>
              <a:rPr b="1"/>
              <a:t> Scope</a:t>
            </a:r>
            <a:r>
              <a:t> — one topic? one consumer group? entire cluster?</a:t>
            </a:r>
          </a:p>
          <a:p>
            <a:r>
              <a:rPr b="1"/>
              <a:t> Control plane</a:t>
            </a:r>
            <a:r>
              <a:t> —</a:t>
            </a:r>
            <a:r>
              <a:rPr>
                <a:latin typeface="Courier New"/>
              </a:rPr>
              <a:t> ActiveControllerCount</a:t>
            </a:r>
            <a:r>
              <a:t> must be exactly 1</a:t>
            </a:r>
          </a:p>
          <a:p>
            <a:r>
              <a:rPr b="1"/>
              <a:t> Durability</a:t>
            </a:r>
            <a:r>
              <a:t> — check</a:t>
            </a:r>
            <a:r>
              <a:rPr>
                <a:latin typeface="Courier New"/>
              </a:rPr>
              <a:t> UnderReplicatedPartitions</a:t>
            </a:r>
            <a:r>
              <a:t> and ISR state</a:t>
            </a:r>
          </a:p>
          <a:p>
            <a:r>
              <a:rPr b="1"/>
              <a:t> Consumer impact</a:t>
            </a:r>
            <a:r>
              <a:t> — is lag growing or stable?</a:t>
            </a:r>
          </a:p>
          <a:p>
            <a:r>
              <a:rPr b="1"/>
              <a:t> Mitigation</a:t>
            </a:r>
            <a:r>
              <a:t> — one safe, reversible action</a:t>
            </a:r>
          </a:p>
          <a:p>
            <a:r>
              <a:rPr b="1"/>
              <a:t> Recovery</a:t>
            </a:r>
            <a:r>
              <a:t> — verify the signal clears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Troubleshooting — Under-Replicated Partitions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Symptom:</a:t>
            </a:r>
            <a:r>
              <a:t> </a:t>
            </a:r>
            <a:r>
              <a:rPr>
                <a:latin typeface="Courier New"/>
              </a:rPr>
              <a:t> UnderReplicatedPartitions &gt; 0</a:t>
            </a:r>
          </a:p>
          <a:p>
            <a:r>
              <a:rPr b="1"/>
              <a:t> Causes:</a:t>
            </a:r>
            <a:r>
              <a:t> broker failure, network partition, disk full on follower, follower behind on load</a:t>
            </a:r>
          </a:p>
          <a:p>
            <a:r>
              <a:rPr b="1"/>
              <a:t> Investigation:</a:t>
            </a:r>
          </a:p>
          <a:p>
            <a:endParaRPr b="1"/>
          </a:p>
          <a:p>
            <a:endParaRPr b="1"/>
          </a:p>
          <a:p>
            <a:endParaRPr b="1"/>
          </a:p>
          <a:p>
            <a:endParaRPr b="1"/>
          </a:p>
          <a:p>
            <a:endParaRPr b="1"/>
          </a:p>
          <a:p>
            <a:endParaRPr b="1"/>
          </a:p>
          <a:p>
            <a:endParaRPr b="1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50" y="2900042"/>
            <a:ext cx="8788400" cy="1587500"/>
          </a:xfrm>
          <a:prstGeom prst="rect">
            <a:avLst/>
          </a:prstGeom>
        </p:spPr>
      </p:pic>
      <p:pic>
        <p:nvPicPr>
          <p:cNvPr id="6" name="Picture 5" descr="pexels-olgalioncat-724532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7439" y="4910931"/>
            <a:ext cx="3015911" cy="201060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Troubleshooting — Consumer Lag Spikes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Investigation checklist:</a:t>
            </a:r>
          </a:p>
          <a:p>
            <a:r>
              <a:t> Are all consumer instances running?</a:t>
            </a:r>
          </a:p>
          <a:p>
            <a:r>
              <a:t> Did processing time increase (slow 3rd-party call)?</a:t>
            </a:r>
          </a:p>
          <a:p>
            <a:r>
              <a:t> Did producer throughput spike?</a:t>
            </a:r>
          </a:p>
          <a:p>
            <a:r>
              <a:t> Did a rebalance occur (consumer instance died)?</a:t>
            </a:r>
          </a:p>
          <a:p>
            <a:r>
              <a:t> Is the consumer JVM GC-ing heavily?</a:t>
            </a:r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47872"/>
            <a:ext cx="6350000" cy="10541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Troubleshooting — Disk Saturation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Immediate actions:</a:t>
            </a:r>
          </a:p>
          <a:p>
            <a:endParaRPr b="1"/>
          </a:p>
          <a:p>
            <a:endParaRPr b="1"/>
          </a:p>
          <a:p>
            <a:endParaRPr b="1"/>
          </a:p>
          <a:p>
            <a:endParaRPr b="1"/>
          </a:p>
          <a:p>
            <a:endParaRPr b="1"/>
          </a:p>
          <a:p>
            <a:endParaRPr b="1"/>
          </a:p>
          <a:p>
            <a:endParaRPr b="1"/>
          </a:p>
          <a:p>
            <a:endParaRPr b="1"/>
          </a:p>
          <a:p>
            <a:endParaRPr b="1"/>
          </a:p>
          <a:p>
            <a:endParaRPr b="1"/>
          </a:p>
          <a:p>
            <a:endParaRPr b="1"/>
          </a:p>
          <a:p>
            <a:endParaRPr b="1"/>
          </a:p>
          <a:p>
            <a:endParaRPr b="1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438" y="1700684"/>
            <a:ext cx="8862024" cy="2215506"/>
          </a:xfrm>
          <a:prstGeom prst="rect">
            <a:avLst/>
          </a:prstGeom>
        </p:spPr>
      </p:pic>
      <p:pic>
        <p:nvPicPr>
          <p:cNvPr id="6" name="Picture 5" descr="pexels-steve-3102373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3300" y="4758305"/>
            <a:ext cx="1676400" cy="298026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3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Monitor four signals: latency, traffic, errors, saturation</a:t>
            </a:r>
          </a:p>
          <a:p>
            <a:r>
              <a:t> Critical alert:</a:t>
            </a:r>
            <a:r>
              <a:rPr>
                <a:latin typeface="Courier New"/>
              </a:rPr>
              <a:t> UnderReplicatedPartitions &gt; 0</a:t>
            </a:r>
            <a:r>
              <a:t> ,</a:t>
            </a:r>
            <a:r>
              <a:rPr>
                <a:latin typeface="Courier New"/>
              </a:rPr>
              <a:t> ActiveControllerCount != 1</a:t>
            </a:r>
          </a:p>
          <a:p>
            <a:r>
              <a:t> Use Prometheus + Grafana for metrics; Kafka UI or Kafdrop for operational inspection</a:t>
            </a:r>
          </a:p>
          <a:p>
            <a:r>
              <a:t> Topic management: alter retention and compaction settings on live topics</a:t>
            </a:r>
          </a:p>
          <a:p>
            <a:r>
              <a:t> Consumer group management: describe, reset offsets, detect stuck consumers</a:t>
            </a:r>
          </a:p>
          <a:p>
            <a:r>
              <a:t> Security operations: certificate rotation, SASL credential management, audit logging</a:t>
            </a:r>
          </a:p>
          <a:p>
            <a:r>
              <a:t> Use a structured 6-step runbook for every production incident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What's Next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Module 4 — Connectors, Pipelines &amp; Integrations</a:t>
            </a:r>
          </a:p>
          <a:p>
            <a:r>
              <a:t> Kafka Connect deep dive: source, sink, offset management, DLQ</a:t>
            </a:r>
          </a:p>
          <a:p>
            <a:r>
              <a:t> Integration patterns: S3, Elasticsearch, Flink, Spark, Iceberg/lakehouse</a:t>
            </a:r>
          </a:p>
          <a:p>
            <a:r>
              <a:t> Enterprise integration patterns and backpressure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Preview — Lab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Diagnose Kafka Health Using Monitoring Dashboards and Operational Runbooks</a:t>
            </a:r>
          </a:p>
          <a:p>
            <a:r>
              <a:t> You will:</a:t>
            </a:r>
          </a:p>
          <a:p>
            <a:r>
              <a:t> Verify Prometheus metric scraping and Grafana dashboards</a:t>
            </a:r>
          </a:p>
          <a:p>
            <a:r>
              <a:t> Produce consumer lag and apply the triage runbook</a:t>
            </a:r>
          </a:p>
          <a:p>
            <a:r>
              <a:t> Alter topic retention and reset consumer group offsets</a:t>
            </a:r>
          </a:p>
          <a:p>
            <a:r>
              <a:t> Simulate under-replicated partitions (broker kill) and verify recovery</a:t>
            </a:r>
          </a:p>
          <a:p>
            <a:r>
              <a:t> Test Prometheus alert expressions</a:t>
            </a:r>
          </a:p>
          <a:p>
            <a:r>
              <a:t> Environment: Docker Compose (3-broker Kafka, Prometheus, Grafana, Kafdrop) Time: 60–75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Pc_New">
  <a:themeElements>
    <a:clrScheme name="LPc_New 7">
      <a:dk1>
        <a:srgbClr val="000000"/>
      </a:dk1>
      <a:lt1>
        <a:srgbClr val="FFFFFF"/>
      </a:lt1>
      <a:dk2>
        <a:srgbClr val="CCECFF"/>
      </a:dk2>
      <a:lt2>
        <a:srgbClr val="003399"/>
      </a:lt2>
      <a:accent1>
        <a:srgbClr val="0794FF"/>
      </a:accent1>
      <a:accent2>
        <a:srgbClr val="800080"/>
      </a:accent2>
      <a:accent3>
        <a:srgbClr val="E2F4FF"/>
      </a:accent3>
      <a:accent4>
        <a:srgbClr val="DADADA"/>
      </a:accent4>
      <a:accent5>
        <a:srgbClr val="AAC8FF"/>
      </a:accent5>
      <a:accent6>
        <a:srgbClr val="730073"/>
      </a:accent6>
      <a:hlink>
        <a:srgbClr val="FF0000"/>
      </a:hlink>
      <a:folHlink>
        <a:srgbClr val="FFFFD2"/>
      </a:folHlink>
    </a:clrScheme>
    <a:fontScheme name="LPc_New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lnDef>
  </a:objectDefaults>
  <a:extraClrSchemeLst>
    <a:extraClrScheme>
      <a:clrScheme name="LPc_New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5">
        <a:dk1>
          <a:srgbClr val="000000"/>
        </a:dk1>
        <a:lt1>
          <a:srgbClr val="FFFFFF"/>
        </a:lt1>
        <a:dk2>
          <a:srgbClr val="CCECFF"/>
        </a:dk2>
        <a:lt2>
          <a:srgbClr val="00008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6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9999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7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0794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AAC8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378296</TotalTime>
  <Words>1061</Words>
  <Application>Microsoft Macintosh PowerPoint</Application>
  <PresentationFormat>Custom</PresentationFormat>
  <Paragraphs>211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Arial</vt:lpstr>
      <vt:lpstr>Arial Bold</vt:lpstr>
      <vt:lpstr>Courier New</vt:lpstr>
      <vt:lpstr>Garamond</vt:lpstr>
      <vt:lpstr>Monotype Sorts</vt:lpstr>
      <vt:lpstr>Times New Roman</vt:lpstr>
      <vt:lpstr>Verdana</vt:lpstr>
      <vt:lpstr>Wingdings</vt:lpstr>
      <vt:lpstr>LPc_New</vt:lpstr>
      <vt:lpstr>Module 3 — Kafka Operations &amp; Observability</vt:lpstr>
      <vt:lpstr>Module 3 Agenda</vt:lpstr>
      <vt:lpstr>The Four Observability Signals</vt:lpstr>
      <vt:lpstr>Kafka Metrics Architecture</vt:lpstr>
      <vt:lpstr>Critical Broker Metrics</vt:lpstr>
      <vt:lpstr>Critical Consumer Metrics</vt:lpstr>
      <vt:lpstr>Monitoring &amp; Tooling Stack</vt:lpstr>
      <vt:lpstr>Prometheus Alerting Strategy</vt:lpstr>
      <vt:lpstr>Topic Operational Procedures</vt:lpstr>
      <vt:lpstr>Consumer Group Operations</vt:lpstr>
      <vt:lpstr>Security Operations</vt:lpstr>
      <vt:lpstr>Incident Triage Runbook</vt:lpstr>
      <vt:lpstr>Troubleshooting — Under-Replicated Partitions</vt:lpstr>
      <vt:lpstr>Troubleshooting — Consumer Lag Spikes</vt:lpstr>
      <vt:lpstr>Troubleshooting — Disk Saturation</vt:lpstr>
      <vt:lpstr>Module 3 Summary</vt:lpstr>
      <vt:lpstr>What's Next</vt:lpstr>
      <vt:lpstr>Lab Preview — Lab 3</vt:lpstr>
    </vt:vector>
  </TitlesOfParts>
  <Company>Elephant Scale LLC &amp; LearningPatterns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</dc:title>
  <dc:subject>Spark</dc:subject>
  <dc:creator>Elephant Scale</dc:creator>
  <cp:lastModifiedBy>Warren Crawford</cp:lastModifiedBy>
  <cp:revision>4137</cp:revision>
  <cp:lastPrinted>2010-01-03T02:41:41Z</cp:lastPrinted>
  <dcterms:created xsi:type="dcterms:W3CDTF">2010-07-13T15:22:01Z</dcterms:created>
  <dcterms:modified xsi:type="dcterms:W3CDTF">2026-07-02T20:10:41Z</dcterms:modified>
</cp:coreProperties>
</file>